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64008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263640"/>
            <a:ext cx="12188952" cy="59436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05840" y="3337560"/>
            <a:ext cx="5486400" cy="45720"/>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109728"/>
            <a:ext cx="10972800" cy="438912"/>
          </a:xfrm>
          <a:prstGeom prst="rect">
            <a:avLst/>
          </a:prstGeom>
          <a:noFill/>
        </p:spPr>
        <p:txBody>
          <a:bodyPr wrap="square">
            <a:spAutoFit/>
          </a:bodyPr>
          <a:lstStyle/>
          <a:p>
            <a:pPr algn="l"/>
            <a:r>
              <a:rPr sz="1100" b="0" i="0">
                <a:solidFill>
                  <a:srgbClr val="DBE5F1"/>
                </a:solidFill>
              </a:rPr>
              <a:t>CSE10/L  •  MODELING &amp; SIMULATION</a:t>
            </a:r>
          </a:p>
        </p:txBody>
      </p:sp>
      <p:sp>
        <p:nvSpPr>
          <p:cNvPr id="7" name="TextBox 6"/>
          <p:cNvSpPr txBox="1"/>
          <p:nvPr/>
        </p:nvSpPr>
        <p:spPr>
          <a:xfrm>
            <a:off x="1005840" y="868680"/>
            <a:ext cx="12188952" cy="1005840"/>
          </a:xfrm>
          <a:prstGeom prst="rect">
            <a:avLst/>
          </a:prstGeom>
          <a:noFill/>
        </p:spPr>
        <p:txBody>
          <a:bodyPr wrap="square">
            <a:spAutoFit/>
          </a:bodyPr>
          <a:lstStyle/>
          <a:p>
            <a:pPr algn="l"/>
            <a:r>
              <a:rPr sz="5800" b="1" i="0">
                <a:solidFill>
                  <a:srgbClr val="1F497D"/>
                </a:solidFill>
              </a:rPr>
              <a:t>Flood Risk</a:t>
            </a:r>
          </a:p>
        </p:txBody>
      </p:sp>
      <p:sp>
        <p:nvSpPr>
          <p:cNvPr id="8" name="TextBox 7"/>
          <p:cNvSpPr txBox="1"/>
          <p:nvPr/>
        </p:nvSpPr>
        <p:spPr>
          <a:xfrm>
            <a:off x="1005840" y="1783080"/>
            <a:ext cx="12188952" cy="914400"/>
          </a:xfrm>
          <a:prstGeom prst="rect">
            <a:avLst/>
          </a:prstGeom>
          <a:noFill/>
        </p:spPr>
        <p:txBody>
          <a:bodyPr wrap="square">
            <a:spAutoFit/>
          </a:bodyPr>
          <a:lstStyle/>
          <a:p>
            <a:pPr algn="l"/>
            <a:r>
              <a:rPr sz="4600" b="1" i="0">
                <a:solidFill>
                  <a:srgbClr val="0070C0"/>
                </a:solidFill>
              </a:rPr>
              <a:t>Simulation System</a:t>
            </a:r>
          </a:p>
        </p:txBody>
      </p:sp>
      <p:sp>
        <p:nvSpPr>
          <p:cNvPr id="9" name="TextBox 8"/>
          <p:cNvSpPr txBox="1"/>
          <p:nvPr/>
        </p:nvSpPr>
        <p:spPr>
          <a:xfrm>
            <a:off x="1005840" y="2834640"/>
            <a:ext cx="10177272" cy="457200"/>
          </a:xfrm>
          <a:prstGeom prst="rect">
            <a:avLst/>
          </a:prstGeom>
          <a:noFill/>
        </p:spPr>
        <p:txBody>
          <a:bodyPr wrap="square">
            <a:spAutoFit/>
          </a:bodyPr>
          <a:lstStyle/>
          <a:p>
            <a:pPr algn="l"/>
            <a:r>
              <a:rPr sz="1600" b="0" i="0">
                <a:solidFill>
                  <a:srgbClr val="404040"/>
                </a:solidFill>
              </a:rPr>
              <a:t>Jade Valley Subdivision  •  Davao City, Philippines</a:t>
            </a:r>
          </a:p>
        </p:txBody>
      </p:sp>
      <p:sp>
        <p:nvSpPr>
          <p:cNvPr id="10" name="TextBox 9"/>
          <p:cNvSpPr txBox="1"/>
          <p:nvPr/>
        </p:nvSpPr>
        <p:spPr>
          <a:xfrm>
            <a:off x="1005840" y="3493008"/>
            <a:ext cx="10177272" cy="411480"/>
          </a:xfrm>
          <a:prstGeom prst="rect">
            <a:avLst/>
          </a:prstGeom>
          <a:noFill/>
        </p:spPr>
        <p:txBody>
          <a:bodyPr wrap="square">
            <a:spAutoFit/>
          </a:bodyPr>
          <a:lstStyle/>
          <a:p>
            <a:pPr algn="l"/>
            <a:r>
              <a:rPr sz="1200" b="0" i="0">
                <a:solidFill>
                  <a:srgbClr val="808080"/>
                </a:solidFill>
              </a:rPr>
              <a:t>D8 Flow Routing  •  HAND Model  •  PAGASA Storm Scenarios  •  Python-Based Simulation</a:t>
            </a:r>
          </a:p>
        </p:txBody>
      </p:sp>
      <p:sp>
        <p:nvSpPr>
          <p:cNvPr id="11" name="TextBox 10"/>
          <p:cNvSpPr txBox="1"/>
          <p:nvPr/>
        </p:nvSpPr>
        <p:spPr>
          <a:xfrm>
            <a:off x="1005840" y="3950208"/>
            <a:ext cx="10177272" cy="411480"/>
          </a:xfrm>
          <a:prstGeom prst="rect">
            <a:avLst/>
          </a:prstGeom>
          <a:noFill/>
        </p:spPr>
        <p:txBody>
          <a:bodyPr wrap="square">
            <a:spAutoFit/>
          </a:bodyPr>
          <a:lstStyle/>
          <a:p>
            <a:pPr algn="l"/>
            <a:r>
              <a:rPr sz="1200" b="0" i="0">
                <a:solidFill>
                  <a:srgbClr val="808080"/>
                </a:solidFill>
              </a:rPr>
              <a:t>3 Build Levels  •  7 Storm Scenarios  •  4 Prevention Measures  •  5 Risk Zones</a:t>
            </a:r>
          </a:p>
        </p:txBody>
      </p:sp>
      <p:sp>
        <p:nvSpPr>
          <p:cNvPr id="12" name="TextBox 11"/>
          <p:cNvSpPr txBox="1"/>
          <p:nvPr/>
        </p:nvSpPr>
        <p:spPr>
          <a:xfrm>
            <a:off x="0" y="6336792"/>
            <a:ext cx="12188952" cy="365760"/>
          </a:xfrm>
          <a:prstGeom prst="rect">
            <a:avLst/>
          </a:prstGeom>
          <a:noFill/>
        </p:spPr>
        <p:txBody>
          <a:bodyPr wrap="square">
            <a:spAutoFit/>
          </a:bodyPr>
          <a:lstStyle/>
          <a:p>
            <a:pPr algn="ctr"/>
            <a:r>
              <a:rPr sz="1000" b="0" i="0">
                <a:solidFill>
                  <a:srgbClr val="DBE5F1"/>
                </a:solidFill>
              </a:rPr>
              <a:t>Jade Valley Flood Risk Project  •  2026  •  Davao City, Philippines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88952" cy="36576"/>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 y="91440"/>
            <a:ext cx="685800" cy="777240"/>
          </a:xfrm>
          <a:prstGeom prst="rect">
            <a:avLst/>
          </a:prstGeom>
          <a:noFill/>
        </p:spPr>
        <p:txBody>
          <a:bodyPr wrap="square">
            <a:spAutoFit/>
          </a:bodyPr>
          <a:lstStyle/>
          <a:p>
            <a:pPr algn="ctr"/>
            <a:r>
              <a:rPr sz="3000" b="1" i="0">
                <a:solidFill>
                  <a:srgbClr val="FFC000"/>
                </a:solidFill>
              </a:rPr>
              <a:t>01</a:t>
            </a:r>
          </a:p>
        </p:txBody>
      </p:sp>
      <p:sp>
        <p:nvSpPr>
          <p:cNvPr id="6" name="TextBox 5"/>
          <p:cNvSpPr txBox="1"/>
          <p:nvPr/>
        </p:nvSpPr>
        <p:spPr>
          <a:xfrm>
            <a:off x="868680" y="164592"/>
            <a:ext cx="10789920" cy="685800"/>
          </a:xfrm>
          <a:prstGeom prst="rect">
            <a:avLst/>
          </a:prstGeom>
          <a:noFill/>
        </p:spPr>
        <p:txBody>
          <a:bodyPr wrap="square">
            <a:spAutoFit/>
          </a:bodyPr>
          <a:lstStyle/>
          <a:p>
            <a:pPr algn="l"/>
            <a:r>
              <a:rPr sz="2200" b="1" i="0">
                <a:solidFill>
                  <a:srgbClr val="FFFFFF"/>
                </a:solidFill>
              </a:rPr>
              <a:t>Problem Definition &amp; Objectives</a:t>
            </a:r>
          </a:p>
        </p:txBody>
      </p:sp>
      <p:sp>
        <p:nvSpPr>
          <p:cNvPr id="7" name="Rectangle 6"/>
          <p:cNvSpPr/>
          <p:nvPr/>
        </p:nvSpPr>
        <p:spPr>
          <a:xfrm>
            <a:off x="0" y="6492240"/>
            <a:ext cx="12188952" cy="36576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0" y="6510528"/>
            <a:ext cx="12188952" cy="320040"/>
          </a:xfrm>
          <a:prstGeom prst="rect">
            <a:avLst/>
          </a:prstGeom>
          <a:noFill/>
        </p:spPr>
        <p:txBody>
          <a:bodyPr wrap="square">
            <a:spAutoFit/>
          </a:bodyPr>
          <a:lstStyle/>
          <a:p>
            <a:pPr algn="ctr"/>
            <a:r>
              <a:rPr sz="900" b="0" i="0">
                <a:solidFill>
                  <a:srgbClr val="DBE5F1"/>
                </a:solidFill>
              </a:rPr>
              <a:t>Jade Valley Flood Risk Simulation  •  Problem Definition</a:t>
            </a:r>
          </a:p>
        </p:txBody>
      </p:sp>
      <p:sp>
        <p:nvSpPr>
          <p:cNvPr id="9" name="Rectangle 8"/>
          <p:cNvSpPr/>
          <p:nvPr/>
        </p:nvSpPr>
        <p:spPr>
          <a:xfrm>
            <a:off x="274320" y="1143000"/>
            <a:ext cx="5577840" cy="29260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84048" y="1179576"/>
            <a:ext cx="5440680" cy="256032"/>
          </a:xfrm>
          <a:prstGeom prst="rect">
            <a:avLst/>
          </a:prstGeom>
          <a:noFill/>
        </p:spPr>
        <p:txBody>
          <a:bodyPr wrap="square">
            <a:spAutoFit/>
          </a:bodyPr>
          <a:lstStyle/>
          <a:p>
            <a:pPr algn="l"/>
            <a:r>
              <a:rPr sz="1000" b="1" i="0">
                <a:solidFill>
                  <a:srgbClr val="FFFFFF"/>
                </a:solidFill>
              </a:rPr>
              <a:t>PROBLEM STATEMENT</a:t>
            </a:r>
          </a:p>
        </p:txBody>
      </p:sp>
      <p:sp>
        <p:nvSpPr>
          <p:cNvPr id="11" name="Rectangle 10"/>
          <p:cNvSpPr/>
          <p:nvPr/>
        </p:nvSpPr>
        <p:spPr>
          <a:xfrm>
            <a:off x="274320" y="1435608"/>
            <a:ext cx="557784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1508760"/>
            <a:ext cx="5349240" cy="4160520"/>
          </a:xfrm>
          <a:prstGeom prst="rect">
            <a:avLst/>
          </a:prstGeom>
          <a:noFill/>
        </p:spPr>
        <p:txBody>
          <a:bodyPr wrap="square">
            <a:spAutoFit/>
          </a:bodyPr>
          <a:lstStyle/>
          <a:p>
            <a:pPr algn="l"/>
            <a:r>
              <a:rPr sz="1100" b="0" i="0">
                <a:solidFill>
                  <a:srgbClr val="404040"/>
                </a:solidFill>
              </a:rPr>
              <a:t>Jade Valley Subdivision in Davao City, Philippines, occupies 326.44 ha of predominantly flat terrain — 72.3% at slope below 5° — making it highly susceptible to both pluvial and fluvial flooding during heavy rainfall and typhoon events. Elevation ranges from 2.00 m to 71.75 m (mean 20.74 m).
The combination of low mean elevation, flat relief, and proximity to river channels creates conditions where floodwater accumulates rapidly and drains slowly.
Despite this risk, flood planning has lacked site-specific, terrain-accurate quantitative modeling. Critical questions remain unanswered: which zones flood first, at what rainfall threshold does inundation become critical, and how much protection can physical infrastructure provide?
This simulation system directly addresses that gap through a Python-based, terrain-aware, scenario-driven flood model grounded in standard hydrological methods.</a:t>
            </a:r>
          </a:p>
        </p:txBody>
      </p:sp>
      <p:sp>
        <p:nvSpPr>
          <p:cNvPr id="13" name="Rectangle 12"/>
          <p:cNvSpPr/>
          <p:nvPr/>
        </p:nvSpPr>
        <p:spPr>
          <a:xfrm>
            <a:off x="6080760" y="1143000"/>
            <a:ext cx="5806440" cy="29260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90488" y="1179576"/>
            <a:ext cx="5669280" cy="256032"/>
          </a:xfrm>
          <a:prstGeom prst="rect">
            <a:avLst/>
          </a:prstGeom>
          <a:noFill/>
        </p:spPr>
        <p:txBody>
          <a:bodyPr wrap="square">
            <a:spAutoFit/>
          </a:bodyPr>
          <a:lstStyle/>
          <a:p>
            <a:pPr algn="l"/>
            <a:r>
              <a:rPr sz="1000" b="1" i="0">
                <a:solidFill>
                  <a:srgbClr val="FFFFFF"/>
                </a:solidFill>
              </a:rPr>
              <a:t>SIMULATION OBJECTIVES</a:t>
            </a:r>
          </a:p>
        </p:txBody>
      </p:sp>
      <p:sp>
        <p:nvSpPr>
          <p:cNvPr id="15" name="Rectangle 14"/>
          <p:cNvSpPr/>
          <p:nvPr/>
        </p:nvSpPr>
        <p:spPr>
          <a:xfrm>
            <a:off x="6080760" y="1435608"/>
            <a:ext cx="5806440" cy="8138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080760" y="1435608"/>
            <a:ext cx="338328" cy="813816"/>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80760" y="1591056"/>
            <a:ext cx="338328" cy="457200"/>
          </a:xfrm>
          <a:prstGeom prst="rect">
            <a:avLst/>
          </a:prstGeom>
          <a:noFill/>
        </p:spPr>
        <p:txBody>
          <a:bodyPr wrap="square">
            <a:spAutoFit/>
          </a:bodyPr>
          <a:lstStyle/>
          <a:p>
            <a:pPr algn="ctr"/>
            <a:r>
              <a:rPr sz="1600" b="1" i="0">
                <a:solidFill>
                  <a:srgbClr val="FFFFFF"/>
                </a:solidFill>
              </a:rPr>
              <a:t>1</a:t>
            </a:r>
          </a:p>
        </p:txBody>
      </p:sp>
      <p:sp>
        <p:nvSpPr>
          <p:cNvPr id="18" name="TextBox 17"/>
          <p:cNvSpPr txBox="1"/>
          <p:nvPr/>
        </p:nvSpPr>
        <p:spPr>
          <a:xfrm>
            <a:off x="6473952" y="1490472"/>
            <a:ext cx="5321808" cy="274320"/>
          </a:xfrm>
          <a:prstGeom prst="rect">
            <a:avLst/>
          </a:prstGeom>
          <a:noFill/>
        </p:spPr>
        <p:txBody>
          <a:bodyPr wrap="square">
            <a:spAutoFit/>
          </a:bodyPr>
          <a:lstStyle/>
          <a:p>
            <a:pPr algn="l"/>
            <a:r>
              <a:rPr sz="1000" b="1" i="0">
                <a:solidFill>
                  <a:srgbClr val="1F497D"/>
                </a:solidFill>
              </a:rPr>
              <a:t>Terrain-Accurate Flood Modeling</a:t>
            </a:r>
          </a:p>
        </p:txBody>
      </p:sp>
      <p:sp>
        <p:nvSpPr>
          <p:cNvPr id="19" name="TextBox 18"/>
          <p:cNvSpPr txBox="1"/>
          <p:nvPr/>
        </p:nvSpPr>
        <p:spPr>
          <a:xfrm>
            <a:off x="6473952" y="1783080"/>
            <a:ext cx="5321808" cy="438912"/>
          </a:xfrm>
          <a:prstGeom prst="rect">
            <a:avLst/>
          </a:prstGeom>
          <a:noFill/>
        </p:spPr>
        <p:txBody>
          <a:bodyPr wrap="square">
            <a:spAutoFit/>
          </a:bodyPr>
          <a:lstStyle/>
          <a:p>
            <a:pPr algn="l"/>
            <a:r>
              <a:rPr sz="1000" b="0" i="0">
                <a:solidFill>
                  <a:srgbClr val="404040"/>
                </a:solidFill>
              </a:rPr>
              <a:t>Model flood inundation over Jade Valley using D8 flow routing, Green-Ampt infiltration, and BFS river overflow dilation on a 57×61 DEM grid.</a:t>
            </a:r>
          </a:p>
        </p:txBody>
      </p:sp>
      <p:sp>
        <p:nvSpPr>
          <p:cNvPr id="20" name="Rectangle 19"/>
          <p:cNvSpPr/>
          <p:nvPr/>
        </p:nvSpPr>
        <p:spPr>
          <a:xfrm>
            <a:off x="6080760" y="2304288"/>
            <a:ext cx="5806440" cy="8138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080760" y="2304288"/>
            <a:ext cx="338328" cy="813816"/>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80760" y="2459736"/>
            <a:ext cx="338328" cy="457200"/>
          </a:xfrm>
          <a:prstGeom prst="rect">
            <a:avLst/>
          </a:prstGeom>
          <a:noFill/>
        </p:spPr>
        <p:txBody>
          <a:bodyPr wrap="square">
            <a:spAutoFit/>
          </a:bodyPr>
          <a:lstStyle/>
          <a:p>
            <a:pPr algn="ctr"/>
            <a:r>
              <a:rPr sz="1600" b="1" i="0">
                <a:solidFill>
                  <a:srgbClr val="FFFFFF"/>
                </a:solidFill>
              </a:rPr>
              <a:t>2</a:t>
            </a:r>
          </a:p>
        </p:txBody>
      </p:sp>
      <p:sp>
        <p:nvSpPr>
          <p:cNvPr id="23" name="TextBox 22"/>
          <p:cNvSpPr txBox="1"/>
          <p:nvPr/>
        </p:nvSpPr>
        <p:spPr>
          <a:xfrm>
            <a:off x="6473952" y="2359152"/>
            <a:ext cx="5321808" cy="274320"/>
          </a:xfrm>
          <a:prstGeom prst="rect">
            <a:avLst/>
          </a:prstGeom>
          <a:noFill/>
        </p:spPr>
        <p:txBody>
          <a:bodyPr wrap="square">
            <a:spAutoFit/>
          </a:bodyPr>
          <a:lstStyle/>
          <a:p>
            <a:pPr algn="l"/>
            <a:r>
              <a:rPr sz="1000" b="1" i="0">
                <a:solidFill>
                  <a:srgbClr val="1F497D"/>
                </a:solidFill>
              </a:rPr>
              <a:t>Multi-Scenario Storm Coverage</a:t>
            </a:r>
          </a:p>
        </p:txBody>
      </p:sp>
      <p:sp>
        <p:nvSpPr>
          <p:cNvPr id="24" name="TextBox 23"/>
          <p:cNvSpPr txBox="1"/>
          <p:nvPr/>
        </p:nvSpPr>
        <p:spPr>
          <a:xfrm>
            <a:off x="6473952" y="2651760"/>
            <a:ext cx="5321808" cy="438912"/>
          </a:xfrm>
          <a:prstGeom prst="rect">
            <a:avLst/>
          </a:prstGeom>
          <a:noFill/>
        </p:spPr>
        <p:txBody>
          <a:bodyPr wrap="square">
            <a:spAutoFit/>
          </a:bodyPr>
          <a:lstStyle/>
          <a:p>
            <a:pPr algn="l"/>
            <a:r>
              <a:rPr sz="1000" b="0" i="0">
                <a:solidFill>
                  <a:srgbClr val="404040"/>
                </a:solidFill>
              </a:rPr>
              <a:t>Simulate 6 PAGASA-calibrated storm scenarios from Light Rain (15 mm / 2 h) to Typhoon Signal 3 (400 mm / 18 h) plus a Custom scenario.</a:t>
            </a:r>
          </a:p>
        </p:txBody>
      </p:sp>
      <p:sp>
        <p:nvSpPr>
          <p:cNvPr id="25" name="Rectangle 24"/>
          <p:cNvSpPr/>
          <p:nvPr/>
        </p:nvSpPr>
        <p:spPr>
          <a:xfrm>
            <a:off x="6080760" y="3172968"/>
            <a:ext cx="5806440" cy="8138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080760" y="3172968"/>
            <a:ext cx="338328" cy="813816"/>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080760" y="3328416"/>
            <a:ext cx="338328" cy="457200"/>
          </a:xfrm>
          <a:prstGeom prst="rect">
            <a:avLst/>
          </a:prstGeom>
          <a:noFill/>
        </p:spPr>
        <p:txBody>
          <a:bodyPr wrap="square">
            <a:spAutoFit/>
          </a:bodyPr>
          <a:lstStyle/>
          <a:p>
            <a:pPr algn="ctr"/>
            <a:r>
              <a:rPr sz="1600" b="1" i="0">
                <a:solidFill>
                  <a:srgbClr val="FFFFFF"/>
                </a:solidFill>
              </a:rPr>
              <a:t>3</a:t>
            </a:r>
          </a:p>
        </p:txBody>
      </p:sp>
      <p:sp>
        <p:nvSpPr>
          <p:cNvPr id="28" name="TextBox 27"/>
          <p:cNvSpPr txBox="1"/>
          <p:nvPr/>
        </p:nvSpPr>
        <p:spPr>
          <a:xfrm>
            <a:off x="6473952" y="3227832"/>
            <a:ext cx="5321808" cy="274320"/>
          </a:xfrm>
          <a:prstGeom prst="rect">
            <a:avLst/>
          </a:prstGeom>
          <a:noFill/>
        </p:spPr>
        <p:txBody>
          <a:bodyPr wrap="square">
            <a:spAutoFit/>
          </a:bodyPr>
          <a:lstStyle/>
          <a:p>
            <a:pPr algn="l"/>
            <a:r>
              <a:rPr sz="1000" b="1" i="0">
                <a:solidFill>
                  <a:srgbClr val="1F497D"/>
                </a:solidFill>
              </a:rPr>
              <a:t>Risk Quantification — HAND Model</a:t>
            </a:r>
          </a:p>
        </p:txBody>
      </p:sp>
      <p:sp>
        <p:nvSpPr>
          <p:cNvPr id="29" name="TextBox 28"/>
          <p:cNvSpPr txBox="1"/>
          <p:nvPr/>
        </p:nvSpPr>
        <p:spPr>
          <a:xfrm>
            <a:off x="6473952" y="3520440"/>
            <a:ext cx="5321808" cy="438912"/>
          </a:xfrm>
          <a:prstGeom prst="rect">
            <a:avLst/>
          </a:prstGeom>
          <a:noFill/>
        </p:spPr>
        <p:txBody>
          <a:bodyPr wrap="square">
            <a:spAutoFit/>
          </a:bodyPr>
          <a:lstStyle/>
          <a:p>
            <a:pPr algn="l"/>
            <a:r>
              <a:rPr sz="1000" b="0" i="0">
                <a:solidFill>
                  <a:srgbClr val="404040"/>
                </a:solidFill>
              </a:rPr>
              <a:t>Classify all land cells into 5 risk zones (Very High → Safe) using the Height Above Nearest Drainage model with return-period flood thresholds.</a:t>
            </a:r>
          </a:p>
        </p:txBody>
      </p:sp>
      <p:sp>
        <p:nvSpPr>
          <p:cNvPr id="30" name="Rectangle 29"/>
          <p:cNvSpPr/>
          <p:nvPr/>
        </p:nvSpPr>
        <p:spPr>
          <a:xfrm>
            <a:off x="6080760" y="4041648"/>
            <a:ext cx="5806440" cy="8138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080760" y="4041648"/>
            <a:ext cx="338328" cy="813816"/>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080760" y="4197096"/>
            <a:ext cx="338328" cy="457200"/>
          </a:xfrm>
          <a:prstGeom prst="rect">
            <a:avLst/>
          </a:prstGeom>
          <a:noFill/>
        </p:spPr>
        <p:txBody>
          <a:bodyPr wrap="square">
            <a:spAutoFit/>
          </a:bodyPr>
          <a:lstStyle/>
          <a:p>
            <a:pPr algn="ctr"/>
            <a:r>
              <a:rPr sz="1600" b="1" i="0">
                <a:solidFill>
                  <a:srgbClr val="FFFFFF"/>
                </a:solidFill>
              </a:rPr>
              <a:t>4</a:t>
            </a:r>
          </a:p>
        </p:txBody>
      </p:sp>
      <p:sp>
        <p:nvSpPr>
          <p:cNvPr id="33" name="TextBox 32"/>
          <p:cNvSpPr txBox="1"/>
          <p:nvPr/>
        </p:nvSpPr>
        <p:spPr>
          <a:xfrm>
            <a:off x="6473952" y="4096512"/>
            <a:ext cx="5321808" cy="274320"/>
          </a:xfrm>
          <a:prstGeom prst="rect">
            <a:avLst/>
          </a:prstGeom>
          <a:noFill/>
        </p:spPr>
        <p:txBody>
          <a:bodyPr wrap="square">
            <a:spAutoFit/>
          </a:bodyPr>
          <a:lstStyle/>
          <a:p>
            <a:pPr algn="l"/>
            <a:r>
              <a:rPr sz="1000" b="1" i="0">
                <a:solidFill>
                  <a:srgbClr val="1F497D"/>
                </a:solidFill>
              </a:rPr>
              <a:t>Prevention Measure Evaluation</a:t>
            </a:r>
          </a:p>
        </p:txBody>
      </p:sp>
      <p:sp>
        <p:nvSpPr>
          <p:cNvPr id="34" name="TextBox 33"/>
          <p:cNvSpPr txBox="1"/>
          <p:nvPr/>
        </p:nvSpPr>
        <p:spPr>
          <a:xfrm>
            <a:off x="6473952" y="4389120"/>
            <a:ext cx="5321808" cy="438912"/>
          </a:xfrm>
          <a:prstGeom prst="rect">
            <a:avLst/>
          </a:prstGeom>
          <a:noFill/>
        </p:spPr>
        <p:txBody>
          <a:bodyPr wrap="square">
            <a:spAutoFit/>
          </a:bodyPr>
          <a:lstStyle/>
          <a:p>
            <a:pPr algn="l"/>
            <a:r>
              <a:rPr sz="1000" b="0" i="0">
                <a:solidFill>
                  <a:srgbClr val="404040"/>
                </a:solidFill>
              </a:rPr>
              <a:t>Evaluate 4 flood prevention measures via parallel baseline simulation, computing frame-by-frame flood extent and depth improvement deltas.</a:t>
            </a:r>
          </a:p>
        </p:txBody>
      </p:sp>
      <p:sp>
        <p:nvSpPr>
          <p:cNvPr id="35" name="Rectangle 34"/>
          <p:cNvSpPr/>
          <p:nvPr/>
        </p:nvSpPr>
        <p:spPr>
          <a:xfrm>
            <a:off x="6080760" y="4910328"/>
            <a:ext cx="5806440" cy="81381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080760" y="4910328"/>
            <a:ext cx="338328" cy="813816"/>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080760" y="5065776"/>
            <a:ext cx="338328" cy="457200"/>
          </a:xfrm>
          <a:prstGeom prst="rect">
            <a:avLst/>
          </a:prstGeom>
          <a:noFill/>
        </p:spPr>
        <p:txBody>
          <a:bodyPr wrap="square">
            <a:spAutoFit/>
          </a:bodyPr>
          <a:lstStyle/>
          <a:p>
            <a:pPr algn="ctr"/>
            <a:r>
              <a:rPr sz="1600" b="1" i="0">
                <a:solidFill>
                  <a:srgbClr val="FFFFFF"/>
                </a:solidFill>
              </a:rPr>
              <a:t>5</a:t>
            </a:r>
          </a:p>
        </p:txBody>
      </p:sp>
      <p:sp>
        <p:nvSpPr>
          <p:cNvPr id="38" name="TextBox 37"/>
          <p:cNvSpPr txBox="1"/>
          <p:nvPr/>
        </p:nvSpPr>
        <p:spPr>
          <a:xfrm>
            <a:off x="6473952" y="4965192"/>
            <a:ext cx="5321808" cy="274320"/>
          </a:xfrm>
          <a:prstGeom prst="rect">
            <a:avLst/>
          </a:prstGeom>
          <a:noFill/>
        </p:spPr>
        <p:txBody>
          <a:bodyPr wrap="square">
            <a:spAutoFit/>
          </a:bodyPr>
          <a:lstStyle/>
          <a:p>
            <a:pPr algn="l"/>
            <a:r>
              <a:rPr sz="1000" b="1" i="0">
                <a:solidFill>
                  <a:srgbClr val="1F497D"/>
                </a:solidFill>
              </a:rPr>
              <a:t>Interactive Visualization &amp; Export</a:t>
            </a:r>
          </a:p>
        </p:txBody>
      </p:sp>
      <p:sp>
        <p:nvSpPr>
          <p:cNvPr id="39" name="TextBox 38"/>
          <p:cNvSpPr txBox="1"/>
          <p:nvPr/>
        </p:nvSpPr>
        <p:spPr>
          <a:xfrm>
            <a:off x="6473952" y="5257800"/>
            <a:ext cx="5321808" cy="438912"/>
          </a:xfrm>
          <a:prstGeom prst="rect">
            <a:avLst/>
          </a:prstGeom>
          <a:noFill/>
        </p:spPr>
        <p:txBody>
          <a:bodyPr wrap="square">
            <a:spAutoFit/>
          </a:bodyPr>
          <a:lstStyle/>
          <a:p>
            <a:pPr algn="l"/>
            <a:r>
              <a:rPr sz="1000" b="0" i="0">
                <a:solidFill>
                  <a:srgbClr val="404040"/>
                </a:solidFill>
              </a:rPr>
              <a:t>Provide animated visualization with live statistics, playback controls, and GIF animation / CSV time-series export for planning and research.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88952" cy="36576"/>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 y="91440"/>
            <a:ext cx="685800" cy="777240"/>
          </a:xfrm>
          <a:prstGeom prst="rect">
            <a:avLst/>
          </a:prstGeom>
          <a:noFill/>
        </p:spPr>
        <p:txBody>
          <a:bodyPr wrap="square">
            <a:spAutoFit/>
          </a:bodyPr>
          <a:lstStyle/>
          <a:p>
            <a:pPr algn="ctr"/>
            <a:r>
              <a:rPr sz="3000" b="1" i="0">
                <a:solidFill>
                  <a:srgbClr val="FFC000"/>
                </a:solidFill>
              </a:rPr>
              <a:t>02</a:t>
            </a:r>
          </a:p>
        </p:txBody>
      </p:sp>
      <p:sp>
        <p:nvSpPr>
          <p:cNvPr id="6" name="TextBox 5"/>
          <p:cNvSpPr txBox="1"/>
          <p:nvPr/>
        </p:nvSpPr>
        <p:spPr>
          <a:xfrm>
            <a:off x="868680" y="164592"/>
            <a:ext cx="10789920" cy="685800"/>
          </a:xfrm>
          <a:prstGeom prst="rect">
            <a:avLst/>
          </a:prstGeom>
          <a:noFill/>
        </p:spPr>
        <p:txBody>
          <a:bodyPr wrap="square">
            <a:spAutoFit/>
          </a:bodyPr>
          <a:lstStyle/>
          <a:p>
            <a:pPr algn="l"/>
            <a:r>
              <a:rPr sz="2200" b="1" i="0">
                <a:solidFill>
                  <a:srgbClr val="FFFFFF"/>
                </a:solidFill>
              </a:rPr>
              <a:t>System Architecture &amp; Build Levels</a:t>
            </a:r>
          </a:p>
        </p:txBody>
      </p:sp>
      <p:sp>
        <p:nvSpPr>
          <p:cNvPr id="7" name="Rectangle 6"/>
          <p:cNvSpPr/>
          <p:nvPr/>
        </p:nvSpPr>
        <p:spPr>
          <a:xfrm>
            <a:off x="0" y="6492240"/>
            <a:ext cx="12188952" cy="36576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0" y="6510528"/>
            <a:ext cx="12188952" cy="320040"/>
          </a:xfrm>
          <a:prstGeom prst="rect">
            <a:avLst/>
          </a:prstGeom>
          <a:noFill/>
        </p:spPr>
        <p:txBody>
          <a:bodyPr wrap="square">
            <a:spAutoFit/>
          </a:bodyPr>
          <a:lstStyle/>
          <a:p>
            <a:pPr algn="ctr"/>
            <a:r>
              <a:rPr sz="900" b="0" i="0">
                <a:solidFill>
                  <a:srgbClr val="DBE5F1"/>
                </a:solidFill>
              </a:rPr>
              <a:t>Jade Valley Flood Risk Simulation  •  System Architecture</a:t>
            </a:r>
          </a:p>
        </p:txBody>
      </p:sp>
      <p:sp>
        <p:nvSpPr>
          <p:cNvPr id="9" name="Rectangle 8"/>
          <p:cNvSpPr/>
          <p:nvPr/>
        </p:nvSpPr>
        <p:spPr>
          <a:xfrm>
            <a:off x="274320" y="1143000"/>
            <a:ext cx="5486400" cy="29260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84048" y="1179576"/>
            <a:ext cx="5349240" cy="256032"/>
          </a:xfrm>
          <a:prstGeom prst="rect">
            <a:avLst/>
          </a:prstGeom>
          <a:noFill/>
        </p:spPr>
        <p:txBody>
          <a:bodyPr wrap="square">
            <a:spAutoFit/>
          </a:bodyPr>
          <a:lstStyle/>
          <a:p>
            <a:pPr algn="l"/>
            <a:r>
              <a:rPr sz="1000" b="1" i="0">
                <a:solidFill>
                  <a:srgbClr val="FFFFFF"/>
                </a:solidFill>
              </a:rPr>
              <a:t>THREE PROGRESSIVE BUILD LEVELS</a:t>
            </a:r>
          </a:p>
        </p:txBody>
      </p:sp>
      <p:graphicFrame>
        <p:nvGraphicFramePr>
          <p:cNvPr id="11" name="Table 10"/>
          <p:cNvGraphicFramePr>
            <a:graphicFrameLocks noGrp="1"/>
          </p:cNvGraphicFramePr>
          <p:nvPr/>
        </p:nvGraphicFramePr>
        <p:xfrm>
          <a:off x="274320" y="1463040"/>
          <a:ext cx="5486400" cy="1097280"/>
        </p:xfrm>
        <a:graphic>
          <a:graphicData uri="http://schemas.openxmlformats.org/drawingml/2006/table">
            <a:tbl>
              <a:tblPr firstRow="1" bandRow="1">
                <a:tableStyleId>{5C22544A-7EE6-4342-B048-85BDC9FD1C3A}</a:tableStyleId>
              </a:tblPr>
              <a:tblGrid>
                <a:gridCol w="1371600"/>
                <a:gridCol w="1371600"/>
                <a:gridCol w="1371600"/>
                <a:gridCol w="1371600"/>
              </a:tblGrid>
              <a:tr h="274320">
                <a:tc>
                  <a:txBody>
                    <a:bodyPr/>
                    <a:lstStyle/>
                    <a:p>
                      <a:pPr algn="ctr"/>
                      <a:r>
                        <a:rPr b="1" sz="900">
                          <a:solidFill>
                            <a:srgbClr val="FFFFFF"/>
                          </a:solidFill>
                        </a:rPr>
                        <a:t>Build Level</a:t>
                      </a:r>
                    </a:p>
                  </a:txBody>
                  <a:tcPr>
                    <a:solidFill>
                      <a:srgbClr val="1F497D"/>
                    </a:solidFill>
                  </a:tcPr>
                </a:tc>
                <a:tc>
                  <a:txBody>
                    <a:bodyPr/>
                    <a:lstStyle/>
                    <a:p>
                      <a:pPr algn="ctr"/>
                      <a:r>
                        <a:rPr b="1" sz="900">
                          <a:solidFill>
                            <a:srgbClr val="FFFFFF"/>
                          </a:solidFill>
                        </a:rPr>
                        <a:t>Script</a:t>
                      </a:r>
                    </a:p>
                  </a:txBody>
                  <a:tcPr>
                    <a:solidFill>
                      <a:srgbClr val="1F497D"/>
                    </a:solidFill>
                  </a:tcPr>
                </a:tc>
                <a:tc>
                  <a:txBody>
                    <a:bodyPr/>
                    <a:lstStyle/>
                    <a:p>
                      <a:pPr algn="ctr"/>
                      <a:r>
                        <a:rPr b="1" sz="900">
                          <a:solidFill>
                            <a:srgbClr val="FFFFFF"/>
                          </a:solidFill>
                        </a:rPr>
                        <a:t>Measures</a:t>
                      </a:r>
                    </a:p>
                  </a:txBody>
                  <a:tcPr>
                    <a:solidFill>
                      <a:srgbClr val="1F497D"/>
                    </a:solidFill>
                  </a:tcPr>
                </a:tc>
                <a:tc>
                  <a:txBody>
                    <a:bodyPr/>
                    <a:lstStyle/>
                    <a:p>
                      <a:pPr algn="ctr"/>
                      <a:r>
                        <a:rPr b="1" sz="900">
                          <a:solidFill>
                            <a:srgbClr val="FFFFFF"/>
                          </a:solidFill>
                        </a:rPr>
                        <a:t>Description</a:t>
                      </a:r>
                    </a:p>
                  </a:txBody>
                  <a:tcPr>
                    <a:solidFill>
                      <a:srgbClr val="1F497D"/>
                    </a:solidFill>
                  </a:tcPr>
                </a:tc>
              </a:tr>
              <a:tr h="274320">
                <a:tc>
                  <a:txBody>
                    <a:bodyPr/>
                    <a:lstStyle/>
                    <a:p>
                      <a:r>
                        <a:rPr sz="900">
                          <a:solidFill>
                            <a:srgbClr val="404040"/>
                          </a:solidFill>
                        </a:rPr>
                        <a:t>25% Baseline</a:t>
                      </a:r>
                    </a:p>
                  </a:txBody>
                  <a:tcPr>
                    <a:solidFill>
                      <a:srgbClr val="F2F2F2"/>
                    </a:solidFill>
                  </a:tcPr>
                </a:tc>
                <a:tc>
                  <a:txBody>
                    <a:bodyPr/>
                    <a:lstStyle/>
                    <a:p>
                      <a:r>
                        <a:rPr sz="900">
                          <a:solidFill>
                            <a:srgbClr val="404040"/>
                          </a:solidFill>
                        </a:rPr>
                        <a:t>flood_simulation_25%.py</a:t>
                      </a:r>
                    </a:p>
                  </a:txBody>
                  <a:tcPr>
                    <a:solidFill>
                      <a:srgbClr val="F2F2F2"/>
                    </a:solidFill>
                  </a:tcPr>
                </a:tc>
                <a:tc>
                  <a:txBody>
                    <a:bodyPr/>
                    <a:lstStyle/>
                    <a:p>
                      <a:r>
                        <a:rPr sz="900">
                          <a:solidFill>
                            <a:srgbClr val="404040"/>
                          </a:solidFill>
                        </a:rPr>
                        <a:t>None</a:t>
                      </a:r>
                    </a:p>
                  </a:txBody>
                  <a:tcPr>
                    <a:solidFill>
                      <a:srgbClr val="F2F2F2"/>
                    </a:solidFill>
                  </a:tcPr>
                </a:tc>
                <a:tc>
                  <a:txBody>
                    <a:bodyPr/>
                    <a:lstStyle/>
                    <a:p>
                      <a:r>
                        <a:rPr sz="900">
                          <a:solidFill>
                            <a:srgbClr val="404040"/>
                          </a:solidFill>
                        </a:rPr>
                        <a:t>Pure hydrological baseline — unmitigated flood behavior as reference</a:t>
                      </a:r>
                    </a:p>
                  </a:txBody>
                  <a:tcPr>
                    <a:solidFill>
                      <a:srgbClr val="F2F2F2"/>
                    </a:solidFill>
                  </a:tcPr>
                </a:tc>
              </a:tr>
              <a:tr h="274320">
                <a:tc>
                  <a:txBody>
                    <a:bodyPr/>
                    <a:lstStyle/>
                    <a:p>
                      <a:r>
                        <a:rPr sz="900">
                          <a:solidFill>
                            <a:srgbClr val="404040"/>
                          </a:solidFill>
                        </a:rPr>
                        <a:t>50% Build</a:t>
                      </a:r>
                    </a:p>
                  </a:txBody>
                  <a:tcPr>
                    <a:solidFill>
                      <a:srgbClr val="FFFFFF"/>
                    </a:solidFill>
                  </a:tcPr>
                </a:tc>
                <a:tc>
                  <a:txBody>
                    <a:bodyPr/>
                    <a:lstStyle/>
                    <a:p>
                      <a:r>
                        <a:rPr sz="900">
                          <a:solidFill>
                            <a:srgbClr val="404040"/>
                          </a:solidFill>
                        </a:rPr>
                        <a:t>flood_simulation_50%.py</a:t>
                      </a:r>
                    </a:p>
                  </a:txBody>
                  <a:tcPr>
                    <a:solidFill>
                      <a:srgbClr val="FFFFFF"/>
                    </a:solidFill>
                  </a:tcPr>
                </a:tc>
                <a:tc>
                  <a:txBody>
                    <a:bodyPr/>
                    <a:lstStyle/>
                    <a:p>
                      <a:r>
                        <a:rPr sz="900">
                          <a:solidFill>
                            <a:srgbClr val="404040"/>
                          </a:solidFill>
                        </a:rPr>
                        <a:t>2 Measures</a:t>
                      </a:r>
                    </a:p>
                  </a:txBody>
                  <a:tcPr>
                    <a:solidFill>
                      <a:srgbClr val="FFFFFF"/>
                    </a:solidFill>
                  </a:tcPr>
                </a:tc>
                <a:tc>
                  <a:txBody>
                    <a:bodyPr/>
                    <a:lstStyle/>
                    <a:p>
                      <a:r>
                        <a:rPr sz="900">
                          <a:solidFill>
                            <a:srgbClr val="404040"/>
                          </a:solidFill>
                        </a:rPr>
                        <a:t>Adds Riverbank Floodwall + Drainage Canal Network</a:t>
                      </a:r>
                    </a:p>
                  </a:txBody>
                  <a:tcPr>
                    <a:solidFill>
                      <a:srgbClr val="FFFFFF"/>
                    </a:solidFill>
                  </a:tcPr>
                </a:tc>
              </a:tr>
              <a:tr h="274320">
                <a:tc>
                  <a:txBody>
                    <a:bodyPr/>
                    <a:lstStyle/>
                    <a:p>
                      <a:r>
                        <a:rPr sz="900">
                          <a:solidFill>
                            <a:srgbClr val="404040"/>
                          </a:solidFill>
                        </a:rPr>
                        <a:t>75% Build</a:t>
                      </a:r>
                    </a:p>
                  </a:txBody>
                  <a:tcPr>
                    <a:solidFill>
                      <a:srgbClr val="F2F2F2"/>
                    </a:solidFill>
                  </a:tcPr>
                </a:tc>
                <a:tc>
                  <a:txBody>
                    <a:bodyPr/>
                    <a:lstStyle/>
                    <a:p>
                      <a:r>
                        <a:rPr sz="900">
                          <a:solidFill>
                            <a:srgbClr val="404040"/>
                          </a:solidFill>
                        </a:rPr>
                        <a:t>flood_simulation_75%.py</a:t>
                      </a:r>
                    </a:p>
                  </a:txBody>
                  <a:tcPr>
                    <a:solidFill>
                      <a:srgbClr val="F2F2F2"/>
                    </a:solidFill>
                  </a:tcPr>
                </a:tc>
                <a:tc>
                  <a:txBody>
                    <a:bodyPr/>
                    <a:lstStyle/>
                    <a:p>
                      <a:r>
                        <a:rPr sz="900">
                          <a:solidFill>
                            <a:srgbClr val="404040"/>
                          </a:solidFill>
                        </a:rPr>
                        <a:t>4 Measures</a:t>
                      </a:r>
                    </a:p>
                  </a:txBody>
                  <a:tcPr>
                    <a:solidFill>
                      <a:srgbClr val="F2F2F2"/>
                    </a:solidFill>
                  </a:tcPr>
                </a:tc>
                <a:tc>
                  <a:txBody>
                    <a:bodyPr/>
                    <a:lstStyle/>
                    <a:p>
                      <a:r>
                        <a:rPr sz="900">
                          <a:solidFill>
                            <a:srgbClr val="404040"/>
                          </a:solidFill>
                        </a:rPr>
                        <a:t>Adds Retention Basin + Elevated Emergency Road on top of 50%</a:t>
                      </a:r>
                    </a:p>
                  </a:txBody>
                  <a:tcPr>
                    <a:solidFill>
                      <a:srgbClr val="F2F2F2"/>
                    </a:solidFill>
                  </a:tcPr>
                </a:tc>
              </a:tr>
            </a:tbl>
          </a:graphicData>
        </a:graphic>
      </p:graphicFrame>
      <p:sp>
        <p:nvSpPr>
          <p:cNvPr id="12" name="Rectangle 11"/>
          <p:cNvSpPr/>
          <p:nvPr/>
        </p:nvSpPr>
        <p:spPr>
          <a:xfrm>
            <a:off x="274320" y="2743200"/>
            <a:ext cx="5486400" cy="29260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84048" y="2779776"/>
            <a:ext cx="5349240" cy="256032"/>
          </a:xfrm>
          <a:prstGeom prst="rect">
            <a:avLst/>
          </a:prstGeom>
          <a:noFill/>
        </p:spPr>
        <p:txBody>
          <a:bodyPr wrap="square">
            <a:spAutoFit/>
          </a:bodyPr>
          <a:lstStyle/>
          <a:p>
            <a:pPr algn="l"/>
            <a:r>
              <a:rPr sz="1000" b="1" i="0">
                <a:solidFill>
                  <a:srgbClr val="FFFFFF"/>
                </a:solidFill>
              </a:rPr>
              <a:t>5-LAYER PIPELINE ARCHITECTURE</a:t>
            </a:r>
          </a:p>
        </p:txBody>
      </p:sp>
      <p:sp>
        <p:nvSpPr>
          <p:cNvPr id="14" name="Rectangle 13"/>
          <p:cNvSpPr/>
          <p:nvPr/>
        </p:nvSpPr>
        <p:spPr>
          <a:xfrm>
            <a:off x="274320" y="3044952"/>
            <a:ext cx="5486400" cy="557784"/>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74320" y="3044952"/>
            <a:ext cx="1417320" cy="557784"/>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20040" y="3154680"/>
            <a:ext cx="1371600" cy="347472"/>
          </a:xfrm>
          <a:prstGeom prst="rect">
            <a:avLst/>
          </a:prstGeom>
          <a:noFill/>
        </p:spPr>
        <p:txBody>
          <a:bodyPr wrap="square">
            <a:spAutoFit/>
          </a:bodyPr>
          <a:lstStyle/>
          <a:p>
            <a:pPr algn="l"/>
            <a:r>
              <a:rPr sz="900" b="1" i="0">
                <a:solidFill>
                  <a:srgbClr val="FFFFFF"/>
                </a:solidFill>
              </a:rPr>
              <a:t>Layer 1 — Data</a:t>
            </a:r>
          </a:p>
        </p:txBody>
      </p:sp>
      <p:sp>
        <p:nvSpPr>
          <p:cNvPr id="17" name="TextBox 16"/>
          <p:cNvSpPr txBox="1"/>
          <p:nvPr/>
        </p:nvSpPr>
        <p:spPr>
          <a:xfrm>
            <a:off x="1783080" y="3154680"/>
            <a:ext cx="3913632" cy="347472"/>
          </a:xfrm>
          <a:prstGeom prst="rect">
            <a:avLst/>
          </a:prstGeom>
          <a:noFill/>
        </p:spPr>
        <p:txBody>
          <a:bodyPr wrap="square">
            <a:spAutoFit/>
          </a:bodyPr>
          <a:lstStyle/>
          <a:p>
            <a:pPr algn="l"/>
            <a:r>
              <a:rPr sz="1000" b="0" i="0">
                <a:solidFill>
                  <a:srgbClr val="404040"/>
                </a:solidFill>
              </a:rPr>
              <a:t>GeoTIFF DEM (57×61, 30.64 m/cell) + JPEG satellite background loaded from disk</a:t>
            </a:r>
          </a:p>
        </p:txBody>
      </p:sp>
      <p:sp>
        <p:nvSpPr>
          <p:cNvPr id="18" name="Rectangle 17"/>
          <p:cNvSpPr/>
          <p:nvPr/>
        </p:nvSpPr>
        <p:spPr>
          <a:xfrm>
            <a:off x="274320" y="3648456"/>
            <a:ext cx="5486400" cy="557784"/>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74320" y="3648456"/>
            <a:ext cx="1417320" cy="557784"/>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20040" y="3758184"/>
            <a:ext cx="1371600" cy="347472"/>
          </a:xfrm>
          <a:prstGeom prst="rect">
            <a:avLst/>
          </a:prstGeom>
          <a:noFill/>
        </p:spPr>
        <p:txBody>
          <a:bodyPr wrap="square">
            <a:spAutoFit/>
          </a:bodyPr>
          <a:lstStyle/>
          <a:p>
            <a:pPr algn="l"/>
            <a:r>
              <a:rPr sz="900" b="1" i="0">
                <a:solidFill>
                  <a:srgbClr val="FFFFFF"/>
                </a:solidFill>
              </a:rPr>
              <a:t>Layer 2 — Input</a:t>
            </a:r>
          </a:p>
        </p:txBody>
      </p:sp>
      <p:sp>
        <p:nvSpPr>
          <p:cNvPr id="21" name="TextBox 20"/>
          <p:cNvSpPr txBox="1"/>
          <p:nvPr/>
        </p:nvSpPr>
        <p:spPr>
          <a:xfrm>
            <a:off x="1783080" y="3758184"/>
            <a:ext cx="3913632" cy="347472"/>
          </a:xfrm>
          <a:prstGeom prst="rect">
            <a:avLst/>
          </a:prstGeom>
          <a:noFill/>
        </p:spPr>
        <p:txBody>
          <a:bodyPr wrap="square">
            <a:spAutoFit/>
          </a:bodyPr>
          <a:lstStyle/>
          <a:p>
            <a:pPr algn="l"/>
            <a:r>
              <a:rPr sz="1000" b="0" i="0">
                <a:solidFill>
                  <a:srgbClr val="404040"/>
                </a:solidFill>
              </a:rPr>
              <a:t>Tkinter 2-tab GUI: storm scenario selection, prevention measure toggles &amp; sliders</a:t>
            </a:r>
          </a:p>
        </p:txBody>
      </p:sp>
      <p:sp>
        <p:nvSpPr>
          <p:cNvPr id="22" name="Rectangle 21"/>
          <p:cNvSpPr/>
          <p:nvPr/>
        </p:nvSpPr>
        <p:spPr>
          <a:xfrm>
            <a:off x="274320" y="4251960"/>
            <a:ext cx="5486400" cy="557784"/>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74320" y="4251960"/>
            <a:ext cx="1417320" cy="557784"/>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20040" y="4361688"/>
            <a:ext cx="1371600" cy="347472"/>
          </a:xfrm>
          <a:prstGeom prst="rect">
            <a:avLst/>
          </a:prstGeom>
          <a:noFill/>
        </p:spPr>
        <p:txBody>
          <a:bodyPr wrap="square">
            <a:spAutoFit/>
          </a:bodyPr>
          <a:lstStyle/>
          <a:p>
            <a:pPr algn="l"/>
            <a:r>
              <a:rPr sz="900" b="1" i="0">
                <a:solidFill>
                  <a:srgbClr val="FFFFFF"/>
                </a:solidFill>
              </a:rPr>
              <a:t>Layer 3 — Preprocessing</a:t>
            </a:r>
          </a:p>
        </p:txBody>
      </p:sp>
      <p:sp>
        <p:nvSpPr>
          <p:cNvPr id="25" name="TextBox 24"/>
          <p:cNvSpPr txBox="1"/>
          <p:nvPr/>
        </p:nvSpPr>
        <p:spPr>
          <a:xfrm>
            <a:off x="1783080" y="4361688"/>
            <a:ext cx="3913632" cy="347472"/>
          </a:xfrm>
          <a:prstGeom prst="rect">
            <a:avLst/>
          </a:prstGeom>
          <a:noFill/>
        </p:spPr>
        <p:txBody>
          <a:bodyPr wrap="square">
            <a:spAutoFit/>
          </a:bodyPr>
          <a:lstStyle/>
          <a:p>
            <a:pPr algn="l"/>
            <a:r>
              <a:rPr sz="1000" b="0" i="0">
                <a:solidFill>
                  <a:srgbClr val="404040"/>
                </a:solidFill>
              </a:rPr>
              <a:t>DEM modification → depression fill → D8 flow direction → flow accumulation → bank elevation</a:t>
            </a:r>
          </a:p>
        </p:txBody>
      </p:sp>
      <p:sp>
        <p:nvSpPr>
          <p:cNvPr id="26" name="Rectangle 25"/>
          <p:cNvSpPr/>
          <p:nvPr/>
        </p:nvSpPr>
        <p:spPr>
          <a:xfrm>
            <a:off x="274320" y="4855464"/>
            <a:ext cx="5486400" cy="557784"/>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74320" y="4855464"/>
            <a:ext cx="1417320" cy="557784"/>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20040" y="4965192"/>
            <a:ext cx="1371600" cy="347472"/>
          </a:xfrm>
          <a:prstGeom prst="rect">
            <a:avLst/>
          </a:prstGeom>
          <a:noFill/>
        </p:spPr>
        <p:txBody>
          <a:bodyPr wrap="square">
            <a:spAutoFit/>
          </a:bodyPr>
          <a:lstStyle/>
          <a:p>
            <a:pPr algn="l"/>
            <a:r>
              <a:rPr sz="900" b="1" i="0">
                <a:solidFill>
                  <a:srgbClr val="FFFFFF"/>
                </a:solidFill>
              </a:rPr>
              <a:t>Layer 4 — Simulation</a:t>
            </a:r>
          </a:p>
        </p:txBody>
      </p:sp>
      <p:sp>
        <p:nvSpPr>
          <p:cNvPr id="29" name="TextBox 28"/>
          <p:cNvSpPr txBox="1"/>
          <p:nvPr/>
        </p:nvSpPr>
        <p:spPr>
          <a:xfrm>
            <a:off x="1783080" y="4965192"/>
            <a:ext cx="3913632" cy="347472"/>
          </a:xfrm>
          <a:prstGeom prst="rect">
            <a:avLst/>
          </a:prstGeom>
          <a:noFill/>
        </p:spPr>
        <p:txBody>
          <a:bodyPr wrap="square">
            <a:spAutoFit/>
          </a:bodyPr>
          <a:lstStyle/>
          <a:p>
            <a:pPr algn="l"/>
            <a:r>
              <a:rPr sz="1000" b="0" i="0">
                <a:solidFill>
                  <a:srgbClr val="404040"/>
                </a:solidFill>
              </a:rPr>
              <a:t>Frame-by-frame physics: rainfall → D8 routing (12 sub-iters) → BFS overflow → infiltration → drainage</a:t>
            </a:r>
          </a:p>
        </p:txBody>
      </p:sp>
      <p:sp>
        <p:nvSpPr>
          <p:cNvPr id="30" name="Rectangle 29"/>
          <p:cNvSpPr/>
          <p:nvPr/>
        </p:nvSpPr>
        <p:spPr>
          <a:xfrm>
            <a:off x="274320" y="5458968"/>
            <a:ext cx="5486400" cy="557784"/>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74320" y="5458968"/>
            <a:ext cx="1417320" cy="557784"/>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20040" y="5568696"/>
            <a:ext cx="1371600" cy="347472"/>
          </a:xfrm>
          <a:prstGeom prst="rect">
            <a:avLst/>
          </a:prstGeom>
          <a:noFill/>
        </p:spPr>
        <p:txBody>
          <a:bodyPr wrap="square">
            <a:spAutoFit/>
          </a:bodyPr>
          <a:lstStyle/>
          <a:p>
            <a:pPr algn="l"/>
            <a:r>
              <a:rPr sz="900" b="1" i="0">
                <a:solidFill>
                  <a:srgbClr val="FFFFFF"/>
                </a:solidFill>
              </a:rPr>
              <a:t>Layer 5 — Output</a:t>
            </a:r>
          </a:p>
        </p:txBody>
      </p:sp>
      <p:sp>
        <p:nvSpPr>
          <p:cNvPr id="33" name="TextBox 32"/>
          <p:cNvSpPr txBox="1"/>
          <p:nvPr/>
        </p:nvSpPr>
        <p:spPr>
          <a:xfrm>
            <a:off x="1783080" y="5568696"/>
            <a:ext cx="3913632" cy="347472"/>
          </a:xfrm>
          <a:prstGeom prst="rect">
            <a:avLst/>
          </a:prstGeom>
          <a:noFill/>
        </p:spPr>
        <p:txBody>
          <a:bodyPr wrap="square">
            <a:spAutoFit/>
          </a:bodyPr>
          <a:lstStyle/>
          <a:p>
            <a:pPr algn="l"/>
            <a:r>
              <a:rPr sz="1000" b="0" i="0">
                <a:solidFill>
                  <a:srgbClr val="404040"/>
                </a:solidFill>
              </a:rPr>
              <a:t>Matplotlib 5-layer animation + live stats panel + GIF / CSV / .npy / risk map export</a:t>
            </a:r>
          </a:p>
        </p:txBody>
      </p:sp>
      <p:sp>
        <p:nvSpPr>
          <p:cNvPr id="34" name="Rectangle 33"/>
          <p:cNvSpPr/>
          <p:nvPr/>
        </p:nvSpPr>
        <p:spPr>
          <a:xfrm>
            <a:off x="5943600" y="1143000"/>
            <a:ext cx="5943600" cy="29260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053328" y="1179576"/>
            <a:ext cx="5806440" cy="256032"/>
          </a:xfrm>
          <a:prstGeom prst="rect">
            <a:avLst/>
          </a:prstGeom>
          <a:noFill/>
        </p:spPr>
        <p:txBody>
          <a:bodyPr wrap="square">
            <a:spAutoFit/>
          </a:bodyPr>
          <a:lstStyle/>
          <a:p>
            <a:pPr algn="l"/>
            <a:r>
              <a:rPr sz="1000" b="1" i="0">
                <a:solidFill>
                  <a:srgbClr val="FFFFFF"/>
                </a:solidFill>
              </a:rPr>
              <a:t>CORE FUNCTIONS &amp; COMPONENTS</a:t>
            </a:r>
          </a:p>
        </p:txBody>
      </p:sp>
      <p:graphicFrame>
        <p:nvGraphicFramePr>
          <p:cNvPr id="36" name="Table 35"/>
          <p:cNvGraphicFramePr>
            <a:graphicFrameLocks noGrp="1"/>
          </p:cNvGraphicFramePr>
          <p:nvPr/>
        </p:nvGraphicFramePr>
        <p:xfrm>
          <a:off x="5943600" y="1463040"/>
          <a:ext cx="5943600" cy="4937760"/>
        </p:xfrm>
        <a:graphic>
          <a:graphicData uri="http://schemas.openxmlformats.org/drawingml/2006/table">
            <a:tbl>
              <a:tblPr firstRow="1" bandRow="1">
                <a:tableStyleId>{5C22544A-7EE6-4342-B048-85BDC9FD1C3A}</a:tableStyleId>
              </a:tblPr>
              <a:tblGrid>
                <a:gridCol w="2971800"/>
                <a:gridCol w="2971800"/>
              </a:tblGrid>
              <a:tr h="448887">
                <a:tc>
                  <a:txBody>
                    <a:bodyPr/>
                    <a:lstStyle/>
                    <a:p>
                      <a:pPr algn="ctr"/>
                      <a:r>
                        <a:rPr b="1" sz="900">
                          <a:solidFill>
                            <a:srgbClr val="FFFFFF"/>
                          </a:solidFill>
                        </a:rPr>
                        <a:t>Function / Class</a:t>
                      </a:r>
                    </a:p>
                  </a:txBody>
                  <a:tcPr>
                    <a:solidFill>
                      <a:srgbClr val="0070C0"/>
                    </a:solidFill>
                  </a:tcPr>
                </a:tc>
                <a:tc>
                  <a:txBody>
                    <a:bodyPr/>
                    <a:lstStyle/>
                    <a:p>
                      <a:pPr algn="ctr"/>
                      <a:r>
                        <a:rPr b="1" sz="900">
                          <a:solidFill>
                            <a:srgbClr val="FFFFFF"/>
                          </a:solidFill>
                        </a:rPr>
                        <a:t>Role</a:t>
                      </a:r>
                    </a:p>
                  </a:txBody>
                  <a:tcPr>
                    <a:solidFill>
                      <a:srgbClr val="0070C0"/>
                    </a:solidFill>
                  </a:tcPr>
                </a:tc>
              </a:tr>
              <a:tr h="448887">
                <a:tc>
                  <a:txBody>
                    <a:bodyPr/>
                    <a:lstStyle/>
                    <a:p>
                      <a:r>
                        <a:rPr sz="900">
                          <a:solidFill>
                            <a:srgbClr val="404040"/>
                          </a:solidFill>
                        </a:rPr>
                        <a:t>load_dem()</a:t>
                      </a:r>
                    </a:p>
                  </a:txBody>
                  <a:tcPr>
                    <a:solidFill>
                      <a:srgbClr val="F2F2F2"/>
                    </a:solidFill>
                  </a:tcPr>
                </a:tc>
                <a:tc>
                  <a:txBody>
                    <a:bodyPr/>
                    <a:lstStyle/>
                    <a:p>
                      <a:r>
                        <a:rPr sz="900">
                          <a:solidFill>
                            <a:srgbClr val="404040"/>
                          </a:solidFill>
                        </a:rPr>
                        <a:t>Reads GeoTIFF, fills NoData, returns (dem, cellsize)</a:t>
                      </a:r>
                    </a:p>
                  </a:txBody>
                  <a:tcPr>
                    <a:solidFill>
                      <a:srgbClr val="F2F2F2"/>
                    </a:solidFill>
                  </a:tcPr>
                </a:tc>
              </a:tr>
              <a:tr h="448887">
                <a:tc>
                  <a:txBody>
                    <a:bodyPr/>
                    <a:lstStyle/>
                    <a:p>
                      <a:r>
                        <a:rPr sz="900">
                          <a:solidFill>
                            <a:srgbClr val="404040"/>
                          </a:solidFill>
                        </a:rPr>
                        <a:t>_fill_depressions()</a:t>
                      </a:r>
                    </a:p>
                  </a:txBody>
                  <a:tcPr>
                    <a:solidFill>
                      <a:srgbClr val="FFFFFF"/>
                    </a:solidFill>
                  </a:tcPr>
                </a:tc>
                <a:tc>
                  <a:txBody>
                    <a:bodyPr/>
                    <a:lstStyle/>
                    <a:p>
                      <a:r>
                        <a:rPr sz="900">
                          <a:solidFill>
                            <a:srgbClr val="404040"/>
                          </a:solidFill>
                        </a:rPr>
                        <a:t>Priority-Flood sink removal (Barnes et al. 2014)</a:t>
                      </a:r>
                    </a:p>
                  </a:txBody>
                  <a:tcPr>
                    <a:solidFill>
                      <a:srgbClr val="FFFFFF"/>
                    </a:solidFill>
                  </a:tcPr>
                </a:tc>
              </a:tr>
              <a:tr h="448887">
                <a:tc>
                  <a:txBody>
                    <a:bodyPr/>
                    <a:lstStyle/>
                    <a:p>
                      <a:r>
                        <a:rPr sz="900">
                          <a:solidFill>
                            <a:srgbClr val="404040"/>
                          </a:solidFill>
                        </a:rPr>
                        <a:t>_d8_flow_direction()</a:t>
                      </a:r>
                    </a:p>
                  </a:txBody>
                  <a:tcPr>
                    <a:solidFill>
                      <a:srgbClr val="F2F2F2"/>
                    </a:solidFill>
                  </a:tcPr>
                </a:tc>
                <a:tc>
                  <a:txBody>
                    <a:bodyPr/>
                    <a:lstStyle/>
                    <a:p>
                      <a:r>
                        <a:rPr sz="900">
                          <a:solidFill>
                            <a:srgbClr val="404040"/>
                          </a:solidFill>
                        </a:rPr>
                        <a:t>Steepest-descent D8 routing to 8 neighbours</a:t>
                      </a:r>
                    </a:p>
                  </a:txBody>
                  <a:tcPr>
                    <a:solidFill>
                      <a:srgbClr val="F2F2F2"/>
                    </a:solidFill>
                  </a:tcPr>
                </a:tc>
              </a:tr>
              <a:tr h="448887">
                <a:tc>
                  <a:txBody>
                    <a:bodyPr/>
                    <a:lstStyle/>
                    <a:p>
                      <a:r>
                        <a:rPr sz="900">
                          <a:solidFill>
                            <a:srgbClr val="404040"/>
                          </a:solidFill>
                        </a:rPr>
                        <a:t>_flow_accumulation()</a:t>
                      </a:r>
                    </a:p>
                  </a:txBody>
                  <a:tcPr>
                    <a:solidFill>
                      <a:srgbClr val="FFFFFF"/>
                    </a:solidFill>
                  </a:tcPr>
                </a:tc>
                <a:tc>
                  <a:txBody>
                    <a:bodyPr/>
                    <a:lstStyle/>
                    <a:p>
                      <a:r>
                        <a:rPr sz="900">
                          <a:solidFill>
                            <a:srgbClr val="404040"/>
                          </a:solidFill>
                        </a:rPr>
                        <a:t>Topological-sort upstream cell count</a:t>
                      </a:r>
                    </a:p>
                  </a:txBody>
                  <a:tcPr>
                    <a:solidFill>
                      <a:srgbClr val="FFFFFF"/>
                    </a:solidFill>
                  </a:tcPr>
                </a:tc>
              </a:tr>
              <a:tr h="448887">
                <a:tc>
                  <a:txBody>
                    <a:bodyPr/>
                    <a:lstStyle/>
                    <a:p>
                      <a:r>
                        <a:rPr sz="900">
                          <a:solidFill>
                            <a:srgbClr val="404040"/>
                          </a:solidFill>
                        </a:rPr>
                        <a:t>apply_floodwall()</a:t>
                      </a:r>
                    </a:p>
                  </a:txBody>
                  <a:tcPr>
                    <a:solidFill>
                      <a:srgbClr val="F2F2F2"/>
                    </a:solidFill>
                  </a:tcPr>
                </a:tc>
                <a:tc>
                  <a:txBody>
                    <a:bodyPr/>
                    <a:lstStyle/>
                    <a:p>
                      <a:r>
                        <a:rPr sz="900">
                          <a:solidFill>
                            <a:srgbClr val="404040"/>
                          </a:solidFill>
                        </a:rPr>
                        <a:t>Raises western bank cells by wall_height_m</a:t>
                      </a:r>
                    </a:p>
                  </a:txBody>
                  <a:tcPr>
                    <a:solidFill>
                      <a:srgbClr val="F2F2F2"/>
                    </a:solidFill>
                  </a:tcPr>
                </a:tc>
              </a:tr>
              <a:tr h="448887">
                <a:tc>
                  <a:txBody>
                    <a:bodyPr/>
                    <a:lstStyle/>
                    <a:p>
                      <a:r>
                        <a:rPr sz="900">
                          <a:solidFill>
                            <a:srgbClr val="404040"/>
                          </a:solidFill>
                        </a:rPr>
                        <a:t>apply_drainage_canal()</a:t>
                      </a:r>
                    </a:p>
                  </a:txBody>
                  <a:tcPr>
                    <a:solidFill>
                      <a:srgbClr val="FFFFFF"/>
                    </a:solidFill>
                  </a:tcPr>
                </a:tc>
                <a:tc>
                  <a:txBody>
                    <a:bodyPr/>
                    <a:lstStyle/>
                    <a:p>
                      <a:r>
                        <a:rPr sz="900">
                          <a:solidFill>
                            <a:srgbClr val="404040"/>
                          </a:solidFill>
                        </a:rPr>
                        <a:t>Lowers east/south corridor cells by canal_depth_m</a:t>
                      </a:r>
                    </a:p>
                  </a:txBody>
                  <a:tcPr>
                    <a:solidFill>
                      <a:srgbClr val="FFFFFF"/>
                    </a:solidFill>
                  </a:tcPr>
                </a:tc>
              </a:tr>
              <a:tr h="448887">
                <a:tc>
                  <a:txBody>
                    <a:bodyPr/>
                    <a:lstStyle/>
                    <a:p>
                      <a:r>
                        <a:rPr sz="900">
                          <a:solidFill>
                            <a:srgbClr val="404040"/>
                          </a:solidFill>
                        </a:rPr>
                        <a:t>apply_retention_basin()</a:t>
                      </a:r>
                    </a:p>
                  </a:txBody>
                  <a:tcPr>
                    <a:solidFill>
                      <a:srgbClr val="F2F2F2"/>
                    </a:solidFill>
                  </a:tcPr>
                </a:tc>
                <a:tc>
                  <a:txBody>
                    <a:bodyPr/>
                    <a:lstStyle/>
                    <a:p>
                      <a:r>
                        <a:rPr sz="900">
                          <a:solidFill>
                            <a:srgbClr val="404040"/>
                          </a:solidFill>
                        </a:rPr>
                        <a:t>Excavates basin in open land perimeter [75%]</a:t>
                      </a:r>
                    </a:p>
                  </a:txBody>
                  <a:tcPr>
                    <a:solidFill>
                      <a:srgbClr val="F2F2F2"/>
                    </a:solidFill>
                  </a:tcPr>
                </a:tc>
              </a:tr>
              <a:tr h="448887">
                <a:tc>
                  <a:txBody>
                    <a:bodyPr/>
                    <a:lstStyle/>
                    <a:p>
                      <a:r>
                        <a:rPr sz="900">
                          <a:solidFill>
                            <a:srgbClr val="404040"/>
                          </a:solidFill>
                        </a:rPr>
                        <a:t>apply_elevated_road()</a:t>
                      </a:r>
                    </a:p>
                  </a:txBody>
                  <a:tcPr>
                    <a:solidFill>
                      <a:srgbClr val="FFFFFF"/>
                    </a:solidFill>
                  </a:tcPr>
                </a:tc>
                <a:tc>
                  <a:txBody>
                    <a:bodyPr/>
                    <a:lstStyle/>
                    <a:p>
                      <a:r>
                        <a:rPr sz="900">
                          <a:solidFill>
                            <a:srgbClr val="404040"/>
                          </a:solidFill>
                        </a:rPr>
                        <a:t>Raises E-W emergency corridor [75%]</a:t>
                      </a:r>
                    </a:p>
                  </a:txBody>
                  <a:tcPr>
                    <a:solidFill>
                      <a:srgbClr val="FFFFFF"/>
                    </a:solidFill>
                  </a:tcPr>
                </a:tc>
              </a:tr>
              <a:tr h="448887">
                <a:tc>
                  <a:txBody>
                    <a:bodyPr/>
                    <a:lstStyle/>
                    <a:p>
                      <a:r>
                        <a:rPr sz="900">
                          <a:solidFill>
                            <a:srgbClr val="404040"/>
                          </a:solidFill>
                        </a:rPr>
                        <a:t>FloodSimulation</a:t>
                      </a:r>
                    </a:p>
                  </a:txBody>
                  <a:tcPr>
                    <a:solidFill>
                      <a:srgbClr val="F2F2F2"/>
                    </a:solidFill>
                  </a:tcPr>
                </a:tc>
                <a:tc>
                  <a:txBody>
                    <a:bodyPr/>
                    <a:lstStyle/>
                    <a:p>
                      <a:r>
                        <a:rPr sz="900">
                          <a:solidFill>
                            <a:srgbClr val="404040"/>
                          </a:solidFill>
                        </a:rPr>
                        <a:t>Class: holds state, runs all 5 physics ops per step</a:t>
                      </a:r>
                    </a:p>
                  </a:txBody>
                  <a:tcPr>
                    <a:solidFill>
                      <a:srgbClr val="F2F2F2"/>
                    </a:solidFill>
                  </a:tcPr>
                </a:tc>
              </a:tr>
              <a:tr h="448890">
                <a:tc>
                  <a:txBody>
                    <a:bodyPr/>
                    <a:lstStyle/>
                    <a:p>
                      <a:r>
                        <a:rPr sz="900">
                          <a:solidFill>
                            <a:srgbClr val="404040"/>
                          </a:solidFill>
                        </a:rPr>
                        <a:t>run_simulation()</a:t>
                      </a:r>
                    </a:p>
                  </a:txBody>
                  <a:tcPr>
                    <a:solidFill>
                      <a:srgbClr val="FFFFFF"/>
                    </a:solidFill>
                  </a:tcPr>
                </a:tc>
                <a:tc>
                  <a:txBody>
                    <a:bodyPr/>
                    <a:lstStyle/>
                    <a:p>
                      <a:r>
                        <a:rPr sz="900">
                          <a:solidFill>
                            <a:srgbClr val="404040"/>
                          </a:solidFill>
                        </a:rPr>
                        <a:t>Orchestrates preprocessing, loop, rendering, export</a:t>
                      </a:r>
                    </a:p>
                  </a:txBody>
                  <a:tcPr>
                    <a:solidFill>
                      <a:srgbClr val="FFFFFF"/>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88952" cy="36576"/>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 y="91440"/>
            <a:ext cx="685800" cy="777240"/>
          </a:xfrm>
          <a:prstGeom prst="rect">
            <a:avLst/>
          </a:prstGeom>
          <a:noFill/>
        </p:spPr>
        <p:txBody>
          <a:bodyPr wrap="square">
            <a:spAutoFit/>
          </a:bodyPr>
          <a:lstStyle/>
          <a:p>
            <a:pPr algn="ctr"/>
            <a:r>
              <a:rPr sz="3000" b="1" i="0">
                <a:solidFill>
                  <a:srgbClr val="FFC000"/>
                </a:solidFill>
              </a:rPr>
              <a:t>03</a:t>
            </a:r>
          </a:p>
        </p:txBody>
      </p:sp>
      <p:sp>
        <p:nvSpPr>
          <p:cNvPr id="6" name="TextBox 5"/>
          <p:cNvSpPr txBox="1"/>
          <p:nvPr/>
        </p:nvSpPr>
        <p:spPr>
          <a:xfrm>
            <a:off x="868680" y="164592"/>
            <a:ext cx="10789920" cy="685800"/>
          </a:xfrm>
          <a:prstGeom prst="rect">
            <a:avLst/>
          </a:prstGeom>
          <a:noFill/>
        </p:spPr>
        <p:txBody>
          <a:bodyPr wrap="square">
            <a:spAutoFit/>
          </a:bodyPr>
          <a:lstStyle/>
          <a:p>
            <a:pPr algn="l"/>
            <a:r>
              <a:rPr sz="2200" b="1" i="0">
                <a:solidFill>
                  <a:srgbClr val="FFFFFF"/>
                </a:solidFill>
              </a:rPr>
              <a:t>Simulation Process Flow — 8 Stages</a:t>
            </a:r>
          </a:p>
        </p:txBody>
      </p:sp>
      <p:sp>
        <p:nvSpPr>
          <p:cNvPr id="7" name="Rectangle 6"/>
          <p:cNvSpPr/>
          <p:nvPr/>
        </p:nvSpPr>
        <p:spPr>
          <a:xfrm>
            <a:off x="0" y="6492240"/>
            <a:ext cx="12188952" cy="36576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0" y="6510528"/>
            <a:ext cx="12188952" cy="320040"/>
          </a:xfrm>
          <a:prstGeom prst="rect">
            <a:avLst/>
          </a:prstGeom>
          <a:noFill/>
        </p:spPr>
        <p:txBody>
          <a:bodyPr wrap="square">
            <a:spAutoFit/>
          </a:bodyPr>
          <a:lstStyle/>
          <a:p>
            <a:pPr algn="ctr"/>
            <a:r>
              <a:rPr sz="900" b="0" i="0">
                <a:solidFill>
                  <a:srgbClr val="DBE5F1"/>
                </a:solidFill>
              </a:rPr>
              <a:t>Jade Valley Flood Risk Simulation  •  Process Flow</a:t>
            </a:r>
          </a:p>
        </p:txBody>
      </p:sp>
      <p:sp>
        <p:nvSpPr>
          <p:cNvPr id="9" name="Rectangle 8"/>
          <p:cNvSpPr/>
          <p:nvPr/>
        </p:nvSpPr>
        <p:spPr>
          <a:xfrm>
            <a:off x="201168" y="1078992"/>
            <a:ext cx="2852928" cy="256032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01168" y="1078992"/>
            <a:ext cx="2852928" cy="384048"/>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01168" y="1078992"/>
            <a:ext cx="384048" cy="384048"/>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28600" y="1115568"/>
            <a:ext cx="338328" cy="320040"/>
          </a:xfrm>
          <a:prstGeom prst="rect">
            <a:avLst/>
          </a:prstGeom>
          <a:noFill/>
        </p:spPr>
        <p:txBody>
          <a:bodyPr wrap="square">
            <a:spAutoFit/>
          </a:bodyPr>
          <a:lstStyle/>
          <a:p>
            <a:pPr algn="ctr"/>
            <a:r>
              <a:rPr sz="1600" b="1" i="0">
                <a:solidFill>
                  <a:srgbClr val="1F497D"/>
                </a:solidFill>
              </a:rPr>
              <a:t>1</a:t>
            </a:r>
          </a:p>
        </p:txBody>
      </p:sp>
      <p:sp>
        <p:nvSpPr>
          <p:cNvPr id="13" name="TextBox 12"/>
          <p:cNvSpPr txBox="1"/>
          <p:nvPr/>
        </p:nvSpPr>
        <p:spPr>
          <a:xfrm>
            <a:off x="658368" y="1143000"/>
            <a:ext cx="2350008" cy="274320"/>
          </a:xfrm>
          <a:prstGeom prst="rect">
            <a:avLst/>
          </a:prstGeom>
          <a:noFill/>
        </p:spPr>
        <p:txBody>
          <a:bodyPr wrap="square">
            <a:spAutoFit/>
          </a:bodyPr>
          <a:lstStyle/>
          <a:p>
            <a:pPr algn="l"/>
            <a:r>
              <a:rPr sz="1100" b="1" i="0">
                <a:solidFill>
                  <a:srgbClr val="FFFFFF"/>
                </a:solidFill>
              </a:rPr>
              <a:t>Data Loading</a:t>
            </a:r>
          </a:p>
        </p:txBody>
      </p:sp>
      <p:sp>
        <p:nvSpPr>
          <p:cNvPr id="14" name="TextBox 13"/>
          <p:cNvSpPr txBox="1"/>
          <p:nvPr/>
        </p:nvSpPr>
        <p:spPr>
          <a:xfrm>
            <a:off x="310896" y="1554480"/>
            <a:ext cx="2651760" cy="2011680"/>
          </a:xfrm>
          <a:prstGeom prst="rect">
            <a:avLst/>
          </a:prstGeom>
          <a:noFill/>
        </p:spPr>
        <p:txBody>
          <a:bodyPr wrap="square">
            <a:spAutoFit/>
          </a:bodyPr>
          <a:lstStyle/>
          <a:p>
            <a:pPr algn="l"/>
            <a:r>
              <a:rPr sz="1000" b="0" i="0">
                <a:solidFill>
                  <a:srgbClr val="404040"/>
                </a:solidFill>
              </a:rPr>
              <a:t>GeoTIFF DEM loaded via rasterio. NoData cells filled. JPEG satellite background loaded. Cell size derived (~30.64 m). Elevation range: 2.00–71.75 m.</a:t>
            </a:r>
          </a:p>
        </p:txBody>
      </p:sp>
      <p:sp>
        <p:nvSpPr>
          <p:cNvPr id="15" name="Rectangle 14"/>
          <p:cNvSpPr/>
          <p:nvPr/>
        </p:nvSpPr>
        <p:spPr>
          <a:xfrm>
            <a:off x="3191256" y="1078992"/>
            <a:ext cx="2852928" cy="256032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191256" y="1078992"/>
            <a:ext cx="2852928" cy="384048"/>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191256" y="1078992"/>
            <a:ext cx="384048" cy="384048"/>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218688" y="1115568"/>
            <a:ext cx="338328" cy="320040"/>
          </a:xfrm>
          <a:prstGeom prst="rect">
            <a:avLst/>
          </a:prstGeom>
          <a:noFill/>
        </p:spPr>
        <p:txBody>
          <a:bodyPr wrap="square">
            <a:spAutoFit/>
          </a:bodyPr>
          <a:lstStyle/>
          <a:p>
            <a:pPr algn="ctr"/>
            <a:r>
              <a:rPr sz="1600" b="1" i="0">
                <a:solidFill>
                  <a:srgbClr val="1F497D"/>
                </a:solidFill>
              </a:rPr>
              <a:t>2</a:t>
            </a:r>
          </a:p>
        </p:txBody>
      </p:sp>
      <p:sp>
        <p:nvSpPr>
          <p:cNvPr id="19" name="TextBox 18"/>
          <p:cNvSpPr txBox="1"/>
          <p:nvPr/>
        </p:nvSpPr>
        <p:spPr>
          <a:xfrm>
            <a:off x="3648456" y="1143000"/>
            <a:ext cx="2350008" cy="274320"/>
          </a:xfrm>
          <a:prstGeom prst="rect">
            <a:avLst/>
          </a:prstGeom>
          <a:noFill/>
        </p:spPr>
        <p:txBody>
          <a:bodyPr wrap="square">
            <a:spAutoFit/>
          </a:bodyPr>
          <a:lstStyle/>
          <a:p>
            <a:pPr algn="l"/>
            <a:r>
              <a:rPr sz="1100" b="1" i="0">
                <a:solidFill>
                  <a:srgbClr val="FFFFFF"/>
                </a:solidFill>
              </a:rPr>
              <a:t>User Input GUI</a:t>
            </a:r>
          </a:p>
        </p:txBody>
      </p:sp>
      <p:sp>
        <p:nvSpPr>
          <p:cNvPr id="20" name="TextBox 19"/>
          <p:cNvSpPr txBox="1"/>
          <p:nvPr/>
        </p:nvSpPr>
        <p:spPr>
          <a:xfrm>
            <a:off x="3300984" y="1554480"/>
            <a:ext cx="2651760" cy="2011680"/>
          </a:xfrm>
          <a:prstGeom prst="rect">
            <a:avLst/>
          </a:prstGeom>
          <a:noFill/>
        </p:spPr>
        <p:txBody>
          <a:bodyPr wrap="square">
            <a:spAutoFit/>
          </a:bodyPr>
          <a:lstStyle/>
          <a:p>
            <a:pPr algn="l"/>
            <a:r>
              <a:rPr sz="1000" b="0" i="0">
                <a:solidFill>
                  <a:srgbClr val="404040"/>
                </a:solidFill>
              </a:rPr>
              <a:t>2-tab Tkinter GUI: Tab 1 sets storm scenario, rainfall, duration, wind, soil saturation, drainage. Tab 2 toggles prevention measures with parameter sliders.</a:t>
            </a:r>
          </a:p>
        </p:txBody>
      </p:sp>
      <p:sp>
        <p:nvSpPr>
          <p:cNvPr id="21" name="Rectangle 20"/>
          <p:cNvSpPr/>
          <p:nvPr/>
        </p:nvSpPr>
        <p:spPr>
          <a:xfrm>
            <a:off x="6181344" y="1078992"/>
            <a:ext cx="2852928" cy="256032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81344" y="1078992"/>
            <a:ext cx="2852928" cy="384048"/>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81344" y="1078992"/>
            <a:ext cx="384048" cy="384048"/>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208776" y="1115568"/>
            <a:ext cx="338328" cy="320040"/>
          </a:xfrm>
          <a:prstGeom prst="rect">
            <a:avLst/>
          </a:prstGeom>
          <a:noFill/>
        </p:spPr>
        <p:txBody>
          <a:bodyPr wrap="square">
            <a:spAutoFit/>
          </a:bodyPr>
          <a:lstStyle/>
          <a:p>
            <a:pPr algn="ctr"/>
            <a:r>
              <a:rPr sz="1600" b="1" i="0">
                <a:solidFill>
                  <a:srgbClr val="1F497D"/>
                </a:solidFill>
              </a:rPr>
              <a:t>3</a:t>
            </a:r>
          </a:p>
        </p:txBody>
      </p:sp>
      <p:sp>
        <p:nvSpPr>
          <p:cNvPr id="25" name="TextBox 24"/>
          <p:cNvSpPr txBox="1"/>
          <p:nvPr/>
        </p:nvSpPr>
        <p:spPr>
          <a:xfrm>
            <a:off x="6638544" y="1143000"/>
            <a:ext cx="2350008" cy="274320"/>
          </a:xfrm>
          <a:prstGeom prst="rect">
            <a:avLst/>
          </a:prstGeom>
          <a:noFill/>
        </p:spPr>
        <p:txBody>
          <a:bodyPr wrap="square">
            <a:spAutoFit/>
          </a:bodyPr>
          <a:lstStyle/>
          <a:p>
            <a:pPr algn="l"/>
            <a:r>
              <a:rPr sz="1100" b="1" i="0">
                <a:solidFill>
                  <a:srgbClr val="FFFFFF"/>
                </a:solidFill>
              </a:rPr>
              <a:t>DEM Modification</a:t>
            </a:r>
          </a:p>
        </p:txBody>
      </p:sp>
      <p:sp>
        <p:nvSpPr>
          <p:cNvPr id="26" name="TextBox 25"/>
          <p:cNvSpPr txBox="1"/>
          <p:nvPr/>
        </p:nvSpPr>
        <p:spPr>
          <a:xfrm>
            <a:off x="6291072" y="1554480"/>
            <a:ext cx="2651760" cy="2011680"/>
          </a:xfrm>
          <a:prstGeom prst="rect">
            <a:avLst/>
          </a:prstGeom>
          <a:noFill/>
        </p:spPr>
        <p:txBody>
          <a:bodyPr wrap="square">
            <a:spAutoFit/>
          </a:bodyPr>
          <a:lstStyle/>
          <a:p>
            <a:pPr algn="l"/>
            <a:r>
              <a:rPr sz="1000" b="0" i="0">
                <a:solidFill>
                  <a:srgbClr val="404040"/>
                </a:solidFill>
              </a:rPr>
              <a:t>Active prevention measures physically modify DEM before simulation starts: raises floodwall cells, lowers canal cells, excavates basin, raises road cells.</a:t>
            </a:r>
          </a:p>
        </p:txBody>
      </p:sp>
      <p:sp>
        <p:nvSpPr>
          <p:cNvPr id="27" name="Rectangle 26"/>
          <p:cNvSpPr/>
          <p:nvPr/>
        </p:nvSpPr>
        <p:spPr>
          <a:xfrm>
            <a:off x="9171432" y="1078992"/>
            <a:ext cx="2852928" cy="256032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171432" y="1078992"/>
            <a:ext cx="2852928" cy="384048"/>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171432" y="1078992"/>
            <a:ext cx="384048" cy="384048"/>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198864" y="1115568"/>
            <a:ext cx="338328" cy="320040"/>
          </a:xfrm>
          <a:prstGeom prst="rect">
            <a:avLst/>
          </a:prstGeom>
          <a:noFill/>
        </p:spPr>
        <p:txBody>
          <a:bodyPr wrap="square">
            <a:spAutoFit/>
          </a:bodyPr>
          <a:lstStyle/>
          <a:p>
            <a:pPr algn="ctr"/>
            <a:r>
              <a:rPr sz="1600" b="1" i="0">
                <a:solidFill>
                  <a:srgbClr val="1F497D"/>
                </a:solidFill>
              </a:rPr>
              <a:t>4</a:t>
            </a:r>
          </a:p>
        </p:txBody>
      </p:sp>
      <p:sp>
        <p:nvSpPr>
          <p:cNvPr id="31" name="TextBox 30"/>
          <p:cNvSpPr txBox="1"/>
          <p:nvPr/>
        </p:nvSpPr>
        <p:spPr>
          <a:xfrm>
            <a:off x="9628632" y="1143000"/>
            <a:ext cx="2350008" cy="274320"/>
          </a:xfrm>
          <a:prstGeom prst="rect">
            <a:avLst/>
          </a:prstGeom>
          <a:noFill/>
        </p:spPr>
        <p:txBody>
          <a:bodyPr wrap="square">
            <a:spAutoFit/>
          </a:bodyPr>
          <a:lstStyle/>
          <a:p>
            <a:pPr algn="l"/>
            <a:r>
              <a:rPr sz="1100" b="1" i="0">
                <a:solidFill>
                  <a:srgbClr val="FFFFFF"/>
                </a:solidFill>
              </a:rPr>
              <a:t>Hydrological Preprocessing</a:t>
            </a:r>
          </a:p>
        </p:txBody>
      </p:sp>
      <p:sp>
        <p:nvSpPr>
          <p:cNvPr id="32" name="TextBox 31"/>
          <p:cNvSpPr txBox="1"/>
          <p:nvPr/>
        </p:nvSpPr>
        <p:spPr>
          <a:xfrm>
            <a:off x="9281160" y="1554480"/>
            <a:ext cx="2651760" cy="2011680"/>
          </a:xfrm>
          <a:prstGeom prst="rect">
            <a:avLst/>
          </a:prstGeom>
          <a:noFill/>
        </p:spPr>
        <p:txBody>
          <a:bodyPr wrap="square">
            <a:spAutoFit/>
          </a:bodyPr>
          <a:lstStyle/>
          <a:p>
            <a:pPr algn="l"/>
            <a:r>
              <a:rPr sz="1000" b="0" i="0">
                <a:solidFill>
                  <a:srgbClr val="404040"/>
                </a:solidFill>
              </a:rPr>
              <a:t>On modified DEM: depression fill → D8 flow direction → flow accumulation → stream mask → slope → runoff coefficient → infiltration → bank elevation.</a:t>
            </a:r>
          </a:p>
        </p:txBody>
      </p:sp>
      <p:sp>
        <p:nvSpPr>
          <p:cNvPr id="33" name="Rectangle 32"/>
          <p:cNvSpPr/>
          <p:nvPr/>
        </p:nvSpPr>
        <p:spPr>
          <a:xfrm>
            <a:off x="201168" y="3776472"/>
            <a:ext cx="2852928" cy="256032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201168" y="3776472"/>
            <a:ext cx="2852928" cy="384048"/>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201168" y="3776472"/>
            <a:ext cx="384048" cy="384048"/>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28600" y="3813048"/>
            <a:ext cx="338328" cy="320040"/>
          </a:xfrm>
          <a:prstGeom prst="rect">
            <a:avLst/>
          </a:prstGeom>
          <a:noFill/>
        </p:spPr>
        <p:txBody>
          <a:bodyPr wrap="square">
            <a:spAutoFit/>
          </a:bodyPr>
          <a:lstStyle/>
          <a:p>
            <a:pPr algn="ctr"/>
            <a:r>
              <a:rPr sz="1600" b="1" i="0">
                <a:solidFill>
                  <a:srgbClr val="1F497D"/>
                </a:solidFill>
              </a:rPr>
              <a:t>5</a:t>
            </a:r>
          </a:p>
        </p:txBody>
      </p:sp>
      <p:sp>
        <p:nvSpPr>
          <p:cNvPr id="37" name="TextBox 36"/>
          <p:cNvSpPr txBox="1"/>
          <p:nvPr/>
        </p:nvSpPr>
        <p:spPr>
          <a:xfrm>
            <a:off x="658368" y="3840480"/>
            <a:ext cx="2350008" cy="274320"/>
          </a:xfrm>
          <a:prstGeom prst="rect">
            <a:avLst/>
          </a:prstGeom>
          <a:noFill/>
        </p:spPr>
        <p:txBody>
          <a:bodyPr wrap="square">
            <a:spAutoFit/>
          </a:bodyPr>
          <a:lstStyle/>
          <a:p>
            <a:pPr algn="l"/>
            <a:r>
              <a:rPr sz="1100" b="1" i="0">
                <a:solidFill>
                  <a:srgbClr val="FFFFFF"/>
                </a:solidFill>
              </a:rPr>
              <a:t>Simulation Loop</a:t>
            </a:r>
          </a:p>
        </p:txBody>
      </p:sp>
      <p:sp>
        <p:nvSpPr>
          <p:cNvPr id="38" name="TextBox 37"/>
          <p:cNvSpPr txBox="1"/>
          <p:nvPr/>
        </p:nvSpPr>
        <p:spPr>
          <a:xfrm>
            <a:off x="310896" y="4251960"/>
            <a:ext cx="2651760" cy="2011680"/>
          </a:xfrm>
          <a:prstGeom prst="rect">
            <a:avLst/>
          </a:prstGeom>
          <a:noFill/>
        </p:spPr>
        <p:txBody>
          <a:bodyPr wrap="square">
            <a:spAutoFit/>
          </a:bodyPr>
          <a:lstStyle/>
          <a:p>
            <a:pPr algn="l"/>
            <a:r>
              <a:rPr sz="1000" b="0" i="0">
                <a:solidFill>
                  <a:srgbClr val="404040"/>
                </a:solidFill>
              </a:rPr>
              <a:t>Per timestep: rainfall intensity factor → add_rainfall() → route_water() (12 sub-iters) → apply_river_overflow() BFS → apply_infiltration() → apply_drainage().</a:t>
            </a:r>
          </a:p>
        </p:txBody>
      </p:sp>
      <p:sp>
        <p:nvSpPr>
          <p:cNvPr id="39" name="Rectangle 38"/>
          <p:cNvSpPr/>
          <p:nvPr/>
        </p:nvSpPr>
        <p:spPr>
          <a:xfrm>
            <a:off x="3191256" y="3776472"/>
            <a:ext cx="2852928" cy="256032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3191256" y="3776472"/>
            <a:ext cx="2852928" cy="384048"/>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3191256" y="3776472"/>
            <a:ext cx="384048" cy="384048"/>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218688" y="3813048"/>
            <a:ext cx="338328" cy="320040"/>
          </a:xfrm>
          <a:prstGeom prst="rect">
            <a:avLst/>
          </a:prstGeom>
          <a:noFill/>
        </p:spPr>
        <p:txBody>
          <a:bodyPr wrap="square">
            <a:spAutoFit/>
          </a:bodyPr>
          <a:lstStyle/>
          <a:p>
            <a:pPr algn="ctr"/>
            <a:r>
              <a:rPr sz="1600" b="1" i="0">
                <a:solidFill>
                  <a:srgbClr val="1F497D"/>
                </a:solidFill>
              </a:rPr>
              <a:t>6</a:t>
            </a:r>
          </a:p>
        </p:txBody>
      </p:sp>
      <p:sp>
        <p:nvSpPr>
          <p:cNvPr id="43" name="TextBox 42"/>
          <p:cNvSpPr txBox="1"/>
          <p:nvPr/>
        </p:nvSpPr>
        <p:spPr>
          <a:xfrm>
            <a:off x="3648456" y="3840480"/>
            <a:ext cx="2350008" cy="274320"/>
          </a:xfrm>
          <a:prstGeom prst="rect">
            <a:avLst/>
          </a:prstGeom>
          <a:noFill/>
        </p:spPr>
        <p:txBody>
          <a:bodyPr wrap="square">
            <a:spAutoFit/>
          </a:bodyPr>
          <a:lstStyle/>
          <a:p>
            <a:pPr algn="l"/>
            <a:r>
              <a:rPr sz="1100" b="1" i="0">
                <a:solidFill>
                  <a:srgbClr val="FFFFFF"/>
                </a:solidFill>
              </a:rPr>
              <a:t>Parallel Baseline</a:t>
            </a:r>
          </a:p>
        </p:txBody>
      </p:sp>
      <p:sp>
        <p:nvSpPr>
          <p:cNvPr id="44" name="TextBox 43"/>
          <p:cNvSpPr txBox="1"/>
          <p:nvPr/>
        </p:nvSpPr>
        <p:spPr>
          <a:xfrm>
            <a:off x="3300984" y="4251960"/>
            <a:ext cx="2651760" cy="2011680"/>
          </a:xfrm>
          <a:prstGeom prst="rect">
            <a:avLst/>
          </a:prstGeom>
          <a:noFill/>
        </p:spPr>
        <p:txBody>
          <a:bodyPr wrap="square">
            <a:spAutoFit/>
          </a:bodyPr>
          <a:lstStyle/>
          <a:p>
            <a:pPr algn="l"/>
            <a:r>
              <a:rPr sz="1000" b="0" i="0">
                <a:solidFill>
                  <a:srgbClr val="404040"/>
                </a:solidFill>
              </a:rPr>
              <a:t>When prevention is active: identical simulation on the original unmodified DEM runs in parallel to compute flood reduction deltas for the stats panel.</a:t>
            </a:r>
          </a:p>
        </p:txBody>
      </p:sp>
      <p:sp>
        <p:nvSpPr>
          <p:cNvPr id="45" name="Rectangle 44"/>
          <p:cNvSpPr/>
          <p:nvPr/>
        </p:nvSpPr>
        <p:spPr>
          <a:xfrm>
            <a:off x="6181344" y="3776472"/>
            <a:ext cx="2852928" cy="256032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6181344" y="3776472"/>
            <a:ext cx="2852928" cy="384048"/>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6181344" y="3776472"/>
            <a:ext cx="384048" cy="384048"/>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208776" y="3813048"/>
            <a:ext cx="338328" cy="320040"/>
          </a:xfrm>
          <a:prstGeom prst="rect">
            <a:avLst/>
          </a:prstGeom>
          <a:noFill/>
        </p:spPr>
        <p:txBody>
          <a:bodyPr wrap="square">
            <a:spAutoFit/>
          </a:bodyPr>
          <a:lstStyle/>
          <a:p>
            <a:pPr algn="ctr"/>
            <a:r>
              <a:rPr sz="1600" b="1" i="0">
                <a:solidFill>
                  <a:srgbClr val="1F497D"/>
                </a:solidFill>
              </a:rPr>
              <a:t>7</a:t>
            </a:r>
          </a:p>
        </p:txBody>
      </p:sp>
      <p:sp>
        <p:nvSpPr>
          <p:cNvPr id="49" name="TextBox 48"/>
          <p:cNvSpPr txBox="1"/>
          <p:nvPr/>
        </p:nvSpPr>
        <p:spPr>
          <a:xfrm>
            <a:off x="6638544" y="3840480"/>
            <a:ext cx="2350008" cy="274320"/>
          </a:xfrm>
          <a:prstGeom prst="rect">
            <a:avLst/>
          </a:prstGeom>
          <a:noFill/>
        </p:spPr>
        <p:txBody>
          <a:bodyPr wrap="square">
            <a:spAutoFit/>
          </a:bodyPr>
          <a:lstStyle/>
          <a:p>
            <a:pPr algn="l"/>
            <a:r>
              <a:rPr sz="1100" b="1" i="0">
                <a:solidFill>
                  <a:srgbClr val="FFFFFF"/>
                </a:solidFill>
              </a:rPr>
              <a:t>Animation Rendering</a:t>
            </a:r>
          </a:p>
        </p:txBody>
      </p:sp>
      <p:sp>
        <p:nvSpPr>
          <p:cNvPr id="50" name="TextBox 49"/>
          <p:cNvSpPr txBox="1"/>
          <p:nvPr/>
        </p:nvSpPr>
        <p:spPr>
          <a:xfrm>
            <a:off x="6291072" y="4251960"/>
            <a:ext cx="2651760" cy="2011680"/>
          </a:xfrm>
          <a:prstGeom prst="rect">
            <a:avLst/>
          </a:prstGeom>
          <a:noFill/>
        </p:spPr>
        <p:txBody>
          <a:bodyPr wrap="square">
            <a:spAutoFit/>
          </a:bodyPr>
          <a:lstStyle/>
          <a:p>
            <a:pPr algn="l"/>
            <a:r>
              <a:rPr sz="1000" b="0" i="0">
                <a:solidFill>
                  <a:srgbClr val="404040"/>
                </a:solidFill>
              </a:rPr>
              <a:t>5-layer Matplotlib composite: satellite BG + river band + rain depth (cyan→red) + river overflow (blue) + infrastructure overlays at zorder 6.</a:t>
            </a:r>
          </a:p>
        </p:txBody>
      </p:sp>
      <p:sp>
        <p:nvSpPr>
          <p:cNvPr id="51" name="Rectangle 50"/>
          <p:cNvSpPr/>
          <p:nvPr/>
        </p:nvSpPr>
        <p:spPr>
          <a:xfrm>
            <a:off x="9171432" y="3776472"/>
            <a:ext cx="2852928" cy="256032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9171432" y="3776472"/>
            <a:ext cx="2852928" cy="384048"/>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9171432" y="3776472"/>
            <a:ext cx="384048" cy="384048"/>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9198864" y="3813048"/>
            <a:ext cx="338328" cy="320040"/>
          </a:xfrm>
          <a:prstGeom prst="rect">
            <a:avLst/>
          </a:prstGeom>
          <a:noFill/>
        </p:spPr>
        <p:txBody>
          <a:bodyPr wrap="square">
            <a:spAutoFit/>
          </a:bodyPr>
          <a:lstStyle/>
          <a:p>
            <a:pPr algn="ctr"/>
            <a:r>
              <a:rPr sz="1600" b="1" i="0">
                <a:solidFill>
                  <a:srgbClr val="1F497D"/>
                </a:solidFill>
              </a:rPr>
              <a:t>8</a:t>
            </a:r>
          </a:p>
        </p:txBody>
      </p:sp>
      <p:sp>
        <p:nvSpPr>
          <p:cNvPr id="55" name="TextBox 54"/>
          <p:cNvSpPr txBox="1"/>
          <p:nvPr/>
        </p:nvSpPr>
        <p:spPr>
          <a:xfrm>
            <a:off x="9628632" y="3840480"/>
            <a:ext cx="2350008" cy="274320"/>
          </a:xfrm>
          <a:prstGeom prst="rect">
            <a:avLst/>
          </a:prstGeom>
          <a:noFill/>
        </p:spPr>
        <p:txBody>
          <a:bodyPr wrap="square">
            <a:spAutoFit/>
          </a:bodyPr>
          <a:lstStyle/>
          <a:p>
            <a:pPr algn="l"/>
            <a:r>
              <a:rPr sz="1100" b="1" i="0">
                <a:solidFill>
                  <a:srgbClr val="FFFFFF"/>
                </a:solidFill>
              </a:rPr>
              <a:t>Output Export</a:t>
            </a:r>
          </a:p>
        </p:txBody>
      </p:sp>
      <p:sp>
        <p:nvSpPr>
          <p:cNvPr id="56" name="TextBox 55"/>
          <p:cNvSpPr txBox="1"/>
          <p:nvPr/>
        </p:nvSpPr>
        <p:spPr>
          <a:xfrm>
            <a:off x="9281160" y="4251960"/>
            <a:ext cx="2651760" cy="2011680"/>
          </a:xfrm>
          <a:prstGeom prst="rect">
            <a:avLst/>
          </a:prstGeom>
          <a:noFill/>
        </p:spPr>
        <p:txBody>
          <a:bodyPr wrap="square">
            <a:spAutoFit/>
          </a:bodyPr>
          <a:lstStyle/>
          <a:p>
            <a:pPr algn="l"/>
            <a:r>
              <a:rPr sz="1000" b="0" i="0">
                <a:solidFill>
                  <a:srgbClr val="404040"/>
                </a:solidFill>
              </a:rPr>
              <a:t>GIF → Results/animations/  |  CSV time-series → Results/data/  |  Risk maps → Results/maps/  |  .npy terrain arrays + flood_risk_report.txt.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88952" cy="36576"/>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 y="91440"/>
            <a:ext cx="685800" cy="777240"/>
          </a:xfrm>
          <a:prstGeom prst="rect">
            <a:avLst/>
          </a:prstGeom>
          <a:noFill/>
        </p:spPr>
        <p:txBody>
          <a:bodyPr wrap="square">
            <a:spAutoFit/>
          </a:bodyPr>
          <a:lstStyle/>
          <a:p>
            <a:pPr algn="ctr"/>
            <a:r>
              <a:rPr sz="3000" b="1" i="0">
                <a:solidFill>
                  <a:srgbClr val="FFC000"/>
                </a:solidFill>
              </a:rPr>
              <a:t>04</a:t>
            </a:r>
          </a:p>
        </p:txBody>
      </p:sp>
      <p:sp>
        <p:nvSpPr>
          <p:cNvPr id="6" name="TextBox 5"/>
          <p:cNvSpPr txBox="1"/>
          <p:nvPr/>
        </p:nvSpPr>
        <p:spPr>
          <a:xfrm>
            <a:off x="868680" y="164592"/>
            <a:ext cx="10789920" cy="685800"/>
          </a:xfrm>
          <a:prstGeom prst="rect">
            <a:avLst/>
          </a:prstGeom>
          <a:noFill/>
        </p:spPr>
        <p:txBody>
          <a:bodyPr wrap="square">
            <a:spAutoFit/>
          </a:bodyPr>
          <a:lstStyle/>
          <a:p>
            <a:pPr algn="l"/>
            <a:r>
              <a:rPr sz="2200" b="1" i="0">
                <a:solidFill>
                  <a:srgbClr val="FFFFFF"/>
                </a:solidFill>
              </a:rPr>
              <a:t>Simulation Setup &amp; Terrain Analysis</a:t>
            </a:r>
          </a:p>
        </p:txBody>
      </p:sp>
      <p:sp>
        <p:nvSpPr>
          <p:cNvPr id="7" name="Rectangle 6"/>
          <p:cNvSpPr/>
          <p:nvPr/>
        </p:nvSpPr>
        <p:spPr>
          <a:xfrm>
            <a:off x="0" y="6492240"/>
            <a:ext cx="12188952" cy="36576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0" y="6510528"/>
            <a:ext cx="12188952" cy="320040"/>
          </a:xfrm>
          <a:prstGeom prst="rect">
            <a:avLst/>
          </a:prstGeom>
          <a:noFill/>
        </p:spPr>
        <p:txBody>
          <a:bodyPr wrap="square">
            <a:spAutoFit/>
          </a:bodyPr>
          <a:lstStyle/>
          <a:p>
            <a:pPr algn="ctr"/>
            <a:r>
              <a:rPr sz="900" b="0" i="0">
                <a:solidFill>
                  <a:srgbClr val="DBE5F1"/>
                </a:solidFill>
              </a:rPr>
              <a:t>Jade Valley Flood Risk Simulation  •  Terrain Analysis</a:t>
            </a:r>
          </a:p>
        </p:txBody>
      </p:sp>
      <p:sp>
        <p:nvSpPr>
          <p:cNvPr id="9" name="Rectangle 8"/>
          <p:cNvSpPr/>
          <p:nvPr/>
        </p:nvSpPr>
        <p:spPr>
          <a:xfrm>
            <a:off x="274320" y="1143000"/>
            <a:ext cx="3657600" cy="29260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84048" y="1179576"/>
            <a:ext cx="3520440" cy="256032"/>
          </a:xfrm>
          <a:prstGeom prst="rect">
            <a:avLst/>
          </a:prstGeom>
          <a:noFill/>
        </p:spPr>
        <p:txBody>
          <a:bodyPr wrap="square">
            <a:spAutoFit/>
          </a:bodyPr>
          <a:lstStyle/>
          <a:p>
            <a:pPr algn="l"/>
            <a:r>
              <a:rPr sz="1000" b="1" i="0">
                <a:solidFill>
                  <a:srgbClr val="FFFFFF"/>
                </a:solidFill>
              </a:rPr>
              <a:t>STUDY AREA PARAMETERS</a:t>
            </a:r>
          </a:p>
        </p:txBody>
      </p:sp>
      <p:graphicFrame>
        <p:nvGraphicFramePr>
          <p:cNvPr id="11" name="Table 10"/>
          <p:cNvGraphicFramePr>
            <a:graphicFrameLocks noGrp="1"/>
          </p:cNvGraphicFramePr>
          <p:nvPr/>
        </p:nvGraphicFramePr>
        <p:xfrm>
          <a:off x="274320" y="1463040"/>
          <a:ext cx="3657600" cy="2697480"/>
        </p:xfrm>
        <a:graphic>
          <a:graphicData uri="http://schemas.openxmlformats.org/drawingml/2006/table">
            <a:tbl>
              <a:tblPr firstRow="1" bandRow="1">
                <a:tableStyleId>{5C22544A-7EE6-4342-B048-85BDC9FD1C3A}</a:tableStyleId>
              </a:tblPr>
              <a:tblGrid>
                <a:gridCol w="1828800"/>
                <a:gridCol w="1828800"/>
              </a:tblGrid>
              <a:tr h="299720">
                <a:tc>
                  <a:txBody>
                    <a:bodyPr/>
                    <a:lstStyle/>
                    <a:p>
                      <a:pPr algn="ctr"/>
                      <a:r>
                        <a:rPr b="1" sz="900">
                          <a:solidFill>
                            <a:srgbClr val="FFFFFF"/>
                          </a:solidFill>
                        </a:rPr>
                        <a:t>Parameter</a:t>
                      </a:r>
                    </a:p>
                  </a:txBody>
                  <a:tcPr>
                    <a:solidFill>
                      <a:srgbClr val="1F497D"/>
                    </a:solidFill>
                  </a:tcPr>
                </a:tc>
                <a:tc>
                  <a:txBody>
                    <a:bodyPr/>
                    <a:lstStyle/>
                    <a:p>
                      <a:pPr algn="ctr"/>
                      <a:r>
                        <a:rPr b="1" sz="900">
                          <a:solidFill>
                            <a:srgbClr val="FFFFFF"/>
                          </a:solidFill>
                        </a:rPr>
                        <a:t>Value</a:t>
                      </a:r>
                    </a:p>
                  </a:txBody>
                  <a:tcPr>
                    <a:solidFill>
                      <a:srgbClr val="1F497D"/>
                    </a:solidFill>
                  </a:tcPr>
                </a:tc>
              </a:tr>
              <a:tr h="299720">
                <a:tc>
                  <a:txBody>
                    <a:bodyPr/>
                    <a:lstStyle/>
                    <a:p>
                      <a:r>
                        <a:rPr sz="900">
                          <a:solidFill>
                            <a:srgbClr val="404040"/>
                          </a:solidFill>
                        </a:rPr>
                        <a:t>Location</a:t>
                      </a:r>
                    </a:p>
                  </a:txBody>
                  <a:tcPr>
                    <a:solidFill>
                      <a:srgbClr val="F2F2F2"/>
                    </a:solidFill>
                  </a:tcPr>
                </a:tc>
                <a:tc>
                  <a:txBody>
                    <a:bodyPr/>
                    <a:lstStyle/>
                    <a:p>
                      <a:r>
                        <a:rPr sz="900">
                          <a:solidFill>
                            <a:srgbClr val="404040"/>
                          </a:solidFill>
                        </a:rPr>
                        <a:t>Jade Valley, Davao City, Philippines</a:t>
                      </a:r>
                    </a:p>
                  </a:txBody>
                  <a:tcPr>
                    <a:solidFill>
                      <a:srgbClr val="F2F2F2"/>
                    </a:solidFill>
                  </a:tcPr>
                </a:tc>
              </a:tr>
              <a:tr h="299720">
                <a:tc>
                  <a:txBody>
                    <a:bodyPr/>
                    <a:lstStyle/>
                    <a:p>
                      <a:r>
                        <a:rPr sz="900">
                          <a:solidFill>
                            <a:srgbClr val="404040"/>
                          </a:solidFill>
                        </a:rPr>
                        <a:t>Grid</a:t>
                      </a:r>
                    </a:p>
                  </a:txBody>
                  <a:tcPr>
                    <a:solidFill>
                      <a:srgbClr val="FFFFFF"/>
                    </a:solidFill>
                  </a:tcPr>
                </a:tc>
                <a:tc>
                  <a:txBody>
                    <a:bodyPr/>
                    <a:lstStyle/>
                    <a:p>
                      <a:r>
                        <a:rPr sz="900">
                          <a:solidFill>
                            <a:srgbClr val="404040"/>
                          </a:solidFill>
                        </a:rPr>
                        <a:t>57 rows × 61 columns</a:t>
                      </a:r>
                    </a:p>
                  </a:txBody>
                  <a:tcPr>
                    <a:solidFill>
                      <a:srgbClr val="FFFFFF"/>
                    </a:solidFill>
                  </a:tcPr>
                </a:tc>
              </a:tr>
              <a:tr h="299720">
                <a:tc>
                  <a:txBody>
                    <a:bodyPr/>
                    <a:lstStyle/>
                    <a:p>
                      <a:r>
                        <a:rPr sz="900">
                          <a:solidFill>
                            <a:srgbClr val="404040"/>
                          </a:solidFill>
                        </a:rPr>
                        <a:t>Cell Size</a:t>
                      </a:r>
                    </a:p>
                  </a:txBody>
                  <a:tcPr>
                    <a:solidFill>
                      <a:srgbClr val="F2F2F2"/>
                    </a:solidFill>
                  </a:tcPr>
                </a:tc>
                <a:tc>
                  <a:txBody>
                    <a:bodyPr/>
                    <a:lstStyle/>
                    <a:p>
                      <a:r>
                        <a:rPr sz="900">
                          <a:solidFill>
                            <a:srgbClr val="404040"/>
                          </a:solidFill>
                        </a:rPr>
                        <a:t>30.64 m per cell</a:t>
                      </a:r>
                    </a:p>
                  </a:txBody>
                  <a:tcPr>
                    <a:solidFill>
                      <a:srgbClr val="F2F2F2"/>
                    </a:solidFill>
                  </a:tcPr>
                </a:tc>
              </a:tr>
              <a:tr h="299720">
                <a:tc>
                  <a:txBody>
                    <a:bodyPr/>
                    <a:lstStyle/>
                    <a:p>
                      <a:r>
                        <a:rPr sz="900">
                          <a:solidFill>
                            <a:srgbClr val="404040"/>
                          </a:solidFill>
                        </a:rPr>
                        <a:t>Total Area</a:t>
                      </a:r>
                    </a:p>
                  </a:txBody>
                  <a:tcPr>
                    <a:solidFill>
                      <a:srgbClr val="FFFFFF"/>
                    </a:solidFill>
                  </a:tcPr>
                </a:tc>
                <a:tc>
                  <a:txBody>
                    <a:bodyPr/>
                    <a:lstStyle/>
                    <a:p>
                      <a:r>
                        <a:rPr sz="900">
                          <a:solidFill>
                            <a:srgbClr val="404040"/>
                          </a:solidFill>
                        </a:rPr>
                        <a:t>326.44 hectares</a:t>
                      </a:r>
                    </a:p>
                  </a:txBody>
                  <a:tcPr>
                    <a:solidFill>
                      <a:srgbClr val="FFFFFF"/>
                    </a:solidFill>
                  </a:tcPr>
                </a:tc>
              </a:tr>
              <a:tr h="299720">
                <a:tc>
                  <a:txBody>
                    <a:bodyPr/>
                    <a:lstStyle/>
                    <a:p>
                      <a:r>
                        <a:rPr sz="900">
                          <a:solidFill>
                            <a:srgbClr val="404040"/>
                          </a:solidFill>
                        </a:rPr>
                        <a:t>Elevation Range</a:t>
                      </a:r>
                    </a:p>
                  </a:txBody>
                  <a:tcPr>
                    <a:solidFill>
                      <a:srgbClr val="F2F2F2"/>
                    </a:solidFill>
                  </a:tcPr>
                </a:tc>
                <a:tc>
                  <a:txBody>
                    <a:bodyPr/>
                    <a:lstStyle/>
                    <a:p>
                      <a:r>
                        <a:rPr sz="900">
                          <a:solidFill>
                            <a:srgbClr val="404040"/>
                          </a:solidFill>
                        </a:rPr>
                        <a:t>2.00 m – 71.75 m</a:t>
                      </a:r>
                    </a:p>
                  </a:txBody>
                  <a:tcPr>
                    <a:solidFill>
                      <a:srgbClr val="F2F2F2"/>
                    </a:solidFill>
                  </a:tcPr>
                </a:tc>
              </a:tr>
              <a:tr h="299720">
                <a:tc>
                  <a:txBody>
                    <a:bodyPr/>
                    <a:lstStyle/>
                    <a:p>
                      <a:r>
                        <a:rPr sz="900">
                          <a:solidFill>
                            <a:srgbClr val="404040"/>
                          </a:solidFill>
                        </a:rPr>
                        <a:t>Mean Elevation</a:t>
                      </a:r>
                    </a:p>
                  </a:txBody>
                  <a:tcPr>
                    <a:solidFill>
                      <a:srgbClr val="FFFFFF"/>
                    </a:solidFill>
                  </a:tcPr>
                </a:tc>
                <a:tc>
                  <a:txBody>
                    <a:bodyPr/>
                    <a:lstStyle/>
                    <a:p>
                      <a:r>
                        <a:rPr sz="900">
                          <a:solidFill>
                            <a:srgbClr val="404040"/>
                          </a:solidFill>
                        </a:rPr>
                        <a:t>20.74 m</a:t>
                      </a:r>
                    </a:p>
                  </a:txBody>
                  <a:tcPr>
                    <a:solidFill>
                      <a:srgbClr val="FFFFFF"/>
                    </a:solidFill>
                  </a:tcPr>
                </a:tc>
              </a:tr>
              <a:tr h="299720">
                <a:tc>
                  <a:txBody>
                    <a:bodyPr/>
                    <a:lstStyle/>
                    <a:p>
                      <a:r>
                        <a:rPr sz="900">
                          <a:solidFill>
                            <a:srgbClr val="404040"/>
                          </a:solidFill>
                        </a:rPr>
                        <a:t>Mean Slope</a:t>
                      </a:r>
                    </a:p>
                  </a:txBody>
                  <a:tcPr>
                    <a:solidFill>
                      <a:srgbClr val="F2F2F2"/>
                    </a:solidFill>
                  </a:tcPr>
                </a:tc>
                <a:tc>
                  <a:txBody>
                    <a:bodyPr/>
                    <a:lstStyle/>
                    <a:p>
                      <a:r>
                        <a:rPr sz="900">
                          <a:solidFill>
                            <a:srgbClr val="404040"/>
                          </a:solidFill>
                        </a:rPr>
                        <a:t>4.3°</a:t>
                      </a:r>
                    </a:p>
                  </a:txBody>
                  <a:tcPr>
                    <a:solidFill>
                      <a:srgbClr val="F2F2F2"/>
                    </a:solidFill>
                  </a:tcPr>
                </a:tc>
              </a:tr>
              <a:tr h="299720">
                <a:tc>
                  <a:txBody>
                    <a:bodyPr/>
                    <a:lstStyle/>
                    <a:p>
                      <a:r>
                        <a:rPr sz="900">
                          <a:solidFill>
                            <a:srgbClr val="404040"/>
                          </a:solidFill>
                        </a:rPr>
                        <a:t>Max Slope</a:t>
                      </a:r>
                    </a:p>
                  </a:txBody>
                  <a:tcPr>
                    <a:solidFill>
                      <a:srgbClr val="FFFFFF"/>
                    </a:solidFill>
                  </a:tcPr>
                </a:tc>
                <a:tc>
                  <a:txBody>
                    <a:bodyPr/>
                    <a:lstStyle/>
                    <a:p>
                      <a:r>
                        <a:rPr sz="900">
                          <a:solidFill>
                            <a:srgbClr val="404040"/>
                          </a:solidFill>
                        </a:rPr>
                        <a:t>37.9°</a:t>
                      </a:r>
                    </a:p>
                  </a:txBody>
                  <a:tcPr>
                    <a:solidFill>
                      <a:srgbClr val="FFFFFF"/>
                    </a:solidFill>
                  </a:tcPr>
                </a:tc>
              </a:tr>
            </a:tbl>
          </a:graphicData>
        </a:graphic>
      </p:graphicFrame>
      <p:sp>
        <p:nvSpPr>
          <p:cNvPr id="12" name="Rectangle 11"/>
          <p:cNvSpPr/>
          <p:nvPr/>
        </p:nvSpPr>
        <p:spPr>
          <a:xfrm>
            <a:off x="274320" y="4251960"/>
            <a:ext cx="3657600" cy="29260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84048" y="4288536"/>
            <a:ext cx="3520440" cy="256032"/>
          </a:xfrm>
          <a:prstGeom prst="rect">
            <a:avLst/>
          </a:prstGeom>
          <a:noFill/>
        </p:spPr>
        <p:txBody>
          <a:bodyPr wrap="square">
            <a:spAutoFit/>
          </a:bodyPr>
          <a:lstStyle/>
          <a:p>
            <a:pPr algn="l"/>
            <a:r>
              <a:rPr sz="1000" b="1" i="0">
                <a:solidFill>
                  <a:srgbClr val="FFFFFF"/>
                </a:solidFill>
              </a:rPr>
              <a:t>TERRAIN SLOPE CLASSES</a:t>
            </a:r>
          </a:p>
        </p:txBody>
      </p:sp>
      <p:graphicFrame>
        <p:nvGraphicFramePr>
          <p:cNvPr id="14" name="Table 13"/>
          <p:cNvGraphicFramePr>
            <a:graphicFrameLocks noGrp="1"/>
          </p:cNvGraphicFramePr>
          <p:nvPr/>
        </p:nvGraphicFramePr>
        <p:xfrm>
          <a:off x="274320" y="4572000"/>
          <a:ext cx="3657600" cy="1143000"/>
        </p:xfrm>
        <a:graphic>
          <a:graphicData uri="http://schemas.openxmlformats.org/drawingml/2006/table">
            <a:tbl>
              <a:tblPr firstRow="1" bandRow="1">
                <a:tableStyleId>{5C22544A-7EE6-4342-B048-85BDC9FD1C3A}</a:tableStyleId>
              </a:tblPr>
              <a:tblGrid>
                <a:gridCol w="1219200"/>
                <a:gridCol w="1219200"/>
                <a:gridCol w="1219200"/>
              </a:tblGrid>
              <a:tr h="285750">
                <a:tc>
                  <a:txBody>
                    <a:bodyPr/>
                    <a:lstStyle/>
                    <a:p>
                      <a:pPr algn="ctr"/>
                      <a:r>
                        <a:rPr b="1" sz="900">
                          <a:solidFill>
                            <a:srgbClr val="FFFFFF"/>
                          </a:solidFill>
                        </a:rPr>
                        <a:t>Slope Class</a:t>
                      </a:r>
                    </a:p>
                  </a:txBody>
                  <a:tcPr>
                    <a:solidFill>
                      <a:srgbClr val="0070C0"/>
                    </a:solidFill>
                  </a:tcPr>
                </a:tc>
                <a:tc>
                  <a:txBody>
                    <a:bodyPr/>
                    <a:lstStyle/>
                    <a:p>
                      <a:pPr algn="ctr"/>
                      <a:r>
                        <a:rPr b="1" sz="900">
                          <a:solidFill>
                            <a:srgbClr val="FFFFFF"/>
                          </a:solidFill>
                        </a:rPr>
                        <a:t>% Area</a:t>
                      </a:r>
                    </a:p>
                  </a:txBody>
                  <a:tcPr>
                    <a:solidFill>
                      <a:srgbClr val="0070C0"/>
                    </a:solidFill>
                  </a:tcPr>
                </a:tc>
                <a:tc>
                  <a:txBody>
                    <a:bodyPr/>
                    <a:lstStyle/>
                    <a:p>
                      <a:pPr algn="ctr"/>
                      <a:r>
                        <a:rPr b="1" sz="900">
                          <a:solidFill>
                            <a:srgbClr val="FFFFFF"/>
                          </a:solidFill>
                        </a:rPr>
                        <a:t>Behavior</a:t>
                      </a:r>
                    </a:p>
                  </a:txBody>
                  <a:tcPr>
                    <a:solidFill>
                      <a:srgbClr val="0070C0"/>
                    </a:solidFill>
                  </a:tcPr>
                </a:tc>
              </a:tr>
              <a:tr h="285750">
                <a:tc>
                  <a:txBody>
                    <a:bodyPr/>
                    <a:lstStyle/>
                    <a:p>
                      <a:r>
                        <a:rPr sz="900">
                          <a:solidFill>
                            <a:srgbClr val="404040"/>
                          </a:solidFill>
                        </a:rPr>
                        <a:t>Flat (&lt;5°)</a:t>
                      </a:r>
                    </a:p>
                  </a:txBody>
                  <a:tcPr>
                    <a:solidFill>
                      <a:srgbClr val="F2F2F2"/>
                    </a:solidFill>
                  </a:tcPr>
                </a:tc>
                <a:tc>
                  <a:txBody>
                    <a:bodyPr/>
                    <a:lstStyle/>
                    <a:p>
                      <a:r>
                        <a:rPr sz="900">
                          <a:solidFill>
                            <a:srgbClr val="404040"/>
                          </a:solidFill>
                        </a:rPr>
                        <a:t>72.3%</a:t>
                      </a:r>
                    </a:p>
                  </a:txBody>
                  <a:tcPr>
                    <a:solidFill>
                      <a:srgbClr val="F2F2F2"/>
                    </a:solidFill>
                  </a:tcPr>
                </a:tc>
                <a:tc>
                  <a:txBody>
                    <a:bodyPr/>
                    <a:lstStyle/>
                    <a:p>
                      <a:r>
                        <a:rPr sz="900">
                          <a:solidFill>
                            <a:srgbClr val="404040"/>
                          </a:solidFill>
                        </a:rPr>
                        <a:t>Primary runoff accumulation zone</a:t>
                      </a:r>
                    </a:p>
                  </a:txBody>
                  <a:tcPr>
                    <a:solidFill>
                      <a:srgbClr val="F2F2F2"/>
                    </a:solidFill>
                  </a:tcPr>
                </a:tc>
              </a:tr>
              <a:tr h="285750">
                <a:tc>
                  <a:txBody>
                    <a:bodyPr/>
                    <a:lstStyle/>
                    <a:p>
                      <a:r>
                        <a:rPr sz="900">
                          <a:solidFill>
                            <a:srgbClr val="404040"/>
                          </a:solidFill>
                        </a:rPr>
                        <a:t>Gentle (5–15°)</a:t>
                      </a:r>
                    </a:p>
                  </a:txBody>
                  <a:tcPr>
                    <a:solidFill>
                      <a:srgbClr val="FFFFFF"/>
                    </a:solidFill>
                  </a:tcPr>
                </a:tc>
                <a:tc>
                  <a:txBody>
                    <a:bodyPr/>
                    <a:lstStyle/>
                    <a:p>
                      <a:r>
                        <a:rPr sz="900">
                          <a:solidFill>
                            <a:srgbClr val="404040"/>
                          </a:solidFill>
                        </a:rPr>
                        <a:t>21.9%</a:t>
                      </a:r>
                    </a:p>
                  </a:txBody>
                  <a:tcPr>
                    <a:solidFill>
                      <a:srgbClr val="FFFFFF"/>
                    </a:solidFill>
                  </a:tcPr>
                </a:tc>
                <a:tc>
                  <a:txBody>
                    <a:bodyPr/>
                    <a:lstStyle/>
                    <a:p>
                      <a:r>
                        <a:rPr sz="900">
                          <a:solidFill>
                            <a:srgbClr val="404040"/>
                          </a:solidFill>
                        </a:rPr>
                        <a:t>Moderate natural drainage</a:t>
                      </a:r>
                    </a:p>
                  </a:txBody>
                  <a:tcPr>
                    <a:solidFill>
                      <a:srgbClr val="FFFFFF"/>
                    </a:solidFill>
                  </a:tcPr>
                </a:tc>
              </a:tr>
              <a:tr h="285750">
                <a:tc>
                  <a:txBody>
                    <a:bodyPr/>
                    <a:lstStyle/>
                    <a:p>
                      <a:r>
                        <a:rPr sz="900">
                          <a:solidFill>
                            <a:srgbClr val="404040"/>
                          </a:solidFill>
                        </a:rPr>
                        <a:t>Steep (&gt;15°)</a:t>
                      </a:r>
                    </a:p>
                  </a:txBody>
                  <a:tcPr>
                    <a:solidFill>
                      <a:srgbClr val="F2F2F2"/>
                    </a:solidFill>
                  </a:tcPr>
                </a:tc>
                <a:tc>
                  <a:txBody>
                    <a:bodyPr/>
                    <a:lstStyle/>
                    <a:p>
                      <a:r>
                        <a:rPr sz="900">
                          <a:solidFill>
                            <a:srgbClr val="404040"/>
                          </a:solidFill>
                        </a:rPr>
                        <a:t>5.8%</a:t>
                      </a:r>
                    </a:p>
                  </a:txBody>
                  <a:tcPr>
                    <a:solidFill>
                      <a:srgbClr val="F2F2F2"/>
                    </a:solidFill>
                  </a:tcPr>
                </a:tc>
                <a:tc>
                  <a:txBody>
                    <a:bodyPr/>
                    <a:lstStyle/>
                    <a:p>
                      <a:r>
                        <a:rPr sz="900">
                          <a:solidFill>
                            <a:srgbClr val="404040"/>
                          </a:solidFill>
                        </a:rPr>
                        <a:t>Rapid drainage to channels</a:t>
                      </a:r>
                    </a:p>
                  </a:txBody>
                  <a:tcPr>
                    <a:solidFill>
                      <a:srgbClr val="F2F2F2"/>
                    </a:solidFill>
                  </a:tcPr>
                </a:tc>
              </a:tr>
            </a:tbl>
          </a:graphicData>
        </a:graphic>
      </p:graphicFrame>
      <p:sp>
        <p:nvSpPr>
          <p:cNvPr id="15" name="Rectangle 14"/>
          <p:cNvSpPr/>
          <p:nvPr/>
        </p:nvSpPr>
        <p:spPr>
          <a:xfrm>
            <a:off x="4160520" y="1143000"/>
            <a:ext cx="7726679" cy="29260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270248" y="1179576"/>
            <a:ext cx="7589519" cy="256032"/>
          </a:xfrm>
          <a:prstGeom prst="rect">
            <a:avLst/>
          </a:prstGeom>
          <a:noFill/>
        </p:spPr>
        <p:txBody>
          <a:bodyPr wrap="square">
            <a:spAutoFit/>
          </a:bodyPr>
          <a:lstStyle/>
          <a:p>
            <a:pPr algn="l"/>
            <a:r>
              <a:rPr sz="1000" b="1" i="0">
                <a:solidFill>
                  <a:srgbClr val="FFFFFF"/>
                </a:solidFill>
              </a:rPr>
              <a:t>HYDROLOGICAL PREPROCESSING PIPELINE</a:t>
            </a:r>
          </a:p>
        </p:txBody>
      </p:sp>
      <p:graphicFrame>
        <p:nvGraphicFramePr>
          <p:cNvPr id="17" name="Table 16"/>
          <p:cNvGraphicFramePr>
            <a:graphicFrameLocks noGrp="1"/>
          </p:cNvGraphicFramePr>
          <p:nvPr/>
        </p:nvGraphicFramePr>
        <p:xfrm>
          <a:off x="4160520" y="1463040"/>
          <a:ext cx="7726677" cy="4892040"/>
        </p:xfrm>
        <a:graphic>
          <a:graphicData uri="http://schemas.openxmlformats.org/drawingml/2006/table">
            <a:tbl>
              <a:tblPr firstRow="1" bandRow="1">
                <a:tableStyleId>{5C22544A-7EE6-4342-B048-85BDC9FD1C3A}</a:tableStyleId>
              </a:tblPr>
              <a:tblGrid>
                <a:gridCol w="2575559"/>
                <a:gridCol w="2575559"/>
                <a:gridCol w="2575559"/>
              </a:tblGrid>
              <a:tr h="444730">
                <a:tc>
                  <a:txBody>
                    <a:bodyPr/>
                    <a:lstStyle/>
                    <a:p>
                      <a:pPr algn="ctr"/>
                      <a:r>
                        <a:rPr b="1" sz="900">
                          <a:solidFill>
                            <a:srgbClr val="FFFFFF"/>
                          </a:solidFill>
                        </a:rPr>
                        <a:t>Step</a:t>
                      </a:r>
                    </a:p>
                  </a:txBody>
                  <a:tcPr>
                    <a:solidFill>
                      <a:srgbClr val="1F497D"/>
                    </a:solidFill>
                  </a:tcPr>
                </a:tc>
                <a:tc>
                  <a:txBody>
                    <a:bodyPr/>
                    <a:lstStyle/>
                    <a:p>
                      <a:pPr algn="ctr"/>
                      <a:r>
                        <a:rPr b="1" sz="900">
                          <a:solidFill>
                            <a:srgbClr val="FFFFFF"/>
                          </a:solidFill>
                        </a:rPr>
                        <a:t>Operation</a:t>
                      </a:r>
                    </a:p>
                  </a:txBody>
                  <a:tcPr>
                    <a:solidFill>
                      <a:srgbClr val="1F497D"/>
                    </a:solidFill>
                  </a:tcPr>
                </a:tc>
                <a:tc>
                  <a:txBody>
                    <a:bodyPr/>
                    <a:lstStyle/>
                    <a:p>
                      <a:pPr algn="ctr"/>
                      <a:r>
                        <a:rPr b="1" sz="900">
                          <a:solidFill>
                            <a:srgbClr val="FFFFFF"/>
                          </a:solidFill>
                        </a:rPr>
                        <a:t>Description</a:t>
                      </a:r>
                    </a:p>
                  </a:txBody>
                  <a:tcPr>
                    <a:solidFill>
                      <a:srgbClr val="1F497D"/>
                    </a:solidFill>
                  </a:tcPr>
                </a:tc>
              </a:tr>
              <a:tr h="444730">
                <a:tc>
                  <a:txBody>
                    <a:bodyPr/>
                    <a:lstStyle/>
                    <a:p>
                      <a:r>
                        <a:rPr sz="900">
                          <a:solidFill>
                            <a:srgbClr val="404040"/>
                          </a:solidFill>
                        </a:rPr>
                        <a:t>a</a:t>
                      </a:r>
                    </a:p>
                  </a:txBody>
                  <a:tcPr>
                    <a:solidFill>
                      <a:srgbClr val="F2F2F2"/>
                    </a:solidFill>
                  </a:tcPr>
                </a:tc>
                <a:tc>
                  <a:txBody>
                    <a:bodyPr/>
                    <a:lstStyle/>
                    <a:p>
                      <a:r>
                        <a:rPr sz="900">
                          <a:solidFill>
                            <a:srgbClr val="404040"/>
                          </a:solidFill>
                        </a:rPr>
                        <a:t>NoData Filling</a:t>
                      </a:r>
                    </a:p>
                  </a:txBody>
                  <a:tcPr>
                    <a:solidFill>
                      <a:srgbClr val="F2F2F2"/>
                    </a:solidFill>
                  </a:tcPr>
                </a:tc>
                <a:tc>
                  <a:txBody>
                    <a:bodyPr/>
                    <a:lstStyle/>
                    <a:p>
                      <a:r>
                        <a:rPr sz="900">
                          <a:solidFill>
                            <a:srgbClr val="404040"/>
                          </a:solidFill>
                        </a:rPr>
                        <a:t>Nearest-neighbour interpolation replaces missing DEM pixels</a:t>
                      </a:r>
                    </a:p>
                  </a:txBody>
                  <a:tcPr>
                    <a:solidFill>
                      <a:srgbClr val="F2F2F2"/>
                    </a:solidFill>
                  </a:tcPr>
                </a:tc>
              </a:tr>
              <a:tr h="444730">
                <a:tc>
                  <a:txBody>
                    <a:bodyPr/>
                    <a:lstStyle/>
                    <a:p>
                      <a:r>
                        <a:rPr sz="900">
                          <a:solidFill>
                            <a:srgbClr val="404040"/>
                          </a:solidFill>
                        </a:rPr>
                        <a:t>b</a:t>
                      </a:r>
                    </a:p>
                  </a:txBody>
                  <a:tcPr>
                    <a:solidFill>
                      <a:srgbClr val="FFFFFF"/>
                    </a:solidFill>
                  </a:tcPr>
                </a:tc>
                <a:tc>
                  <a:txBody>
                    <a:bodyPr/>
                    <a:lstStyle/>
                    <a:p>
                      <a:r>
                        <a:rPr sz="900">
                          <a:solidFill>
                            <a:srgbClr val="404040"/>
                          </a:solidFill>
                        </a:rPr>
                        <a:t>DEM Smoothing</a:t>
                      </a:r>
                    </a:p>
                  </a:txBody>
                  <a:tcPr>
                    <a:solidFill>
                      <a:srgbClr val="FFFFFF"/>
                    </a:solidFill>
                  </a:tcPr>
                </a:tc>
                <a:tc>
                  <a:txBody>
                    <a:bodyPr/>
                    <a:lstStyle/>
                    <a:p>
                      <a:r>
                        <a:rPr sz="900">
                          <a:solidFill>
                            <a:srgbClr val="404040"/>
                          </a:solidFill>
                        </a:rPr>
                        <a:t>Gaussian filter (σ=0.5) reduces artificial roughness</a:t>
                      </a:r>
                    </a:p>
                  </a:txBody>
                  <a:tcPr>
                    <a:solidFill>
                      <a:srgbClr val="FFFFFF"/>
                    </a:solidFill>
                  </a:tcPr>
                </a:tc>
              </a:tr>
              <a:tr h="444730">
                <a:tc>
                  <a:txBody>
                    <a:bodyPr/>
                    <a:lstStyle/>
                    <a:p>
                      <a:r>
                        <a:rPr sz="900">
                          <a:solidFill>
                            <a:srgbClr val="404040"/>
                          </a:solidFill>
                        </a:rPr>
                        <a:t>c</a:t>
                      </a:r>
                    </a:p>
                  </a:txBody>
                  <a:tcPr>
                    <a:solidFill>
                      <a:srgbClr val="F2F2F2"/>
                    </a:solidFill>
                  </a:tcPr>
                </a:tc>
                <a:tc>
                  <a:txBody>
                    <a:bodyPr/>
                    <a:lstStyle/>
                    <a:p>
                      <a:r>
                        <a:rPr sz="900">
                          <a:solidFill>
                            <a:srgbClr val="404040"/>
                          </a:solidFill>
                        </a:rPr>
                        <a:t>Depression Filling</a:t>
                      </a:r>
                    </a:p>
                  </a:txBody>
                  <a:tcPr>
                    <a:solidFill>
                      <a:srgbClr val="F2F2F2"/>
                    </a:solidFill>
                  </a:tcPr>
                </a:tc>
                <a:tc>
                  <a:txBody>
                    <a:bodyPr/>
                    <a:lstStyle/>
                    <a:p>
                      <a:r>
                        <a:rPr sz="900">
                          <a:solidFill>
                            <a:srgbClr val="404040"/>
                          </a:solidFill>
                        </a:rPr>
                        <a:t>Priority-Flood algorithm (Barnes et al. 2014) removes sinks</a:t>
                      </a:r>
                    </a:p>
                  </a:txBody>
                  <a:tcPr>
                    <a:solidFill>
                      <a:srgbClr val="F2F2F2"/>
                    </a:solidFill>
                  </a:tcPr>
                </a:tc>
              </a:tr>
              <a:tr h="444730">
                <a:tc>
                  <a:txBody>
                    <a:bodyPr/>
                    <a:lstStyle/>
                    <a:p>
                      <a:r>
                        <a:rPr sz="900">
                          <a:solidFill>
                            <a:srgbClr val="404040"/>
                          </a:solidFill>
                        </a:rPr>
                        <a:t>d</a:t>
                      </a:r>
                    </a:p>
                  </a:txBody>
                  <a:tcPr>
                    <a:solidFill>
                      <a:srgbClr val="FFFFFF"/>
                    </a:solidFill>
                  </a:tcPr>
                </a:tc>
                <a:tc>
                  <a:txBody>
                    <a:bodyPr/>
                    <a:lstStyle/>
                    <a:p>
                      <a:r>
                        <a:rPr sz="900">
                          <a:solidFill>
                            <a:srgbClr val="404040"/>
                          </a:solidFill>
                        </a:rPr>
                        <a:t>D8 Flow Direction</a:t>
                      </a:r>
                    </a:p>
                  </a:txBody>
                  <a:tcPr>
                    <a:solidFill>
                      <a:srgbClr val="FFFFFF"/>
                    </a:solidFill>
                  </a:tcPr>
                </a:tc>
                <a:tc>
                  <a:txBody>
                    <a:bodyPr/>
                    <a:lstStyle/>
                    <a:p>
                      <a:r>
                        <a:rPr sz="900">
                          <a:solidFill>
                            <a:srgbClr val="404040"/>
                          </a:solidFill>
                        </a:rPr>
                        <a:t>Each cell assigned to steepest of 8 neighbours; diagonals use Euclidean distance</a:t>
                      </a:r>
                    </a:p>
                  </a:txBody>
                  <a:tcPr>
                    <a:solidFill>
                      <a:srgbClr val="FFFFFF"/>
                    </a:solidFill>
                  </a:tcPr>
                </a:tc>
              </a:tr>
              <a:tr h="444730">
                <a:tc>
                  <a:txBody>
                    <a:bodyPr/>
                    <a:lstStyle/>
                    <a:p>
                      <a:r>
                        <a:rPr sz="900">
                          <a:solidFill>
                            <a:srgbClr val="404040"/>
                          </a:solidFill>
                        </a:rPr>
                        <a:t>e</a:t>
                      </a:r>
                    </a:p>
                  </a:txBody>
                  <a:tcPr>
                    <a:solidFill>
                      <a:srgbClr val="F2F2F2"/>
                    </a:solidFill>
                  </a:tcPr>
                </a:tc>
                <a:tc>
                  <a:txBody>
                    <a:bodyPr/>
                    <a:lstStyle/>
                    <a:p>
                      <a:r>
                        <a:rPr sz="900">
                          <a:solidFill>
                            <a:srgbClr val="404040"/>
                          </a:solidFill>
                        </a:rPr>
                        <a:t>Flow Accumulation</a:t>
                      </a:r>
                    </a:p>
                  </a:txBody>
                  <a:tcPr>
                    <a:solidFill>
                      <a:srgbClr val="F2F2F2"/>
                    </a:solidFill>
                  </a:tcPr>
                </a:tc>
                <a:tc>
                  <a:txBody>
                    <a:bodyPr/>
                    <a:lstStyle/>
                    <a:p>
                      <a:r>
                        <a:rPr sz="900">
                          <a:solidFill>
                            <a:srgbClr val="404040"/>
                          </a:solidFill>
                        </a:rPr>
                        <a:t>Topological sort counts total upstream cells draining into each grid cell</a:t>
                      </a:r>
                    </a:p>
                  </a:txBody>
                  <a:tcPr>
                    <a:solidFill>
                      <a:srgbClr val="F2F2F2"/>
                    </a:solidFill>
                  </a:tcPr>
                </a:tc>
              </a:tr>
              <a:tr h="444730">
                <a:tc>
                  <a:txBody>
                    <a:bodyPr/>
                    <a:lstStyle/>
                    <a:p>
                      <a:r>
                        <a:rPr sz="900">
                          <a:solidFill>
                            <a:srgbClr val="404040"/>
                          </a:solidFill>
                        </a:rPr>
                        <a:t>f</a:t>
                      </a:r>
                    </a:p>
                  </a:txBody>
                  <a:tcPr>
                    <a:solidFill>
                      <a:srgbClr val="FFFFFF"/>
                    </a:solidFill>
                  </a:tcPr>
                </a:tc>
                <a:tc>
                  <a:txBody>
                    <a:bodyPr/>
                    <a:lstStyle/>
                    <a:p>
                      <a:r>
                        <a:rPr sz="900">
                          <a:solidFill>
                            <a:srgbClr val="404040"/>
                          </a:solidFill>
                        </a:rPr>
                        <a:t>Stream Delineation</a:t>
                      </a:r>
                    </a:p>
                  </a:txBody>
                  <a:tcPr>
                    <a:solidFill>
                      <a:srgbClr val="FFFFFF"/>
                    </a:solidFill>
                  </a:tcPr>
                </a:tc>
                <a:tc>
                  <a:txBody>
                    <a:bodyPr/>
                    <a:lstStyle/>
                    <a:p>
                      <a:r>
                        <a:rPr sz="900">
                          <a:solidFill>
                            <a:srgbClr val="404040"/>
                          </a:solidFill>
                        </a:rPr>
                        <a:t>Top 8% of flow accumulation (≥92nd percentile) → active river channel cells</a:t>
                      </a:r>
                    </a:p>
                  </a:txBody>
                  <a:tcPr>
                    <a:solidFill>
                      <a:srgbClr val="FFFFFF"/>
                    </a:solidFill>
                  </a:tcPr>
                </a:tc>
              </a:tr>
              <a:tr h="444730">
                <a:tc>
                  <a:txBody>
                    <a:bodyPr/>
                    <a:lstStyle/>
                    <a:p>
                      <a:r>
                        <a:rPr sz="900">
                          <a:solidFill>
                            <a:srgbClr val="404040"/>
                          </a:solidFill>
                        </a:rPr>
                        <a:t>g</a:t>
                      </a:r>
                    </a:p>
                  </a:txBody>
                  <a:tcPr>
                    <a:solidFill>
                      <a:srgbClr val="F2F2F2"/>
                    </a:solidFill>
                  </a:tcPr>
                </a:tc>
                <a:tc>
                  <a:txBody>
                    <a:bodyPr/>
                    <a:lstStyle/>
                    <a:p>
                      <a:r>
                        <a:rPr sz="900">
                          <a:solidFill>
                            <a:srgbClr val="404040"/>
                          </a:solidFill>
                        </a:rPr>
                        <a:t>Slope Computation</a:t>
                      </a:r>
                    </a:p>
                  </a:txBody>
                  <a:tcPr>
                    <a:solidFill>
                      <a:srgbClr val="F2F2F2"/>
                    </a:solidFill>
                  </a:tcPr>
                </a:tc>
                <a:tc>
                  <a:txBody>
                    <a:bodyPr/>
                    <a:lstStyle/>
                    <a:p>
                      <a:r>
                        <a:rPr sz="900">
                          <a:solidFill>
                            <a:srgbClr val="404040"/>
                          </a:solidFill>
                        </a:rPr>
                        <a:t>Gradient magnitude via numpy.gradient</a:t>
                      </a:r>
                    </a:p>
                  </a:txBody>
                  <a:tcPr>
                    <a:solidFill>
                      <a:srgbClr val="F2F2F2"/>
                    </a:solidFill>
                  </a:tcPr>
                </a:tc>
              </a:tr>
              <a:tr h="444730">
                <a:tc>
                  <a:txBody>
                    <a:bodyPr/>
                    <a:lstStyle/>
                    <a:p>
                      <a:r>
                        <a:rPr sz="900">
                          <a:solidFill>
                            <a:srgbClr val="404040"/>
                          </a:solidFill>
                        </a:rPr>
                        <a:t>h</a:t>
                      </a:r>
                    </a:p>
                  </a:txBody>
                  <a:tcPr>
                    <a:solidFill>
                      <a:srgbClr val="FFFFFF"/>
                    </a:solidFill>
                  </a:tcPr>
                </a:tc>
                <a:tc>
                  <a:txBody>
                    <a:bodyPr/>
                    <a:lstStyle/>
                    <a:p>
                      <a:r>
                        <a:rPr sz="900">
                          <a:solidFill>
                            <a:srgbClr val="404040"/>
                          </a:solidFill>
                        </a:rPr>
                        <a:t>Runoff Coefficient</a:t>
                      </a:r>
                    </a:p>
                  </a:txBody>
                  <a:tcPr>
                    <a:solidFill>
                      <a:srgbClr val="FFFFFF"/>
                    </a:solidFill>
                  </a:tcPr>
                </a:tc>
                <a:tc>
                  <a:txBody>
                    <a:bodyPr/>
                    <a:lstStyle/>
                    <a:p>
                      <a:r>
                        <a:rPr sz="900">
                          <a:solidFill>
                            <a:srgbClr val="404040"/>
                          </a:solidFill>
                        </a:rPr>
                        <a:t>Per-cell: clip(0.12 + 0.18×slope_norm + 0.12×scenario_factor, 0.12, 0.85)</a:t>
                      </a:r>
                    </a:p>
                  </a:txBody>
                  <a:tcPr>
                    <a:solidFill>
                      <a:srgbClr val="FFFFFF"/>
                    </a:solidFill>
                  </a:tcPr>
                </a:tc>
              </a:tr>
              <a:tr h="444730">
                <a:tc>
                  <a:txBody>
                    <a:bodyPr/>
                    <a:lstStyle/>
                    <a:p>
                      <a:r>
                        <a:rPr sz="900">
                          <a:solidFill>
                            <a:srgbClr val="404040"/>
                          </a:solidFill>
                        </a:rPr>
                        <a:t>i</a:t>
                      </a:r>
                    </a:p>
                  </a:txBody>
                  <a:tcPr>
                    <a:solidFill>
                      <a:srgbClr val="F2F2F2"/>
                    </a:solidFill>
                  </a:tcPr>
                </a:tc>
                <a:tc>
                  <a:txBody>
                    <a:bodyPr/>
                    <a:lstStyle/>
                    <a:p>
                      <a:r>
                        <a:rPr sz="900">
                          <a:solidFill>
                            <a:srgbClr val="404040"/>
                          </a:solidFill>
                        </a:rPr>
                        <a:t>Infiltration Capacity</a:t>
                      </a:r>
                    </a:p>
                  </a:txBody>
                  <a:tcPr>
                    <a:solidFill>
                      <a:srgbClr val="F2F2F2"/>
                    </a:solidFill>
                  </a:tcPr>
                </a:tc>
                <a:tc>
                  <a:txBody>
                    <a:bodyPr/>
                    <a:lstStyle/>
                    <a:p>
                      <a:r>
                        <a:rPr sz="900">
                          <a:solidFill>
                            <a:srgbClr val="404040"/>
                          </a:solidFill>
                        </a:rPr>
                        <a:t>Green-Ampt inspired: 1.2 + 1.2×elev_norm×(1−sat) − 0.7×scenario_factor</a:t>
                      </a:r>
                    </a:p>
                  </a:txBody>
                  <a:tcPr>
                    <a:solidFill>
                      <a:srgbClr val="F2F2F2"/>
                    </a:solidFill>
                  </a:tcPr>
                </a:tc>
              </a:tr>
              <a:tr h="444740">
                <a:tc>
                  <a:txBody>
                    <a:bodyPr/>
                    <a:lstStyle/>
                    <a:p>
                      <a:r>
                        <a:rPr sz="900">
                          <a:solidFill>
                            <a:srgbClr val="404040"/>
                          </a:solidFill>
                        </a:rPr>
                        <a:t>j</a:t>
                      </a:r>
                    </a:p>
                  </a:txBody>
                  <a:tcPr>
                    <a:solidFill>
                      <a:srgbClr val="FFFFFF"/>
                    </a:solidFill>
                  </a:tcPr>
                </a:tc>
                <a:tc>
                  <a:txBody>
                    <a:bodyPr/>
                    <a:lstStyle/>
                    <a:p>
                      <a:r>
                        <a:rPr sz="900">
                          <a:solidFill>
                            <a:srgbClr val="404040"/>
                          </a:solidFill>
                        </a:rPr>
                        <a:t>Bank Elevation Map</a:t>
                      </a:r>
                    </a:p>
                  </a:txBody>
                  <a:tcPr>
                    <a:solidFill>
                      <a:srgbClr val="FFFFFF"/>
                    </a:solidFill>
                  </a:tcPr>
                </a:tc>
                <a:tc>
                  <a:txBody>
                    <a:bodyPr/>
                    <a:lstStyle/>
                    <a:p>
                      <a:r>
                        <a:rPr sz="900">
                          <a:solidFill>
                            <a:srgbClr val="404040"/>
                          </a:solidFill>
                        </a:rPr>
                        <a:t>Min non-river neighbour elevation per river cell → flood_base_wse (median)</a:t>
                      </a:r>
                    </a:p>
                  </a:txBody>
                  <a:tcPr>
                    <a:solidFill>
                      <a:srgbClr val="FFFFFF"/>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88952" cy="36576"/>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 y="91440"/>
            <a:ext cx="685800" cy="777240"/>
          </a:xfrm>
          <a:prstGeom prst="rect">
            <a:avLst/>
          </a:prstGeom>
          <a:noFill/>
        </p:spPr>
        <p:txBody>
          <a:bodyPr wrap="square">
            <a:spAutoFit/>
          </a:bodyPr>
          <a:lstStyle/>
          <a:p>
            <a:pPr algn="ctr"/>
            <a:r>
              <a:rPr sz="3000" b="1" i="0">
                <a:solidFill>
                  <a:srgbClr val="FFC000"/>
                </a:solidFill>
              </a:rPr>
              <a:t>05</a:t>
            </a:r>
          </a:p>
        </p:txBody>
      </p:sp>
      <p:sp>
        <p:nvSpPr>
          <p:cNvPr id="6" name="TextBox 5"/>
          <p:cNvSpPr txBox="1"/>
          <p:nvPr/>
        </p:nvSpPr>
        <p:spPr>
          <a:xfrm>
            <a:off x="868680" y="164592"/>
            <a:ext cx="10789920" cy="685800"/>
          </a:xfrm>
          <a:prstGeom prst="rect">
            <a:avLst/>
          </a:prstGeom>
          <a:noFill/>
        </p:spPr>
        <p:txBody>
          <a:bodyPr wrap="square">
            <a:spAutoFit/>
          </a:bodyPr>
          <a:lstStyle/>
          <a:p>
            <a:pPr algn="l"/>
            <a:r>
              <a:rPr sz="2200" b="1" i="0">
                <a:solidFill>
                  <a:srgbClr val="FFFFFF"/>
                </a:solidFill>
              </a:rPr>
              <a:t>Storm Scenarios — PAGASA Calibrated</a:t>
            </a:r>
          </a:p>
        </p:txBody>
      </p:sp>
      <p:sp>
        <p:nvSpPr>
          <p:cNvPr id="7" name="Rectangle 6"/>
          <p:cNvSpPr/>
          <p:nvPr/>
        </p:nvSpPr>
        <p:spPr>
          <a:xfrm>
            <a:off x="0" y="6492240"/>
            <a:ext cx="12188952" cy="36576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0" y="6510528"/>
            <a:ext cx="12188952" cy="320040"/>
          </a:xfrm>
          <a:prstGeom prst="rect">
            <a:avLst/>
          </a:prstGeom>
          <a:noFill/>
        </p:spPr>
        <p:txBody>
          <a:bodyPr wrap="square">
            <a:spAutoFit/>
          </a:bodyPr>
          <a:lstStyle/>
          <a:p>
            <a:pPr algn="ctr"/>
            <a:r>
              <a:rPr sz="900" b="0" i="0">
                <a:solidFill>
                  <a:srgbClr val="DBE5F1"/>
                </a:solidFill>
              </a:rPr>
              <a:t>Jade Valley Flood Risk Simulation  •  Storm Scenarios</a:t>
            </a:r>
          </a:p>
        </p:txBody>
      </p:sp>
      <p:sp>
        <p:nvSpPr>
          <p:cNvPr id="9" name="Rectangle 8"/>
          <p:cNvSpPr/>
          <p:nvPr/>
        </p:nvSpPr>
        <p:spPr>
          <a:xfrm>
            <a:off x="274320" y="1143000"/>
            <a:ext cx="7772400" cy="29260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84048" y="1179576"/>
            <a:ext cx="7635240" cy="256032"/>
          </a:xfrm>
          <a:prstGeom prst="rect">
            <a:avLst/>
          </a:prstGeom>
          <a:noFill/>
        </p:spPr>
        <p:txBody>
          <a:bodyPr wrap="square">
            <a:spAutoFit/>
          </a:bodyPr>
          <a:lstStyle/>
          <a:p>
            <a:pPr algn="l"/>
            <a:r>
              <a:rPr sz="1000" b="1" i="0">
                <a:solidFill>
                  <a:srgbClr val="FFFFFF"/>
                </a:solidFill>
              </a:rPr>
              <a:t>7 STORM SCENARIO PRESETS</a:t>
            </a:r>
          </a:p>
        </p:txBody>
      </p:sp>
      <p:graphicFrame>
        <p:nvGraphicFramePr>
          <p:cNvPr id="11" name="Table 10"/>
          <p:cNvGraphicFramePr>
            <a:graphicFrameLocks noGrp="1"/>
          </p:cNvGraphicFramePr>
          <p:nvPr/>
        </p:nvGraphicFramePr>
        <p:xfrm>
          <a:off x="274320" y="1463040"/>
          <a:ext cx="7772400" cy="4206240"/>
        </p:xfrm>
        <a:graphic>
          <a:graphicData uri="http://schemas.openxmlformats.org/drawingml/2006/table">
            <a:tbl>
              <a:tblPr firstRow="1" bandRow="1">
                <a:tableStyleId>{5C22544A-7EE6-4342-B048-85BDC9FD1C3A}</a:tableStyleId>
              </a:tblPr>
              <a:tblGrid>
                <a:gridCol w="1295400"/>
                <a:gridCol w="1295400"/>
                <a:gridCol w="1295400"/>
                <a:gridCol w="1295400"/>
                <a:gridCol w="1295400"/>
                <a:gridCol w="1295400"/>
              </a:tblGrid>
              <a:tr h="525780">
                <a:tc>
                  <a:txBody>
                    <a:bodyPr/>
                    <a:lstStyle/>
                    <a:p>
                      <a:pPr algn="ctr"/>
                      <a:r>
                        <a:rPr b="1" sz="900">
                          <a:solidFill>
                            <a:srgbClr val="FFFFFF"/>
                          </a:solidFill>
                        </a:rPr>
                        <a:t>ID</a:t>
                      </a:r>
                    </a:p>
                  </a:txBody>
                  <a:tcPr>
                    <a:solidFill>
                      <a:srgbClr val="1F497D"/>
                    </a:solidFill>
                  </a:tcPr>
                </a:tc>
                <a:tc>
                  <a:txBody>
                    <a:bodyPr/>
                    <a:lstStyle/>
                    <a:p>
                      <a:pPr algn="ctr"/>
                      <a:r>
                        <a:rPr b="1" sz="900">
                          <a:solidFill>
                            <a:srgbClr val="FFFFFF"/>
                          </a:solidFill>
                        </a:rPr>
                        <a:t>Scenario Name</a:t>
                      </a:r>
                    </a:p>
                  </a:txBody>
                  <a:tcPr>
                    <a:solidFill>
                      <a:srgbClr val="1F497D"/>
                    </a:solidFill>
                  </a:tcPr>
                </a:tc>
                <a:tc>
                  <a:txBody>
                    <a:bodyPr/>
                    <a:lstStyle/>
                    <a:p>
                      <a:pPr algn="ctr"/>
                      <a:r>
                        <a:rPr b="1" sz="900">
                          <a:solidFill>
                            <a:srgbClr val="FFFFFF"/>
                          </a:solidFill>
                        </a:rPr>
                        <a:t>Rainfall</a:t>
                      </a:r>
                    </a:p>
                  </a:txBody>
                  <a:tcPr>
                    <a:solidFill>
                      <a:srgbClr val="1F497D"/>
                    </a:solidFill>
                  </a:tcPr>
                </a:tc>
                <a:tc>
                  <a:txBody>
                    <a:bodyPr/>
                    <a:lstStyle/>
                    <a:p>
                      <a:pPr algn="ctr"/>
                      <a:r>
                        <a:rPr b="1" sz="900">
                          <a:solidFill>
                            <a:srgbClr val="FFFFFF"/>
                          </a:solidFill>
                        </a:rPr>
                        <a:t>Duration</a:t>
                      </a:r>
                    </a:p>
                  </a:txBody>
                  <a:tcPr>
                    <a:solidFill>
                      <a:srgbClr val="1F497D"/>
                    </a:solidFill>
                  </a:tcPr>
                </a:tc>
                <a:tc>
                  <a:txBody>
                    <a:bodyPr/>
                    <a:lstStyle/>
                    <a:p>
                      <a:pPr algn="ctr"/>
                      <a:r>
                        <a:rPr b="1" sz="900">
                          <a:solidFill>
                            <a:srgbClr val="FFFFFF"/>
                          </a:solidFill>
                        </a:rPr>
                        <a:t>Pattern</a:t>
                      </a:r>
                    </a:p>
                  </a:txBody>
                  <a:tcPr>
                    <a:solidFill>
                      <a:srgbClr val="1F497D"/>
                    </a:solidFill>
                  </a:tcPr>
                </a:tc>
                <a:tc>
                  <a:txBody>
                    <a:bodyPr/>
                    <a:lstStyle/>
                    <a:p>
                      <a:pPr algn="ctr"/>
                      <a:r>
                        <a:rPr b="1" sz="900">
                          <a:solidFill>
                            <a:srgbClr val="FFFFFF"/>
                          </a:solidFill>
                        </a:rPr>
                        <a:t>Risk Context</a:t>
                      </a:r>
                    </a:p>
                  </a:txBody>
                  <a:tcPr>
                    <a:solidFill>
                      <a:srgbClr val="1F497D"/>
                    </a:solidFill>
                  </a:tcPr>
                </a:tc>
              </a:tr>
              <a:tr h="525780">
                <a:tc>
                  <a:txBody>
                    <a:bodyPr/>
                    <a:lstStyle/>
                    <a:p>
                      <a:r>
                        <a:rPr sz="900">
                          <a:solidFill>
                            <a:srgbClr val="404040"/>
                          </a:solidFill>
                        </a:rPr>
                        <a:t>1</a:t>
                      </a:r>
                    </a:p>
                  </a:txBody>
                  <a:tcPr>
                    <a:solidFill>
                      <a:srgbClr val="F2F2F2"/>
                    </a:solidFill>
                  </a:tcPr>
                </a:tc>
                <a:tc>
                  <a:txBody>
                    <a:bodyPr/>
                    <a:lstStyle/>
                    <a:p>
                      <a:r>
                        <a:rPr sz="900">
                          <a:solidFill>
                            <a:srgbClr val="404040"/>
                          </a:solidFill>
                        </a:rPr>
                        <a:t>Light Rain</a:t>
                      </a:r>
                    </a:p>
                  </a:txBody>
                  <a:tcPr>
                    <a:solidFill>
                      <a:srgbClr val="F2F2F2"/>
                    </a:solidFill>
                  </a:tcPr>
                </a:tc>
                <a:tc>
                  <a:txBody>
                    <a:bodyPr/>
                    <a:lstStyle/>
                    <a:p>
                      <a:r>
                        <a:rPr sz="900">
                          <a:solidFill>
                            <a:srgbClr val="404040"/>
                          </a:solidFill>
                        </a:rPr>
                        <a:t>15 mm</a:t>
                      </a:r>
                    </a:p>
                  </a:txBody>
                  <a:tcPr>
                    <a:solidFill>
                      <a:srgbClr val="F2F2F2"/>
                    </a:solidFill>
                  </a:tcPr>
                </a:tc>
                <a:tc>
                  <a:txBody>
                    <a:bodyPr/>
                    <a:lstStyle/>
                    <a:p>
                      <a:r>
                        <a:rPr sz="900">
                          <a:solidFill>
                            <a:srgbClr val="404040"/>
                          </a:solidFill>
                        </a:rPr>
                        <a:t>2.0 h</a:t>
                      </a:r>
                    </a:p>
                  </a:txBody>
                  <a:tcPr>
                    <a:solidFill>
                      <a:srgbClr val="F2F2F2"/>
                    </a:solidFill>
                  </a:tcPr>
                </a:tc>
                <a:tc>
                  <a:txBody>
                    <a:bodyPr/>
                    <a:lstStyle/>
                    <a:p>
                      <a:r>
                        <a:rPr sz="900">
                          <a:solidFill>
                            <a:srgbClr val="404040"/>
                          </a:solidFill>
                        </a:rPr>
                        <a:t>Uniform</a:t>
                      </a:r>
                    </a:p>
                  </a:txBody>
                  <a:tcPr>
                    <a:solidFill>
                      <a:srgbClr val="F2F2F2"/>
                    </a:solidFill>
                  </a:tcPr>
                </a:tc>
                <a:tc>
                  <a:txBody>
                    <a:bodyPr/>
                    <a:lstStyle/>
                    <a:p>
                      <a:r>
                        <a:rPr sz="900">
                          <a:solidFill>
                            <a:srgbClr val="404040"/>
                          </a:solidFill>
                        </a:rPr>
                        <a:t>Annual minor event</a:t>
                      </a:r>
                    </a:p>
                  </a:txBody>
                  <a:tcPr>
                    <a:solidFill>
                      <a:srgbClr val="F2F2F2"/>
                    </a:solidFill>
                  </a:tcPr>
                </a:tc>
              </a:tr>
              <a:tr h="525780">
                <a:tc>
                  <a:txBody>
                    <a:bodyPr/>
                    <a:lstStyle/>
                    <a:p>
                      <a:r>
                        <a:rPr sz="900">
                          <a:solidFill>
                            <a:srgbClr val="404040"/>
                          </a:solidFill>
                        </a:rPr>
                        <a:t>2</a:t>
                      </a:r>
                    </a:p>
                  </a:txBody>
                  <a:tcPr>
                    <a:solidFill>
                      <a:srgbClr val="FFFFFF"/>
                    </a:solidFill>
                  </a:tcPr>
                </a:tc>
                <a:tc>
                  <a:txBody>
                    <a:bodyPr/>
                    <a:lstStyle/>
                    <a:p>
                      <a:r>
                        <a:rPr sz="900">
                          <a:solidFill>
                            <a:srgbClr val="404040"/>
                          </a:solidFill>
                        </a:rPr>
                        <a:t>Moderate Rain</a:t>
                      </a:r>
                    </a:p>
                  </a:txBody>
                  <a:tcPr>
                    <a:solidFill>
                      <a:srgbClr val="FFFFFF"/>
                    </a:solidFill>
                  </a:tcPr>
                </a:tc>
                <a:tc>
                  <a:txBody>
                    <a:bodyPr/>
                    <a:lstStyle/>
                    <a:p>
                      <a:r>
                        <a:rPr sz="900">
                          <a:solidFill>
                            <a:srgbClr val="404040"/>
                          </a:solidFill>
                        </a:rPr>
                        <a:t>36 mm</a:t>
                      </a:r>
                    </a:p>
                  </a:txBody>
                  <a:tcPr>
                    <a:solidFill>
                      <a:srgbClr val="FFFFFF"/>
                    </a:solidFill>
                  </a:tcPr>
                </a:tc>
                <a:tc>
                  <a:txBody>
                    <a:bodyPr/>
                    <a:lstStyle/>
                    <a:p>
                      <a:r>
                        <a:rPr sz="900">
                          <a:solidFill>
                            <a:srgbClr val="404040"/>
                          </a:solidFill>
                        </a:rPr>
                        <a:t>3.0 h</a:t>
                      </a:r>
                    </a:p>
                  </a:txBody>
                  <a:tcPr>
                    <a:solidFill>
                      <a:srgbClr val="FFFFFF"/>
                    </a:solidFill>
                  </a:tcPr>
                </a:tc>
                <a:tc>
                  <a:txBody>
                    <a:bodyPr/>
                    <a:lstStyle/>
                    <a:p>
                      <a:r>
                        <a:rPr sz="900">
                          <a:solidFill>
                            <a:srgbClr val="404040"/>
                          </a:solidFill>
                        </a:rPr>
                        <a:t>Progressive</a:t>
                      </a:r>
                    </a:p>
                  </a:txBody>
                  <a:tcPr>
                    <a:solidFill>
                      <a:srgbClr val="FFFFFF"/>
                    </a:solidFill>
                  </a:tcPr>
                </a:tc>
                <a:tc>
                  <a:txBody>
                    <a:bodyPr/>
                    <a:lstStyle/>
                    <a:p>
                      <a:r>
                        <a:rPr sz="900">
                          <a:solidFill>
                            <a:srgbClr val="404040"/>
                          </a:solidFill>
                        </a:rPr>
                        <a:t>Frequent urban flooding</a:t>
                      </a:r>
                    </a:p>
                  </a:txBody>
                  <a:tcPr>
                    <a:solidFill>
                      <a:srgbClr val="FFFFFF"/>
                    </a:solidFill>
                  </a:tcPr>
                </a:tc>
              </a:tr>
              <a:tr h="525780">
                <a:tc>
                  <a:txBody>
                    <a:bodyPr/>
                    <a:lstStyle/>
                    <a:p>
                      <a:r>
                        <a:rPr sz="900">
                          <a:solidFill>
                            <a:srgbClr val="404040"/>
                          </a:solidFill>
                        </a:rPr>
                        <a:t>3</a:t>
                      </a:r>
                    </a:p>
                  </a:txBody>
                  <a:tcPr>
                    <a:solidFill>
                      <a:srgbClr val="F2F2F2"/>
                    </a:solidFill>
                  </a:tcPr>
                </a:tc>
                <a:tc>
                  <a:txBody>
                    <a:bodyPr/>
                    <a:lstStyle/>
                    <a:p>
                      <a:r>
                        <a:rPr sz="900">
                          <a:solidFill>
                            <a:srgbClr val="404040"/>
                          </a:solidFill>
                        </a:rPr>
                        <a:t>Heavy Rain</a:t>
                      </a:r>
                    </a:p>
                  </a:txBody>
                  <a:tcPr>
                    <a:solidFill>
                      <a:srgbClr val="F2F2F2"/>
                    </a:solidFill>
                  </a:tcPr>
                </a:tc>
                <a:tc>
                  <a:txBody>
                    <a:bodyPr/>
                    <a:lstStyle/>
                    <a:p>
                      <a:r>
                        <a:rPr sz="900">
                          <a:solidFill>
                            <a:srgbClr val="404040"/>
                          </a:solidFill>
                        </a:rPr>
                        <a:t>90 mm</a:t>
                      </a:r>
                    </a:p>
                  </a:txBody>
                  <a:tcPr>
                    <a:solidFill>
                      <a:srgbClr val="F2F2F2"/>
                    </a:solidFill>
                  </a:tcPr>
                </a:tc>
                <a:tc>
                  <a:txBody>
                    <a:bodyPr/>
                    <a:lstStyle/>
                    <a:p>
                      <a:r>
                        <a:rPr sz="900">
                          <a:solidFill>
                            <a:srgbClr val="404040"/>
                          </a:solidFill>
                        </a:rPr>
                        <a:t>4.0 h</a:t>
                      </a:r>
                    </a:p>
                  </a:txBody>
                  <a:tcPr>
                    <a:solidFill>
                      <a:srgbClr val="F2F2F2"/>
                    </a:solidFill>
                  </a:tcPr>
                </a:tc>
                <a:tc>
                  <a:txBody>
                    <a:bodyPr/>
                    <a:lstStyle/>
                    <a:p>
                      <a:r>
                        <a:rPr sz="900">
                          <a:solidFill>
                            <a:srgbClr val="404040"/>
                          </a:solidFill>
                        </a:rPr>
                        <a:t>Progressive</a:t>
                      </a:r>
                    </a:p>
                  </a:txBody>
                  <a:tcPr>
                    <a:solidFill>
                      <a:srgbClr val="F2F2F2"/>
                    </a:solidFill>
                  </a:tcPr>
                </a:tc>
                <a:tc>
                  <a:txBody>
                    <a:bodyPr/>
                    <a:lstStyle/>
                    <a:p>
                      <a:r>
                        <a:rPr sz="900">
                          <a:solidFill>
                            <a:srgbClr val="404040"/>
                          </a:solidFill>
                        </a:rPr>
                        <a:t>Very High Risk threshold</a:t>
                      </a:r>
                    </a:p>
                  </a:txBody>
                  <a:tcPr>
                    <a:solidFill>
                      <a:srgbClr val="F2F2F2"/>
                    </a:solidFill>
                  </a:tcPr>
                </a:tc>
              </a:tr>
              <a:tr h="525780">
                <a:tc>
                  <a:txBody>
                    <a:bodyPr/>
                    <a:lstStyle/>
                    <a:p>
                      <a:r>
                        <a:rPr sz="900">
                          <a:solidFill>
                            <a:srgbClr val="404040"/>
                          </a:solidFill>
                        </a:rPr>
                        <a:t>4</a:t>
                      </a:r>
                    </a:p>
                  </a:txBody>
                  <a:tcPr>
                    <a:solidFill>
                      <a:srgbClr val="FFFFFF"/>
                    </a:solidFill>
                  </a:tcPr>
                </a:tc>
                <a:tc>
                  <a:txBody>
                    <a:bodyPr/>
                    <a:lstStyle/>
                    <a:p>
                      <a:r>
                        <a:rPr sz="900">
                          <a:solidFill>
                            <a:srgbClr val="404040"/>
                          </a:solidFill>
                        </a:rPr>
                        <a:t>Typhoon Signal 1</a:t>
                      </a:r>
                    </a:p>
                  </a:txBody>
                  <a:tcPr>
                    <a:solidFill>
                      <a:srgbClr val="FFFFFF"/>
                    </a:solidFill>
                  </a:tcPr>
                </a:tc>
                <a:tc>
                  <a:txBody>
                    <a:bodyPr/>
                    <a:lstStyle/>
                    <a:p>
                      <a:r>
                        <a:rPr sz="900">
                          <a:solidFill>
                            <a:srgbClr val="404040"/>
                          </a:solidFill>
                        </a:rPr>
                        <a:t>150 mm</a:t>
                      </a:r>
                    </a:p>
                  </a:txBody>
                  <a:tcPr>
                    <a:solidFill>
                      <a:srgbClr val="FFFFFF"/>
                    </a:solidFill>
                  </a:tcPr>
                </a:tc>
                <a:tc>
                  <a:txBody>
                    <a:bodyPr/>
                    <a:lstStyle/>
                    <a:p>
                      <a:r>
                        <a:rPr sz="900">
                          <a:solidFill>
                            <a:srgbClr val="404040"/>
                          </a:solidFill>
                        </a:rPr>
                        <a:t>8.0 h</a:t>
                      </a:r>
                    </a:p>
                  </a:txBody>
                  <a:tcPr>
                    <a:solidFill>
                      <a:srgbClr val="FFFFFF"/>
                    </a:solidFill>
                  </a:tcPr>
                </a:tc>
                <a:tc>
                  <a:txBody>
                    <a:bodyPr/>
                    <a:lstStyle/>
                    <a:p>
                      <a:r>
                        <a:rPr sz="900">
                          <a:solidFill>
                            <a:srgbClr val="404040"/>
                          </a:solidFill>
                        </a:rPr>
                        <a:t>Progressive</a:t>
                      </a:r>
                    </a:p>
                  </a:txBody>
                  <a:tcPr>
                    <a:solidFill>
                      <a:srgbClr val="FFFFFF"/>
                    </a:solidFill>
                  </a:tcPr>
                </a:tc>
                <a:tc>
                  <a:txBody>
                    <a:bodyPr/>
                    <a:lstStyle/>
                    <a:p>
                      <a:r>
                        <a:rPr sz="900">
                          <a:solidFill>
                            <a:srgbClr val="404040"/>
                          </a:solidFill>
                        </a:rPr>
                        <a:t>High Risk threshold</a:t>
                      </a:r>
                    </a:p>
                  </a:txBody>
                  <a:tcPr>
                    <a:solidFill>
                      <a:srgbClr val="FFFFFF"/>
                    </a:solidFill>
                  </a:tcPr>
                </a:tc>
              </a:tr>
              <a:tr h="525780">
                <a:tc>
                  <a:txBody>
                    <a:bodyPr/>
                    <a:lstStyle/>
                    <a:p>
                      <a:r>
                        <a:rPr sz="900">
                          <a:solidFill>
                            <a:srgbClr val="404040"/>
                          </a:solidFill>
                        </a:rPr>
                        <a:t>5</a:t>
                      </a:r>
                    </a:p>
                  </a:txBody>
                  <a:tcPr>
                    <a:solidFill>
                      <a:srgbClr val="F2F2F2"/>
                    </a:solidFill>
                  </a:tcPr>
                </a:tc>
                <a:tc>
                  <a:txBody>
                    <a:bodyPr/>
                    <a:lstStyle/>
                    <a:p>
                      <a:r>
                        <a:rPr sz="900">
                          <a:solidFill>
                            <a:srgbClr val="404040"/>
                          </a:solidFill>
                        </a:rPr>
                        <a:t>Typhoon Signal 2</a:t>
                      </a:r>
                    </a:p>
                  </a:txBody>
                  <a:tcPr>
                    <a:solidFill>
                      <a:srgbClr val="F2F2F2"/>
                    </a:solidFill>
                  </a:tcPr>
                </a:tc>
                <a:tc>
                  <a:txBody>
                    <a:bodyPr/>
                    <a:lstStyle/>
                    <a:p>
                      <a:r>
                        <a:rPr sz="900">
                          <a:solidFill>
                            <a:srgbClr val="404040"/>
                          </a:solidFill>
                        </a:rPr>
                        <a:t>250 mm</a:t>
                      </a:r>
                    </a:p>
                  </a:txBody>
                  <a:tcPr>
                    <a:solidFill>
                      <a:srgbClr val="F2F2F2"/>
                    </a:solidFill>
                  </a:tcPr>
                </a:tc>
                <a:tc>
                  <a:txBody>
                    <a:bodyPr/>
                    <a:lstStyle/>
                    <a:p>
                      <a:r>
                        <a:rPr sz="900">
                          <a:solidFill>
                            <a:srgbClr val="404040"/>
                          </a:solidFill>
                        </a:rPr>
                        <a:t>12.0 h</a:t>
                      </a:r>
                    </a:p>
                  </a:txBody>
                  <a:tcPr>
                    <a:solidFill>
                      <a:srgbClr val="F2F2F2"/>
                    </a:solidFill>
                  </a:tcPr>
                </a:tc>
                <a:tc>
                  <a:txBody>
                    <a:bodyPr/>
                    <a:lstStyle/>
                    <a:p>
                      <a:r>
                        <a:rPr sz="900">
                          <a:solidFill>
                            <a:srgbClr val="404040"/>
                          </a:solidFill>
                        </a:rPr>
                        <a:t>Burst</a:t>
                      </a:r>
                    </a:p>
                  </a:txBody>
                  <a:tcPr>
                    <a:solidFill>
                      <a:srgbClr val="F2F2F2"/>
                    </a:solidFill>
                  </a:tcPr>
                </a:tc>
                <a:tc>
                  <a:txBody>
                    <a:bodyPr/>
                    <a:lstStyle/>
                    <a:p>
                      <a:r>
                        <a:rPr sz="900">
                          <a:solidFill>
                            <a:srgbClr val="404040"/>
                          </a:solidFill>
                        </a:rPr>
                        <a:t>Medium Risk threshold</a:t>
                      </a:r>
                    </a:p>
                  </a:txBody>
                  <a:tcPr>
                    <a:solidFill>
                      <a:srgbClr val="F2F2F2"/>
                    </a:solidFill>
                  </a:tcPr>
                </a:tc>
              </a:tr>
              <a:tr h="525780">
                <a:tc>
                  <a:txBody>
                    <a:bodyPr/>
                    <a:lstStyle/>
                    <a:p>
                      <a:r>
                        <a:rPr sz="900">
                          <a:solidFill>
                            <a:srgbClr val="404040"/>
                          </a:solidFill>
                        </a:rPr>
                        <a:t>6</a:t>
                      </a:r>
                    </a:p>
                  </a:txBody>
                  <a:tcPr>
                    <a:solidFill>
                      <a:srgbClr val="FFFFFF"/>
                    </a:solidFill>
                  </a:tcPr>
                </a:tc>
                <a:tc>
                  <a:txBody>
                    <a:bodyPr/>
                    <a:lstStyle/>
                    <a:p>
                      <a:r>
                        <a:rPr sz="900">
                          <a:solidFill>
                            <a:srgbClr val="404040"/>
                          </a:solidFill>
                        </a:rPr>
                        <a:t>Typhoon Signal 3</a:t>
                      </a:r>
                    </a:p>
                  </a:txBody>
                  <a:tcPr>
                    <a:solidFill>
                      <a:srgbClr val="FFFFFF"/>
                    </a:solidFill>
                  </a:tcPr>
                </a:tc>
                <a:tc>
                  <a:txBody>
                    <a:bodyPr/>
                    <a:lstStyle/>
                    <a:p>
                      <a:r>
                        <a:rPr sz="900">
                          <a:solidFill>
                            <a:srgbClr val="404040"/>
                          </a:solidFill>
                        </a:rPr>
                        <a:t>400 mm</a:t>
                      </a:r>
                    </a:p>
                  </a:txBody>
                  <a:tcPr>
                    <a:solidFill>
                      <a:srgbClr val="FFFFFF"/>
                    </a:solidFill>
                  </a:tcPr>
                </a:tc>
                <a:tc>
                  <a:txBody>
                    <a:bodyPr/>
                    <a:lstStyle/>
                    <a:p>
                      <a:r>
                        <a:rPr sz="900">
                          <a:solidFill>
                            <a:srgbClr val="404040"/>
                          </a:solidFill>
                        </a:rPr>
                        <a:t>18.0 h</a:t>
                      </a:r>
                    </a:p>
                  </a:txBody>
                  <a:tcPr>
                    <a:solidFill>
                      <a:srgbClr val="FFFFFF"/>
                    </a:solidFill>
                  </a:tcPr>
                </a:tc>
                <a:tc>
                  <a:txBody>
                    <a:bodyPr/>
                    <a:lstStyle/>
                    <a:p>
                      <a:r>
                        <a:rPr sz="900">
                          <a:solidFill>
                            <a:srgbClr val="404040"/>
                          </a:solidFill>
                        </a:rPr>
                        <a:t>Burst</a:t>
                      </a:r>
                    </a:p>
                  </a:txBody>
                  <a:tcPr>
                    <a:solidFill>
                      <a:srgbClr val="FFFFFF"/>
                    </a:solidFill>
                  </a:tcPr>
                </a:tc>
                <a:tc>
                  <a:txBody>
                    <a:bodyPr/>
                    <a:lstStyle/>
                    <a:p>
                      <a:r>
                        <a:rPr sz="900">
                          <a:solidFill>
                            <a:srgbClr val="404040"/>
                          </a:solidFill>
                        </a:rPr>
                        <a:t>Low Risk threshold</a:t>
                      </a:r>
                    </a:p>
                  </a:txBody>
                  <a:tcPr>
                    <a:solidFill>
                      <a:srgbClr val="FFFFFF"/>
                    </a:solidFill>
                  </a:tcPr>
                </a:tc>
              </a:tr>
              <a:tr h="525780">
                <a:tc>
                  <a:txBody>
                    <a:bodyPr/>
                    <a:lstStyle/>
                    <a:p>
                      <a:r>
                        <a:rPr sz="900">
                          <a:solidFill>
                            <a:srgbClr val="404040"/>
                          </a:solidFill>
                        </a:rPr>
                        <a:t>7</a:t>
                      </a:r>
                    </a:p>
                  </a:txBody>
                  <a:tcPr>
                    <a:solidFill>
                      <a:srgbClr val="F2F2F2"/>
                    </a:solidFill>
                  </a:tcPr>
                </a:tc>
                <a:tc>
                  <a:txBody>
                    <a:bodyPr/>
                    <a:lstStyle/>
                    <a:p>
                      <a:r>
                        <a:rPr sz="900">
                          <a:solidFill>
                            <a:srgbClr val="404040"/>
                          </a:solidFill>
                        </a:rPr>
                        <a:t>Custom</a:t>
                      </a:r>
                    </a:p>
                  </a:txBody>
                  <a:tcPr>
                    <a:solidFill>
                      <a:srgbClr val="F2F2F2"/>
                    </a:solidFill>
                  </a:tcPr>
                </a:tc>
                <a:tc>
                  <a:txBody>
                    <a:bodyPr/>
                    <a:lstStyle/>
                    <a:p>
                      <a:r>
                        <a:rPr sz="900">
                          <a:solidFill>
                            <a:srgbClr val="404040"/>
                          </a:solidFill>
                        </a:rPr>
                        <a:t>User def.</a:t>
                      </a:r>
                    </a:p>
                  </a:txBody>
                  <a:tcPr>
                    <a:solidFill>
                      <a:srgbClr val="F2F2F2"/>
                    </a:solidFill>
                  </a:tcPr>
                </a:tc>
                <a:tc>
                  <a:txBody>
                    <a:bodyPr/>
                    <a:lstStyle/>
                    <a:p>
                      <a:r>
                        <a:rPr sz="900">
                          <a:solidFill>
                            <a:srgbClr val="404040"/>
                          </a:solidFill>
                        </a:rPr>
                        <a:t>User def.</a:t>
                      </a:r>
                    </a:p>
                  </a:txBody>
                  <a:tcPr>
                    <a:solidFill>
                      <a:srgbClr val="F2F2F2"/>
                    </a:solidFill>
                  </a:tcPr>
                </a:tc>
                <a:tc>
                  <a:txBody>
                    <a:bodyPr/>
                    <a:lstStyle/>
                    <a:p>
                      <a:r>
                        <a:rPr sz="900">
                          <a:solidFill>
                            <a:srgbClr val="404040"/>
                          </a:solidFill>
                        </a:rPr>
                        <a:t>User def.</a:t>
                      </a:r>
                    </a:p>
                  </a:txBody>
                  <a:tcPr>
                    <a:solidFill>
                      <a:srgbClr val="F2F2F2"/>
                    </a:solidFill>
                  </a:tcPr>
                </a:tc>
                <a:tc>
                  <a:txBody>
                    <a:bodyPr/>
                    <a:lstStyle/>
                    <a:p>
                      <a:r>
                        <a:rPr sz="900">
                          <a:solidFill>
                            <a:srgbClr val="404040"/>
                          </a:solidFill>
                        </a:rPr>
                        <a:t>Research / planning</a:t>
                      </a:r>
                    </a:p>
                  </a:txBody>
                  <a:tcPr>
                    <a:solidFill>
                      <a:srgbClr val="F2F2F2"/>
                    </a:solidFill>
                  </a:tcPr>
                </a:tc>
              </a:tr>
            </a:tbl>
          </a:graphicData>
        </a:graphic>
      </p:graphicFrame>
      <p:sp>
        <p:nvSpPr>
          <p:cNvPr id="12" name="Rectangle 11"/>
          <p:cNvSpPr/>
          <p:nvPr/>
        </p:nvSpPr>
        <p:spPr>
          <a:xfrm>
            <a:off x="8275320" y="1143000"/>
            <a:ext cx="3657600" cy="29260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85048" y="1179576"/>
            <a:ext cx="3520440" cy="256032"/>
          </a:xfrm>
          <a:prstGeom prst="rect">
            <a:avLst/>
          </a:prstGeom>
          <a:noFill/>
        </p:spPr>
        <p:txBody>
          <a:bodyPr wrap="square">
            <a:spAutoFit/>
          </a:bodyPr>
          <a:lstStyle/>
          <a:p>
            <a:pPr algn="l"/>
            <a:r>
              <a:rPr sz="1000" b="1" i="0">
                <a:solidFill>
                  <a:srgbClr val="FFFFFF"/>
                </a:solidFill>
              </a:rPr>
              <a:t>RAINFALL INTENSITY PATTERNS</a:t>
            </a:r>
          </a:p>
        </p:txBody>
      </p:sp>
      <p:sp>
        <p:nvSpPr>
          <p:cNvPr id="14" name="Rectangle 13"/>
          <p:cNvSpPr/>
          <p:nvPr/>
        </p:nvSpPr>
        <p:spPr>
          <a:xfrm>
            <a:off x="8275320" y="1463040"/>
            <a:ext cx="3657600" cy="111556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275320" y="1463040"/>
            <a:ext cx="3657600" cy="29260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85048" y="1499616"/>
            <a:ext cx="3456432" cy="237744"/>
          </a:xfrm>
          <a:prstGeom prst="rect">
            <a:avLst/>
          </a:prstGeom>
          <a:noFill/>
        </p:spPr>
        <p:txBody>
          <a:bodyPr wrap="square">
            <a:spAutoFit/>
          </a:bodyPr>
          <a:lstStyle/>
          <a:p>
            <a:pPr algn="l"/>
            <a:r>
              <a:rPr sz="1000" b="1" i="0">
                <a:solidFill>
                  <a:srgbClr val="FFFFFF"/>
                </a:solidFill>
              </a:rPr>
              <a:t>Uniform</a:t>
            </a:r>
          </a:p>
        </p:txBody>
      </p:sp>
      <p:sp>
        <p:nvSpPr>
          <p:cNvPr id="17" name="TextBox 16"/>
          <p:cNvSpPr txBox="1"/>
          <p:nvPr/>
        </p:nvSpPr>
        <p:spPr>
          <a:xfrm>
            <a:off x="8385048" y="1810512"/>
            <a:ext cx="3456432" cy="713232"/>
          </a:xfrm>
          <a:prstGeom prst="rect">
            <a:avLst/>
          </a:prstGeom>
          <a:noFill/>
        </p:spPr>
        <p:txBody>
          <a:bodyPr wrap="square">
            <a:spAutoFit/>
          </a:bodyPr>
          <a:lstStyle/>
          <a:p>
            <a:pPr algn="l"/>
            <a:r>
              <a:rPr sz="1000" b="0" i="0">
                <a:solidFill>
                  <a:srgbClr val="404040"/>
                </a:solidFill>
              </a:rPr>
              <a:t>Constant 1.0× throughout storm duration</a:t>
            </a:r>
          </a:p>
        </p:txBody>
      </p:sp>
      <p:sp>
        <p:nvSpPr>
          <p:cNvPr id="18" name="Rectangle 17"/>
          <p:cNvSpPr/>
          <p:nvPr/>
        </p:nvSpPr>
        <p:spPr>
          <a:xfrm>
            <a:off x="8275320" y="2633472"/>
            <a:ext cx="3657600" cy="111556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275320" y="2633472"/>
            <a:ext cx="3657600" cy="29260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85048" y="2670048"/>
            <a:ext cx="3456432" cy="237744"/>
          </a:xfrm>
          <a:prstGeom prst="rect">
            <a:avLst/>
          </a:prstGeom>
          <a:noFill/>
        </p:spPr>
        <p:txBody>
          <a:bodyPr wrap="square">
            <a:spAutoFit/>
          </a:bodyPr>
          <a:lstStyle/>
          <a:p>
            <a:pPr algn="l"/>
            <a:r>
              <a:rPr sz="1000" b="1" i="0">
                <a:solidFill>
                  <a:srgbClr val="FFFFFF"/>
                </a:solidFill>
              </a:rPr>
              <a:t>Progressive</a:t>
            </a:r>
          </a:p>
        </p:txBody>
      </p:sp>
      <p:sp>
        <p:nvSpPr>
          <p:cNvPr id="21" name="TextBox 20"/>
          <p:cNvSpPr txBox="1"/>
          <p:nvPr/>
        </p:nvSpPr>
        <p:spPr>
          <a:xfrm>
            <a:off x="8385048" y="2980944"/>
            <a:ext cx="3456432" cy="713232"/>
          </a:xfrm>
          <a:prstGeom prst="rect">
            <a:avLst/>
          </a:prstGeom>
          <a:noFill/>
        </p:spPr>
        <p:txBody>
          <a:bodyPr wrap="square">
            <a:spAutoFit/>
          </a:bodyPr>
          <a:lstStyle/>
          <a:p>
            <a:pPr algn="l"/>
            <a:r>
              <a:rPr sz="1000" b="0" i="0">
                <a:solidFill>
                  <a:srgbClr val="404040"/>
                </a:solidFill>
              </a:rPr>
              <a:t>Ramps from 0.40× to 1.40× (storm development)</a:t>
            </a:r>
          </a:p>
        </p:txBody>
      </p:sp>
      <p:sp>
        <p:nvSpPr>
          <p:cNvPr id="22" name="Rectangle 21"/>
          <p:cNvSpPr/>
          <p:nvPr/>
        </p:nvSpPr>
        <p:spPr>
          <a:xfrm>
            <a:off x="8275320" y="3803904"/>
            <a:ext cx="3657600" cy="111556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275320" y="3803904"/>
            <a:ext cx="3657600" cy="29260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85048" y="3840480"/>
            <a:ext cx="3456432" cy="237744"/>
          </a:xfrm>
          <a:prstGeom prst="rect">
            <a:avLst/>
          </a:prstGeom>
          <a:noFill/>
        </p:spPr>
        <p:txBody>
          <a:bodyPr wrap="square">
            <a:spAutoFit/>
          </a:bodyPr>
          <a:lstStyle/>
          <a:p>
            <a:pPr algn="l"/>
            <a:r>
              <a:rPr sz="1000" b="1" i="0">
                <a:solidFill>
                  <a:srgbClr val="FFFFFF"/>
                </a:solidFill>
              </a:rPr>
              <a:t>Burst</a:t>
            </a:r>
          </a:p>
        </p:txBody>
      </p:sp>
      <p:sp>
        <p:nvSpPr>
          <p:cNvPr id="25" name="TextBox 24"/>
          <p:cNvSpPr txBox="1"/>
          <p:nvPr/>
        </p:nvSpPr>
        <p:spPr>
          <a:xfrm>
            <a:off x="8385048" y="4151376"/>
            <a:ext cx="3456432" cy="713232"/>
          </a:xfrm>
          <a:prstGeom prst="rect">
            <a:avLst/>
          </a:prstGeom>
          <a:noFill/>
        </p:spPr>
        <p:txBody>
          <a:bodyPr wrap="square">
            <a:spAutoFit/>
          </a:bodyPr>
          <a:lstStyle/>
          <a:p>
            <a:pPr algn="l"/>
            <a:r>
              <a:rPr sz="1000" b="0" i="0">
                <a:solidFill>
                  <a:srgbClr val="404040"/>
                </a:solidFill>
              </a:rPr>
              <a:t>Gaussian peak at 45% of duration, 0.30× to 1.80×</a:t>
            </a:r>
          </a:p>
        </p:txBody>
      </p:sp>
      <p:sp>
        <p:nvSpPr>
          <p:cNvPr id="26" name="Rectangle 25"/>
          <p:cNvSpPr/>
          <p:nvPr/>
        </p:nvSpPr>
        <p:spPr>
          <a:xfrm>
            <a:off x="8275320" y="4974336"/>
            <a:ext cx="3657600" cy="111556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275320" y="4974336"/>
            <a:ext cx="3657600" cy="29260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385048" y="5010912"/>
            <a:ext cx="3456432" cy="237744"/>
          </a:xfrm>
          <a:prstGeom prst="rect">
            <a:avLst/>
          </a:prstGeom>
          <a:noFill/>
        </p:spPr>
        <p:txBody>
          <a:bodyPr wrap="square">
            <a:spAutoFit/>
          </a:bodyPr>
          <a:lstStyle/>
          <a:p>
            <a:pPr algn="l"/>
            <a:r>
              <a:rPr sz="1000" b="1" i="0">
                <a:solidFill>
                  <a:srgbClr val="FFFFFF"/>
                </a:solidFill>
              </a:rPr>
              <a:t>Decreasing</a:t>
            </a:r>
          </a:p>
        </p:txBody>
      </p:sp>
      <p:sp>
        <p:nvSpPr>
          <p:cNvPr id="29" name="TextBox 28"/>
          <p:cNvSpPr txBox="1"/>
          <p:nvPr/>
        </p:nvSpPr>
        <p:spPr>
          <a:xfrm>
            <a:off x="8385048" y="5321808"/>
            <a:ext cx="3456432" cy="713232"/>
          </a:xfrm>
          <a:prstGeom prst="rect">
            <a:avLst/>
          </a:prstGeom>
          <a:noFill/>
        </p:spPr>
        <p:txBody>
          <a:bodyPr wrap="square">
            <a:spAutoFit/>
          </a:bodyPr>
          <a:lstStyle/>
          <a:p>
            <a:pPr algn="l"/>
            <a:r>
              <a:rPr sz="1000" b="0" i="0">
                <a:solidFill>
                  <a:srgbClr val="404040"/>
                </a:solidFill>
              </a:rPr>
              <a:t>Heavy start tapering to 0.20× (convective event)</a:t>
            </a:r>
          </a:p>
        </p:txBody>
      </p:sp>
      <p:sp>
        <p:nvSpPr>
          <p:cNvPr id="30" name="Rectangle 29"/>
          <p:cNvSpPr/>
          <p:nvPr/>
        </p:nvSpPr>
        <p:spPr>
          <a:xfrm>
            <a:off x="274320" y="5806440"/>
            <a:ext cx="7772400" cy="29260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84048" y="5843016"/>
            <a:ext cx="7635240" cy="256032"/>
          </a:xfrm>
          <a:prstGeom prst="rect">
            <a:avLst/>
          </a:prstGeom>
          <a:noFill/>
        </p:spPr>
        <p:txBody>
          <a:bodyPr wrap="square">
            <a:spAutoFit/>
          </a:bodyPr>
          <a:lstStyle/>
          <a:p>
            <a:pPr algn="l"/>
            <a:r>
              <a:rPr sz="1000" b="1" i="0">
                <a:solidFill>
                  <a:srgbClr val="FFFFFF"/>
                </a:solidFill>
              </a:rPr>
              <a:t>GUI SLIDER PARAMETERS</a:t>
            </a:r>
          </a:p>
        </p:txBody>
      </p:sp>
      <p:graphicFrame>
        <p:nvGraphicFramePr>
          <p:cNvPr id="32" name="Table 31"/>
          <p:cNvGraphicFramePr>
            <a:graphicFrameLocks noGrp="1"/>
          </p:cNvGraphicFramePr>
          <p:nvPr/>
        </p:nvGraphicFramePr>
        <p:xfrm>
          <a:off x="274320" y="6126480"/>
          <a:ext cx="7772400" cy="685800"/>
        </p:xfrm>
        <a:graphic>
          <a:graphicData uri="http://schemas.openxmlformats.org/drawingml/2006/table">
            <a:tbl>
              <a:tblPr firstRow="1" bandRow="1">
                <a:tableStyleId>{5C22544A-7EE6-4342-B048-85BDC9FD1C3A}</a:tableStyleId>
              </a:tblPr>
              <a:tblGrid>
                <a:gridCol w="1943100"/>
                <a:gridCol w="1943100"/>
                <a:gridCol w="1943100"/>
                <a:gridCol w="1943100"/>
              </a:tblGrid>
              <a:tr h="97971">
                <a:tc>
                  <a:txBody>
                    <a:bodyPr/>
                    <a:lstStyle/>
                    <a:p>
                      <a:pPr algn="ctr"/>
                      <a:r>
                        <a:rPr b="1" sz="900">
                          <a:solidFill>
                            <a:srgbClr val="FFFFFF"/>
                          </a:solidFill>
                        </a:rPr>
                        <a:t>Parameter</a:t>
                      </a:r>
                    </a:p>
                  </a:txBody>
                  <a:tcPr>
                    <a:solidFill>
                      <a:srgbClr val="0070C0"/>
                    </a:solidFill>
                  </a:tcPr>
                </a:tc>
                <a:tc>
                  <a:txBody>
                    <a:bodyPr/>
                    <a:lstStyle/>
                    <a:p>
                      <a:pPr algn="ctr"/>
                      <a:r>
                        <a:rPr b="1" sz="900">
                          <a:solidFill>
                            <a:srgbClr val="FFFFFF"/>
                          </a:solidFill>
                        </a:rPr>
                        <a:t>Range</a:t>
                      </a:r>
                    </a:p>
                  </a:txBody>
                  <a:tcPr>
                    <a:solidFill>
                      <a:srgbClr val="0070C0"/>
                    </a:solidFill>
                  </a:tcPr>
                </a:tc>
                <a:tc>
                  <a:txBody>
                    <a:bodyPr/>
                    <a:lstStyle/>
                    <a:p>
                      <a:pPr algn="ctr"/>
                      <a:r>
                        <a:rPr b="1" sz="900">
                          <a:solidFill>
                            <a:srgbClr val="FFFFFF"/>
                          </a:solidFill>
                        </a:rPr>
                        <a:t>Default</a:t>
                      </a:r>
                    </a:p>
                  </a:txBody>
                  <a:tcPr>
                    <a:solidFill>
                      <a:srgbClr val="0070C0"/>
                    </a:solidFill>
                  </a:tcPr>
                </a:tc>
                <a:tc>
                  <a:txBody>
                    <a:bodyPr/>
                    <a:lstStyle/>
                    <a:p>
                      <a:pPr algn="ctr"/>
                      <a:r>
                        <a:rPr b="1" sz="900">
                          <a:solidFill>
                            <a:srgbClr val="FFFFFF"/>
                          </a:solidFill>
                        </a:rPr>
                        <a:t>Effect</a:t>
                      </a:r>
                    </a:p>
                  </a:txBody>
                  <a:tcPr>
                    <a:solidFill>
                      <a:srgbClr val="0070C0"/>
                    </a:solidFill>
                  </a:tcPr>
                </a:tc>
              </a:tr>
              <a:tr h="97971">
                <a:tc>
                  <a:txBody>
                    <a:bodyPr/>
                    <a:lstStyle/>
                    <a:p>
                      <a:r>
                        <a:rPr sz="900">
                          <a:solidFill>
                            <a:srgbClr val="404040"/>
                          </a:solidFill>
                        </a:rPr>
                        <a:t>Rainfall (mm)</a:t>
                      </a:r>
                    </a:p>
                  </a:txBody>
                  <a:tcPr>
                    <a:solidFill>
                      <a:srgbClr val="F2F2F2"/>
                    </a:solidFill>
                  </a:tcPr>
                </a:tc>
                <a:tc>
                  <a:txBody>
                    <a:bodyPr/>
                    <a:lstStyle/>
                    <a:p>
                      <a:r>
                        <a:rPr sz="900">
                          <a:solidFill>
                            <a:srgbClr val="404040"/>
                          </a:solidFill>
                        </a:rPr>
                        <a:t>0 – 600</a:t>
                      </a:r>
                    </a:p>
                  </a:txBody>
                  <a:tcPr>
                    <a:solidFill>
                      <a:srgbClr val="F2F2F2"/>
                    </a:solidFill>
                  </a:tcPr>
                </a:tc>
                <a:tc>
                  <a:txBody>
                    <a:bodyPr/>
                    <a:lstStyle/>
                    <a:p>
                      <a:r>
                        <a:rPr sz="900">
                          <a:solidFill>
                            <a:srgbClr val="404040"/>
                          </a:solidFill>
                        </a:rPr>
                        <a:t>90 mm</a:t>
                      </a:r>
                    </a:p>
                  </a:txBody>
                  <a:tcPr>
                    <a:solidFill>
                      <a:srgbClr val="F2F2F2"/>
                    </a:solidFill>
                  </a:tcPr>
                </a:tc>
                <a:tc>
                  <a:txBody>
                    <a:bodyPr/>
                    <a:lstStyle/>
                    <a:p>
                      <a:r>
                        <a:rPr sz="900">
                          <a:solidFill>
                            <a:srgbClr val="404040"/>
                          </a:solidFill>
                        </a:rPr>
                        <a:t>Total storm precipitation</a:t>
                      </a:r>
                    </a:p>
                  </a:txBody>
                  <a:tcPr>
                    <a:solidFill>
                      <a:srgbClr val="F2F2F2"/>
                    </a:solidFill>
                  </a:tcPr>
                </a:tc>
              </a:tr>
              <a:tr h="97971">
                <a:tc>
                  <a:txBody>
                    <a:bodyPr/>
                    <a:lstStyle/>
                    <a:p>
                      <a:r>
                        <a:rPr sz="900">
                          <a:solidFill>
                            <a:srgbClr val="404040"/>
                          </a:solidFill>
                        </a:rPr>
                        <a:t>Duration (h)</a:t>
                      </a:r>
                    </a:p>
                  </a:txBody>
                  <a:tcPr>
                    <a:solidFill>
                      <a:srgbClr val="FFFFFF"/>
                    </a:solidFill>
                  </a:tcPr>
                </a:tc>
                <a:tc>
                  <a:txBody>
                    <a:bodyPr/>
                    <a:lstStyle/>
                    <a:p>
                      <a:r>
                        <a:rPr sz="900">
                          <a:solidFill>
                            <a:srgbClr val="404040"/>
                          </a:solidFill>
                        </a:rPr>
                        <a:t>0.5 – 24.0</a:t>
                      </a:r>
                    </a:p>
                  </a:txBody>
                  <a:tcPr>
                    <a:solidFill>
                      <a:srgbClr val="FFFFFF"/>
                    </a:solidFill>
                  </a:tcPr>
                </a:tc>
                <a:tc>
                  <a:txBody>
                    <a:bodyPr/>
                    <a:lstStyle/>
                    <a:p>
                      <a:r>
                        <a:rPr sz="900">
                          <a:solidFill>
                            <a:srgbClr val="404040"/>
                          </a:solidFill>
                        </a:rPr>
                        <a:t>4.0 h</a:t>
                      </a:r>
                    </a:p>
                  </a:txBody>
                  <a:tcPr>
                    <a:solidFill>
                      <a:srgbClr val="FFFFFF"/>
                    </a:solidFill>
                  </a:tcPr>
                </a:tc>
                <a:tc>
                  <a:txBody>
                    <a:bodyPr/>
                    <a:lstStyle/>
                    <a:p>
                      <a:r>
                        <a:rPr sz="900">
                          <a:solidFill>
                            <a:srgbClr val="404040"/>
                          </a:solidFill>
                        </a:rPr>
                        <a:t>Storm event duration</a:t>
                      </a:r>
                    </a:p>
                  </a:txBody>
                  <a:tcPr>
                    <a:solidFill>
                      <a:srgbClr val="FFFFFF"/>
                    </a:solidFill>
                  </a:tcPr>
                </a:tc>
              </a:tr>
              <a:tr h="97971">
                <a:tc>
                  <a:txBody>
                    <a:bodyPr/>
                    <a:lstStyle/>
                    <a:p>
                      <a:r>
                        <a:rPr sz="900">
                          <a:solidFill>
                            <a:srgbClr val="404040"/>
                          </a:solidFill>
                        </a:rPr>
                        <a:t>Timestep (min)</a:t>
                      </a:r>
                    </a:p>
                  </a:txBody>
                  <a:tcPr>
                    <a:solidFill>
                      <a:srgbClr val="F2F2F2"/>
                    </a:solidFill>
                  </a:tcPr>
                </a:tc>
                <a:tc>
                  <a:txBody>
                    <a:bodyPr/>
                    <a:lstStyle/>
                    <a:p>
                      <a:r>
                        <a:rPr sz="900">
                          <a:solidFill>
                            <a:srgbClr val="404040"/>
                          </a:solidFill>
                        </a:rPr>
                        <a:t>1 – 60</a:t>
                      </a:r>
                    </a:p>
                  </a:txBody>
                  <a:tcPr>
                    <a:solidFill>
                      <a:srgbClr val="F2F2F2"/>
                    </a:solidFill>
                  </a:tcPr>
                </a:tc>
                <a:tc>
                  <a:txBody>
                    <a:bodyPr/>
                    <a:lstStyle/>
                    <a:p>
                      <a:r>
                        <a:rPr sz="900">
                          <a:solidFill>
                            <a:srgbClr val="404040"/>
                          </a:solidFill>
                        </a:rPr>
                        <a:t>10 min</a:t>
                      </a:r>
                    </a:p>
                  </a:txBody>
                  <a:tcPr>
                    <a:solidFill>
                      <a:srgbClr val="F2F2F2"/>
                    </a:solidFill>
                  </a:tcPr>
                </a:tc>
                <a:tc>
                  <a:txBody>
                    <a:bodyPr/>
                    <a:lstStyle/>
                    <a:p>
                      <a:r>
                        <a:rPr sz="900">
                          <a:solidFill>
                            <a:srgbClr val="404040"/>
                          </a:solidFill>
                        </a:rPr>
                        <a:t>Simulation time increment</a:t>
                      </a:r>
                    </a:p>
                  </a:txBody>
                  <a:tcPr>
                    <a:solidFill>
                      <a:srgbClr val="F2F2F2"/>
                    </a:solidFill>
                  </a:tcPr>
                </a:tc>
              </a:tr>
              <a:tr h="97971">
                <a:tc>
                  <a:txBody>
                    <a:bodyPr/>
                    <a:lstStyle/>
                    <a:p>
                      <a:r>
                        <a:rPr sz="900">
                          <a:solidFill>
                            <a:srgbClr val="404040"/>
                          </a:solidFill>
                        </a:rPr>
                        <a:t>Wind Speed (km/h)</a:t>
                      </a:r>
                    </a:p>
                  </a:txBody>
                  <a:tcPr>
                    <a:solidFill>
                      <a:srgbClr val="FFFFFF"/>
                    </a:solidFill>
                  </a:tcPr>
                </a:tc>
                <a:tc>
                  <a:txBody>
                    <a:bodyPr/>
                    <a:lstStyle/>
                    <a:p>
                      <a:r>
                        <a:rPr sz="900">
                          <a:solidFill>
                            <a:srgbClr val="404040"/>
                          </a:solidFill>
                        </a:rPr>
                        <a:t>0 – 200</a:t>
                      </a:r>
                    </a:p>
                  </a:txBody>
                  <a:tcPr>
                    <a:solidFill>
                      <a:srgbClr val="FFFFFF"/>
                    </a:solidFill>
                  </a:tcPr>
                </a:tc>
                <a:tc>
                  <a:txBody>
                    <a:bodyPr/>
                    <a:lstStyle/>
                    <a:p>
                      <a:r>
                        <a:rPr sz="900">
                          <a:solidFill>
                            <a:srgbClr val="404040"/>
                          </a:solidFill>
                        </a:rPr>
                        <a:t>0</a:t>
                      </a:r>
                    </a:p>
                  </a:txBody>
                  <a:tcPr>
                    <a:solidFill>
                      <a:srgbClr val="FFFFFF"/>
                    </a:solidFill>
                  </a:tcPr>
                </a:tc>
                <a:tc>
                  <a:txBody>
                    <a:bodyPr/>
                    <a:lstStyle/>
                    <a:p>
                      <a:r>
                        <a:rPr sz="900">
                          <a:solidFill>
                            <a:srgbClr val="404040"/>
                          </a:solidFill>
                        </a:rPr>
                        <a:t>Modifies spatial rainfall distribution</a:t>
                      </a:r>
                    </a:p>
                  </a:txBody>
                  <a:tcPr>
                    <a:solidFill>
                      <a:srgbClr val="FFFFFF"/>
                    </a:solidFill>
                  </a:tcPr>
                </a:tc>
              </a:tr>
              <a:tr h="97971">
                <a:tc>
                  <a:txBody>
                    <a:bodyPr/>
                    <a:lstStyle/>
                    <a:p>
                      <a:r>
                        <a:rPr sz="900">
                          <a:solidFill>
                            <a:srgbClr val="404040"/>
                          </a:solidFill>
                        </a:rPr>
                        <a:t>Soil Saturation (%)</a:t>
                      </a:r>
                    </a:p>
                  </a:txBody>
                  <a:tcPr>
                    <a:solidFill>
                      <a:srgbClr val="F2F2F2"/>
                    </a:solidFill>
                  </a:tcPr>
                </a:tc>
                <a:tc>
                  <a:txBody>
                    <a:bodyPr/>
                    <a:lstStyle/>
                    <a:p>
                      <a:r>
                        <a:rPr sz="900">
                          <a:solidFill>
                            <a:srgbClr val="404040"/>
                          </a:solidFill>
                        </a:rPr>
                        <a:t>0 – 100</a:t>
                      </a:r>
                    </a:p>
                  </a:txBody>
                  <a:tcPr>
                    <a:solidFill>
                      <a:srgbClr val="F2F2F2"/>
                    </a:solidFill>
                  </a:tcPr>
                </a:tc>
                <a:tc>
                  <a:txBody>
                    <a:bodyPr/>
                    <a:lstStyle/>
                    <a:p>
                      <a:r>
                        <a:rPr sz="900">
                          <a:solidFill>
                            <a:srgbClr val="404040"/>
                          </a:solidFill>
                        </a:rPr>
                        <a:t>30%</a:t>
                      </a:r>
                    </a:p>
                  </a:txBody>
                  <a:tcPr>
                    <a:solidFill>
                      <a:srgbClr val="F2F2F2"/>
                    </a:solidFill>
                  </a:tcPr>
                </a:tc>
                <a:tc>
                  <a:txBody>
                    <a:bodyPr/>
                    <a:lstStyle/>
                    <a:p>
                      <a:r>
                        <a:rPr sz="900">
                          <a:solidFill>
                            <a:srgbClr val="404040"/>
                          </a:solidFill>
                        </a:rPr>
                        <a:t>Initial soil moisture condition</a:t>
                      </a:r>
                    </a:p>
                  </a:txBody>
                  <a:tcPr>
                    <a:solidFill>
                      <a:srgbClr val="F2F2F2"/>
                    </a:solidFill>
                  </a:tcPr>
                </a:tc>
              </a:tr>
              <a:tr h="97974">
                <a:tc>
                  <a:txBody>
                    <a:bodyPr/>
                    <a:lstStyle/>
                    <a:p>
                      <a:r>
                        <a:rPr sz="900">
                          <a:solidFill>
                            <a:srgbClr val="404040"/>
                          </a:solidFill>
                        </a:rPr>
                        <a:t>Drainage Capacity (mm/hr)</a:t>
                      </a:r>
                    </a:p>
                  </a:txBody>
                  <a:tcPr>
                    <a:solidFill>
                      <a:srgbClr val="FFFFFF"/>
                    </a:solidFill>
                  </a:tcPr>
                </a:tc>
                <a:tc>
                  <a:txBody>
                    <a:bodyPr/>
                    <a:lstStyle/>
                    <a:p>
                      <a:r>
                        <a:rPr sz="900">
                          <a:solidFill>
                            <a:srgbClr val="404040"/>
                          </a:solidFill>
                        </a:rPr>
                        <a:t>0 – 30</a:t>
                      </a:r>
                    </a:p>
                  </a:txBody>
                  <a:tcPr>
                    <a:solidFill>
                      <a:srgbClr val="FFFFFF"/>
                    </a:solidFill>
                  </a:tcPr>
                </a:tc>
                <a:tc>
                  <a:txBody>
                    <a:bodyPr/>
                    <a:lstStyle/>
                    <a:p>
                      <a:r>
                        <a:rPr sz="900">
                          <a:solidFill>
                            <a:srgbClr val="404040"/>
                          </a:solidFill>
                        </a:rPr>
                        <a:t>5.0</a:t>
                      </a:r>
                    </a:p>
                  </a:txBody>
                  <a:tcPr>
                    <a:solidFill>
                      <a:srgbClr val="FFFFFF"/>
                    </a:solidFill>
                  </a:tcPr>
                </a:tc>
                <a:tc>
                  <a:txBody>
                    <a:bodyPr/>
                    <a:lstStyle/>
                    <a:p>
                      <a:r>
                        <a:rPr sz="900">
                          <a:solidFill>
                            <a:srgbClr val="404040"/>
                          </a:solidFill>
                        </a:rPr>
                        <a:t>Baseline grid drainage rate</a:t>
                      </a:r>
                    </a:p>
                  </a:txBody>
                  <a:tcPr>
                    <a:solidFill>
                      <a:srgbClr val="FFFFF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88952" cy="36576"/>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 y="91440"/>
            <a:ext cx="685800" cy="777240"/>
          </a:xfrm>
          <a:prstGeom prst="rect">
            <a:avLst/>
          </a:prstGeom>
          <a:noFill/>
        </p:spPr>
        <p:txBody>
          <a:bodyPr wrap="square">
            <a:spAutoFit/>
          </a:bodyPr>
          <a:lstStyle/>
          <a:p>
            <a:pPr algn="ctr"/>
            <a:r>
              <a:rPr sz="3000" b="1" i="0">
                <a:solidFill>
                  <a:srgbClr val="FFC000"/>
                </a:solidFill>
              </a:rPr>
              <a:t>06</a:t>
            </a:r>
          </a:p>
        </p:txBody>
      </p:sp>
      <p:sp>
        <p:nvSpPr>
          <p:cNvPr id="6" name="TextBox 5"/>
          <p:cNvSpPr txBox="1"/>
          <p:nvPr/>
        </p:nvSpPr>
        <p:spPr>
          <a:xfrm>
            <a:off x="868680" y="164592"/>
            <a:ext cx="10789920" cy="685800"/>
          </a:xfrm>
          <a:prstGeom prst="rect">
            <a:avLst/>
          </a:prstGeom>
          <a:noFill/>
        </p:spPr>
        <p:txBody>
          <a:bodyPr wrap="square">
            <a:spAutoFit/>
          </a:bodyPr>
          <a:lstStyle/>
          <a:p>
            <a:pPr algn="l"/>
            <a:r>
              <a:rPr sz="2200" b="1" i="0">
                <a:solidFill>
                  <a:srgbClr val="FFFFFF"/>
                </a:solidFill>
              </a:rPr>
              <a:t>Risk Zone Classification — HAND Model Results</a:t>
            </a:r>
          </a:p>
        </p:txBody>
      </p:sp>
      <p:sp>
        <p:nvSpPr>
          <p:cNvPr id="7" name="Rectangle 6"/>
          <p:cNvSpPr/>
          <p:nvPr/>
        </p:nvSpPr>
        <p:spPr>
          <a:xfrm>
            <a:off x="0" y="6492240"/>
            <a:ext cx="12188952" cy="36576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0" y="6510528"/>
            <a:ext cx="12188952" cy="320040"/>
          </a:xfrm>
          <a:prstGeom prst="rect">
            <a:avLst/>
          </a:prstGeom>
          <a:noFill/>
        </p:spPr>
        <p:txBody>
          <a:bodyPr wrap="square">
            <a:spAutoFit/>
          </a:bodyPr>
          <a:lstStyle/>
          <a:p>
            <a:pPr algn="ctr"/>
            <a:r>
              <a:rPr sz="900" b="0" i="0">
                <a:solidFill>
                  <a:srgbClr val="DBE5F1"/>
                </a:solidFill>
              </a:rPr>
              <a:t>Jade Valley Flood Risk Simulation  •  Risk Zone Analysis</a:t>
            </a:r>
          </a:p>
        </p:txBody>
      </p:sp>
      <p:sp>
        <p:nvSpPr>
          <p:cNvPr id="9" name="Rectangle 8"/>
          <p:cNvSpPr/>
          <p:nvPr/>
        </p:nvSpPr>
        <p:spPr>
          <a:xfrm>
            <a:off x="274320" y="1143000"/>
            <a:ext cx="5577840" cy="29260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84048" y="1179576"/>
            <a:ext cx="5440680" cy="256032"/>
          </a:xfrm>
          <a:prstGeom prst="rect">
            <a:avLst/>
          </a:prstGeom>
          <a:noFill/>
        </p:spPr>
        <p:txBody>
          <a:bodyPr wrap="square">
            <a:spAutoFit/>
          </a:bodyPr>
          <a:lstStyle/>
          <a:p>
            <a:pPr algn="l"/>
            <a:r>
              <a:rPr sz="1000" b="1" i="0">
                <a:solidFill>
                  <a:srgbClr val="FFFFFF"/>
                </a:solidFill>
              </a:rPr>
              <a:t>HAND MODEL METHODOLOGY</a:t>
            </a:r>
          </a:p>
        </p:txBody>
      </p:sp>
      <p:sp>
        <p:nvSpPr>
          <p:cNvPr id="11" name="TextBox 10"/>
          <p:cNvSpPr txBox="1"/>
          <p:nvPr/>
        </p:nvSpPr>
        <p:spPr>
          <a:xfrm>
            <a:off x="274320" y="1463040"/>
            <a:ext cx="5577840" cy="1463040"/>
          </a:xfrm>
          <a:prstGeom prst="rect">
            <a:avLst/>
          </a:prstGeom>
          <a:noFill/>
        </p:spPr>
        <p:txBody>
          <a:bodyPr wrap="square">
            <a:spAutoFit/>
          </a:bodyPr>
          <a:lstStyle/>
          <a:p>
            <a:pPr algn="l"/>
            <a:r>
              <a:rPr sz="1100" b="0" i="0">
                <a:solidFill>
                  <a:srgbClr val="404040"/>
                </a:solidFill>
              </a:rPr>
              <a:t>The Height Above Nearest Drainage (HAND) model computes the vertical distance from each terrain cell to the nearest drainage channel along the D8 flow path. Lower HAND values indicate higher flood susceptibility.
Steps: NoData fill → Gaussian smoothing (σ=0.5) → Priority-Flood sink fill → D8 flow direction → flow accumulation → stream delineation (top 5%) → HAND computation → flood scenario mapping → 5-class risk zonation.
Reference: Nobre et al. (2011) — Journal of Hydrology 404:13–29</a:t>
            </a:r>
          </a:p>
        </p:txBody>
      </p:sp>
      <p:sp>
        <p:nvSpPr>
          <p:cNvPr id="12" name="Rectangle 11"/>
          <p:cNvSpPr/>
          <p:nvPr/>
        </p:nvSpPr>
        <p:spPr>
          <a:xfrm>
            <a:off x="274320" y="3063240"/>
            <a:ext cx="5577840" cy="29260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84048" y="3099816"/>
            <a:ext cx="5440680" cy="256032"/>
          </a:xfrm>
          <a:prstGeom prst="rect">
            <a:avLst/>
          </a:prstGeom>
          <a:noFill/>
        </p:spPr>
        <p:txBody>
          <a:bodyPr wrap="square">
            <a:spAutoFit/>
          </a:bodyPr>
          <a:lstStyle/>
          <a:p>
            <a:pPr algn="l"/>
            <a:r>
              <a:rPr sz="1000" b="1" i="0">
                <a:solidFill>
                  <a:srgbClr val="FFFFFF"/>
                </a:solidFill>
              </a:rPr>
              <a:t>RETURN PERIOD FLOOD SCENARIOS</a:t>
            </a:r>
          </a:p>
        </p:txBody>
      </p:sp>
      <p:graphicFrame>
        <p:nvGraphicFramePr>
          <p:cNvPr id="14" name="Table 13"/>
          <p:cNvGraphicFramePr>
            <a:graphicFrameLocks noGrp="1"/>
          </p:cNvGraphicFramePr>
          <p:nvPr/>
        </p:nvGraphicFramePr>
        <p:xfrm>
          <a:off x="274320" y="3383280"/>
          <a:ext cx="5577840" cy="1600200"/>
        </p:xfrm>
        <a:graphic>
          <a:graphicData uri="http://schemas.openxmlformats.org/drawingml/2006/table">
            <a:tbl>
              <a:tblPr firstRow="1" bandRow="1">
                <a:tableStyleId>{5C22544A-7EE6-4342-B048-85BDC9FD1C3A}</a:tableStyleId>
              </a:tblPr>
              <a:tblGrid>
                <a:gridCol w="929640"/>
                <a:gridCol w="929640"/>
                <a:gridCol w="929640"/>
                <a:gridCol w="929640"/>
                <a:gridCol w="929640"/>
                <a:gridCol w="929640"/>
              </a:tblGrid>
              <a:tr h="320040">
                <a:tc>
                  <a:txBody>
                    <a:bodyPr/>
                    <a:lstStyle/>
                    <a:p>
                      <a:pPr algn="ctr"/>
                      <a:r>
                        <a:rPr b="1" sz="900">
                          <a:solidFill>
                            <a:srgbClr val="FFFFFF"/>
                          </a:solidFill>
                        </a:rPr>
                        <a:t>Return Period</a:t>
                      </a:r>
                    </a:p>
                  </a:txBody>
                  <a:tcPr>
                    <a:solidFill>
                      <a:srgbClr val="1F497D"/>
                    </a:solidFill>
                  </a:tcPr>
                </a:tc>
                <a:tc>
                  <a:txBody>
                    <a:bodyPr/>
                    <a:lstStyle/>
                    <a:p>
                      <a:pPr algn="ctr"/>
                      <a:r>
                        <a:rPr b="1" sz="900">
                          <a:solidFill>
                            <a:srgbClr val="FFFFFF"/>
                          </a:solidFill>
                        </a:rPr>
                        <a:t>HAND Threshold</a:t>
                      </a:r>
                    </a:p>
                  </a:txBody>
                  <a:tcPr>
                    <a:solidFill>
                      <a:srgbClr val="1F497D"/>
                    </a:solidFill>
                  </a:tcPr>
                </a:tc>
                <a:tc>
                  <a:txBody>
                    <a:bodyPr/>
                    <a:lstStyle/>
                    <a:p>
                      <a:pPr algn="ctr"/>
                      <a:r>
                        <a:rPr b="1" sz="900">
                          <a:solidFill>
                            <a:srgbClr val="FFFFFF"/>
                          </a:solidFill>
                        </a:rPr>
                        <a:t>Flooded Area</a:t>
                      </a:r>
                    </a:p>
                  </a:txBody>
                  <a:tcPr>
                    <a:solidFill>
                      <a:srgbClr val="1F497D"/>
                    </a:solidFill>
                  </a:tcPr>
                </a:tc>
                <a:tc>
                  <a:txBody>
                    <a:bodyPr/>
                    <a:lstStyle/>
                    <a:p>
                      <a:pPr algn="ctr"/>
                      <a:r>
                        <a:rPr b="1" sz="900">
                          <a:solidFill>
                            <a:srgbClr val="FFFFFF"/>
                          </a:solidFill>
                        </a:rPr>
                        <a:t>% of Study</a:t>
                      </a:r>
                    </a:p>
                  </a:txBody>
                  <a:tcPr>
                    <a:solidFill>
                      <a:srgbClr val="1F497D"/>
                    </a:solidFill>
                  </a:tcPr>
                </a:tc>
                <a:tc>
                  <a:txBody>
                    <a:bodyPr/>
                    <a:lstStyle/>
                    <a:p>
                      <a:pPr algn="ctr"/>
                      <a:r>
                        <a:rPr b="1" sz="900">
                          <a:solidFill>
                            <a:srgbClr val="FFFFFF"/>
                          </a:solidFill>
                        </a:rPr>
                        <a:t>Mean Depth</a:t>
                      </a:r>
                    </a:p>
                  </a:txBody>
                  <a:tcPr>
                    <a:solidFill>
                      <a:srgbClr val="1F497D"/>
                    </a:solidFill>
                  </a:tcPr>
                </a:tc>
                <a:tc>
                  <a:txBody>
                    <a:bodyPr/>
                    <a:lstStyle/>
                    <a:p>
                      <a:pPr algn="ctr"/>
                      <a:r>
                        <a:rPr b="1" sz="900">
                          <a:solidFill>
                            <a:srgbClr val="FFFFFF"/>
                          </a:solidFill>
                        </a:rPr>
                        <a:t>Max Depth</a:t>
                      </a:r>
                    </a:p>
                  </a:txBody>
                  <a:tcPr>
                    <a:solidFill>
                      <a:srgbClr val="1F497D"/>
                    </a:solidFill>
                  </a:tcPr>
                </a:tc>
              </a:tr>
              <a:tr h="320040">
                <a:tc>
                  <a:txBody>
                    <a:bodyPr/>
                    <a:lstStyle/>
                    <a:p>
                      <a:r>
                        <a:rPr sz="900">
                          <a:solidFill>
                            <a:srgbClr val="404040"/>
                          </a:solidFill>
                        </a:rPr>
                        <a:t>5-Year</a:t>
                      </a:r>
                    </a:p>
                  </a:txBody>
                  <a:tcPr>
                    <a:solidFill>
                      <a:srgbClr val="F2F2F2"/>
                    </a:solidFill>
                  </a:tcPr>
                </a:tc>
                <a:tc>
                  <a:txBody>
                    <a:bodyPr/>
                    <a:lstStyle/>
                    <a:p>
                      <a:r>
                        <a:rPr sz="900">
                          <a:solidFill>
                            <a:srgbClr val="404040"/>
                          </a:solidFill>
                        </a:rPr>
                        <a:t>1.0 m HAND</a:t>
                      </a:r>
                    </a:p>
                  </a:txBody>
                  <a:tcPr>
                    <a:solidFill>
                      <a:srgbClr val="F2F2F2"/>
                    </a:solidFill>
                  </a:tcPr>
                </a:tc>
                <a:tc>
                  <a:txBody>
                    <a:bodyPr/>
                    <a:lstStyle/>
                    <a:p>
                      <a:r>
                        <a:rPr sz="900">
                          <a:solidFill>
                            <a:srgbClr val="404040"/>
                          </a:solidFill>
                        </a:rPr>
                        <a:t>51.64 ha</a:t>
                      </a:r>
                    </a:p>
                  </a:txBody>
                  <a:tcPr>
                    <a:solidFill>
                      <a:srgbClr val="F2F2F2"/>
                    </a:solidFill>
                  </a:tcPr>
                </a:tc>
                <a:tc>
                  <a:txBody>
                    <a:bodyPr/>
                    <a:lstStyle/>
                    <a:p>
                      <a:r>
                        <a:rPr sz="900">
                          <a:solidFill>
                            <a:srgbClr val="404040"/>
                          </a:solidFill>
                        </a:rPr>
                        <a:t>15.8%</a:t>
                      </a:r>
                    </a:p>
                  </a:txBody>
                  <a:tcPr>
                    <a:solidFill>
                      <a:srgbClr val="F2F2F2"/>
                    </a:solidFill>
                  </a:tcPr>
                </a:tc>
                <a:tc>
                  <a:txBody>
                    <a:bodyPr/>
                    <a:lstStyle/>
                    <a:p>
                      <a:r>
                        <a:rPr sz="900">
                          <a:solidFill>
                            <a:srgbClr val="404040"/>
                          </a:solidFill>
                        </a:rPr>
                        <a:t>0.73 m</a:t>
                      </a:r>
                    </a:p>
                  </a:txBody>
                  <a:tcPr>
                    <a:solidFill>
                      <a:srgbClr val="F2F2F2"/>
                    </a:solidFill>
                  </a:tcPr>
                </a:tc>
                <a:tc>
                  <a:txBody>
                    <a:bodyPr/>
                    <a:lstStyle/>
                    <a:p>
                      <a:r>
                        <a:rPr sz="900">
                          <a:solidFill>
                            <a:srgbClr val="404040"/>
                          </a:solidFill>
                        </a:rPr>
                        <a:t>1.00 m</a:t>
                      </a:r>
                    </a:p>
                  </a:txBody>
                  <a:tcPr>
                    <a:solidFill>
                      <a:srgbClr val="F2F2F2"/>
                    </a:solidFill>
                  </a:tcPr>
                </a:tc>
              </a:tr>
              <a:tr h="320040">
                <a:tc>
                  <a:txBody>
                    <a:bodyPr/>
                    <a:lstStyle/>
                    <a:p>
                      <a:r>
                        <a:rPr sz="900">
                          <a:solidFill>
                            <a:srgbClr val="404040"/>
                          </a:solidFill>
                        </a:rPr>
                        <a:t>10-Year</a:t>
                      </a:r>
                    </a:p>
                  </a:txBody>
                  <a:tcPr>
                    <a:solidFill>
                      <a:srgbClr val="FFFFFF"/>
                    </a:solidFill>
                  </a:tcPr>
                </a:tc>
                <a:tc>
                  <a:txBody>
                    <a:bodyPr/>
                    <a:lstStyle/>
                    <a:p>
                      <a:r>
                        <a:rPr sz="900">
                          <a:solidFill>
                            <a:srgbClr val="404040"/>
                          </a:solidFill>
                        </a:rPr>
                        <a:t>2.0 m HAND</a:t>
                      </a:r>
                    </a:p>
                  </a:txBody>
                  <a:tcPr>
                    <a:solidFill>
                      <a:srgbClr val="FFFFFF"/>
                    </a:solidFill>
                  </a:tcPr>
                </a:tc>
                <a:tc>
                  <a:txBody>
                    <a:bodyPr/>
                    <a:lstStyle/>
                    <a:p>
                      <a:r>
                        <a:rPr sz="900">
                          <a:solidFill>
                            <a:srgbClr val="404040"/>
                          </a:solidFill>
                        </a:rPr>
                        <a:t>70.04 ha</a:t>
                      </a:r>
                    </a:p>
                  </a:txBody>
                  <a:tcPr>
                    <a:solidFill>
                      <a:srgbClr val="FFFFFF"/>
                    </a:solidFill>
                  </a:tcPr>
                </a:tc>
                <a:tc>
                  <a:txBody>
                    <a:bodyPr/>
                    <a:lstStyle/>
                    <a:p>
                      <a:r>
                        <a:rPr sz="900">
                          <a:solidFill>
                            <a:srgbClr val="404040"/>
                          </a:solidFill>
                        </a:rPr>
                        <a:t>21.5%</a:t>
                      </a:r>
                    </a:p>
                  </a:txBody>
                  <a:tcPr>
                    <a:solidFill>
                      <a:srgbClr val="FFFFFF"/>
                    </a:solidFill>
                  </a:tcPr>
                </a:tc>
                <a:tc>
                  <a:txBody>
                    <a:bodyPr/>
                    <a:lstStyle/>
                    <a:p>
                      <a:r>
                        <a:rPr sz="900">
                          <a:solidFill>
                            <a:srgbClr val="404040"/>
                          </a:solidFill>
                        </a:rPr>
                        <a:t>1.41 m</a:t>
                      </a:r>
                    </a:p>
                  </a:txBody>
                  <a:tcPr>
                    <a:solidFill>
                      <a:srgbClr val="FFFFFF"/>
                    </a:solidFill>
                  </a:tcPr>
                </a:tc>
                <a:tc>
                  <a:txBody>
                    <a:bodyPr/>
                    <a:lstStyle/>
                    <a:p>
                      <a:r>
                        <a:rPr sz="900">
                          <a:solidFill>
                            <a:srgbClr val="404040"/>
                          </a:solidFill>
                        </a:rPr>
                        <a:t>2.00 m</a:t>
                      </a:r>
                    </a:p>
                  </a:txBody>
                  <a:tcPr>
                    <a:solidFill>
                      <a:srgbClr val="FFFFFF"/>
                    </a:solidFill>
                  </a:tcPr>
                </a:tc>
              </a:tr>
              <a:tr h="320040">
                <a:tc>
                  <a:txBody>
                    <a:bodyPr/>
                    <a:lstStyle/>
                    <a:p>
                      <a:r>
                        <a:rPr sz="900">
                          <a:solidFill>
                            <a:srgbClr val="404040"/>
                          </a:solidFill>
                        </a:rPr>
                        <a:t>25-Year</a:t>
                      </a:r>
                    </a:p>
                  </a:txBody>
                  <a:tcPr>
                    <a:solidFill>
                      <a:srgbClr val="F2F2F2"/>
                    </a:solidFill>
                  </a:tcPr>
                </a:tc>
                <a:tc>
                  <a:txBody>
                    <a:bodyPr/>
                    <a:lstStyle/>
                    <a:p>
                      <a:r>
                        <a:rPr sz="900">
                          <a:solidFill>
                            <a:srgbClr val="404040"/>
                          </a:solidFill>
                        </a:rPr>
                        <a:t>3.5 m HAND</a:t>
                      </a:r>
                    </a:p>
                  </a:txBody>
                  <a:tcPr>
                    <a:solidFill>
                      <a:srgbClr val="F2F2F2"/>
                    </a:solidFill>
                  </a:tcPr>
                </a:tc>
                <a:tc>
                  <a:txBody>
                    <a:bodyPr/>
                    <a:lstStyle/>
                    <a:p>
                      <a:r>
                        <a:rPr sz="900">
                          <a:solidFill>
                            <a:srgbClr val="404040"/>
                          </a:solidFill>
                        </a:rPr>
                        <a:t>90.03 ha</a:t>
                      </a:r>
                    </a:p>
                  </a:txBody>
                  <a:tcPr>
                    <a:solidFill>
                      <a:srgbClr val="F2F2F2"/>
                    </a:solidFill>
                  </a:tcPr>
                </a:tc>
                <a:tc>
                  <a:txBody>
                    <a:bodyPr/>
                    <a:lstStyle/>
                    <a:p>
                      <a:r>
                        <a:rPr sz="900">
                          <a:solidFill>
                            <a:srgbClr val="404040"/>
                          </a:solidFill>
                        </a:rPr>
                        <a:t>27.6%</a:t>
                      </a:r>
                    </a:p>
                  </a:txBody>
                  <a:tcPr>
                    <a:solidFill>
                      <a:srgbClr val="F2F2F2"/>
                    </a:solidFill>
                  </a:tcPr>
                </a:tc>
                <a:tc>
                  <a:txBody>
                    <a:bodyPr/>
                    <a:lstStyle/>
                    <a:p>
                      <a:r>
                        <a:rPr sz="900">
                          <a:solidFill>
                            <a:srgbClr val="404040"/>
                          </a:solidFill>
                        </a:rPr>
                        <a:t>2.43 m</a:t>
                      </a:r>
                    </a:p>
                  </a:txBody>
                  <a:tcPr>
                    <a:solidFill>
                      <a:srgbClr val="F2F2F2"/>
                    </a:solidFill>
                  </a:tcPr>
                </a:tc>
                <a:tc>
                  <a:txBody>
                    <a:bodyPr/>
                    <a:lstStyle/>
                    <a:p>
                      <a:r>
                        <a:rPr sz="900">
                          <a:solidFill>
                            <a:srgbClr val="404040"/>
                          </a:solidFill>
                        </a:rPr>
                        <a:t>3.50 m</a:t>
                      </a:r>
                    </a:p>
                  </a:txBody>
                  <a:tcPr>
                    <a:solidFill>
                      <a:srgbClr val="F2F2F2"/>
                    </a:solidFill>
                  </a:tcPr>
                </a:tc>
              </a:tr>
              <a:tr h="320040">
                <a:tc>
                  <a:txBody>
                    <a:bodyPr/>
                    <a:lstStyle/>
                    <a:p>
                      <a:r>
                        <a:rPr sz="900">
                          <a:solidFill>
                            <a:srgbClr val="404040"/>
                          </a:solidFill>
                        </a:rPr>
                        <a:t>100-Year</a:t>
                      </a:r>
                    </a:p>
                  </a:txBody>
                  <a:tcPr>
                    <a:solidFill>
                      <a:srgbClr val="FFFFFF"/>
                    </a:solidFill>
                  </a:tcPr>
                </a:tc>
                <a:tc>
                  <a:txBody>
                    <a:bodyPr/>
                    <a:lstStyle/>
                    <a:p>
                      <a:r>
                        <a:rPr sz="900">
                          <a:solidFill>
                            <a:srgbClr val="404040"/>
                          </a:solidFill>
                        </a:rPr>
                        <a:t>6.0 m HAND</a:t>
                      </a:r>
                    </a:p>
                  </a:txBody>
                  <a:tcPr>
                    <a:solidFill>
                      <a:srgbClr val="FFFFFF"/>
                    </a:solidFill>
                  </a:tcPr>
                </a:tc>
                <a:tc>
                  <a:txBody>
                    <a:bodyPr/>
                    <a:lstStyle/>
                    <a:p>
                      <a:r>
                        <a:rPr sz="900">
                          <a:solidFill>
                            <a:srgbClr val="404040"/>
                          </a:solidFill>
                        </a:rPr>
                        <a:t>115.76 ha</a:t>
                      </a:r>
                    </a:p>
                  </a:txBody>
                  <a:tcPr>
                    <a:solidFill>
                      <a:srgbClr val="FFFFFF"/>
                    </a:solidFill>
                  </a:tcPr>
                </a:tc>
                <a:tc>
                  <a:txBody>
                    <a:bodyPr/>
                    <a:lstStyle/>
                    <a:p>
                      <a:r>
                        <a:rPr sz="900">
                          <a:solidFill>
                            <a:srgbClr val="404040"/>
                          </a:solidFill>
                        </a:rPr>
                        <a:t>35.5%</a:t>
                      </a:r>
                    </a:p>
                  </a:txBody>
                  <a:tcPr>
                    <a:solidFill>
                      <a:srgbClr val="FFFFFF"/>
                    </a:solidFill>
                  </a:tcPr>
                </a:tc>
                <a:tc>
                  <a:txBody>
                    <a:bodyPr/>
                    <a:lstStyle/>
                    <a:p>
                      <a:r>
                        <a:rPr sz="900">
                          <a:solidFill>
                            <a:srgbClr val="404040"/>
                          </a:solidFill>
                        </a:rPr>
                        <a:t>4.12 m</a:t>
                      </a:r>
                    </a:p>
                  </a:txBody>
                  <a:tcPr>
                    <a:solidFill>
                      <a:srgbClr val="FFFFFF"/>
                    </a:solidFill>
                  </a:tcPr>
                </a:tc>
                <a:tc>
                  <a:txBody>
                    <a:bodyPr/>
                    <a:lstStyle/>
                    <a:p>
                      <a:r>
                        <a:rPr sz="900">
                          <a:solidFill>
                            <a:srgbClr val="404040"/>
                          </a:solidFill>
                        </a:rPr>
                        <a:t>6.00 m</a:t>
                      </a:r>
                    </a:p>
                  </a:txBody>
                  <a:tcPr>
                    <a:solidFill>
                      <a:srgbClr val="FFFFFF"/>
                    </a:solidFill>
                  </a:tcPr>
                </a:tc>
              </a:tr>
            </a:tbl>
          </a:graphicData>
        </a:graphic>
      </p:graphicFrame>
      <p:sp>
        <p:nvSpPr>
          <p:cNvPr id="15" name="Rectangle 14"/>
          <p:cNvSpPr/>
          <p:nvPr/>
        </p:nvSpPr>
        <p:spPr>
          <a:xfrm>
            <a:off x="6080760" y="1143000"/>
            <a:ext cx="5806440" cy="29260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90488" y="1179576"/>
            <a:ext cx="5669280" cy="256032"/>
          </a:xfrm>
          <a:prstGeom prst="rect">
            <a:avLst/>
          </a:prstGeom>
          <a:noFill/>
        </p:spPr>
        <p:txBody>
          <a:bodyPr wrap="square">
            <a:spAutoFit/>
          </a:bodyPr>
          <a:lstStyle/>
          <a:p>
            <a:pPr algn="l"/>
            <a:r>
              <a:rPr sz="1000" b="1" i="0">
                <a:solidFill>
                  <a:srgbClr val="FFFFFF"/>
                </a:solidFill>
              </a:rPr>
              <a:t>5-CLASS RISK ZONE BREAKDOWN</a:t>
            </a:r>
          </a:p>
        </p:txBody>
      </p:sp>
      <p:sp>
        <p:nvSpPr>
          <p:cNvPr id="17" name="Rectangle 16"/>
          <p:cNvSpPr/>
          <p:nvPr/>
        </p:nvSpPr>
        <p:spPr>
          <a:xfrm>
            <a:off x="6080760" y="1463040"/>
            <a:ext cx="5806440" cy="914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080760" y="1463040"/>
            <a:ext cx="228600" cy="91440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73368" y="1517904"/>
            <a:ext cx="2331720" cy="274320"/>
          </a:xfrm>
          <a:prstGeom prst="rect">
            <a:avLst/>
          </a:prstGeom>
          <a:noFill/>
        </p:spPr>
        <p:txBody>
          <a:bodyPr wrap="square">
            <a:spAutoFit/>
          </a:bodyPr>
          <a:lstStyle/>
          <a:p>
            <a:pPr algn="l"/>
            <a:r>
              <a:rPr sz="1000" b="1" i="0">
                <a:solidFill>
                  <a:srgbClr val="1F497D"/>
                </a:solidFill>
              </a:rPr>
              <a:t>Very High Risk</a:t>
            </a:r>
          </a:p>
        </p:txBody>
      </p:sp>
      <p:sp>
        <p:nvSpPr>
          <p:cNvPr id="20" name="TextBox 19"/>
          <p:cNvSpPr txBox="1"/>
          <p:nvPr/>
        </p:nvSpPr>
        <p:spPr>
          <a:xfrm>
            <a:off x="6373368" y="1810512"/>
            <a:ext cx="2331720" cy="274320"/>
          </a:xfrm>
          <a:prstGeom prst="rect">
            <a:avLst/>
          </a:prstGeom>
          <a:noFill/>
        </p:spPr>
        <p:txBody>
          <a:bodyPr wrap="square">
            <a:spAutoFit/>
          </a:bodyPr>
          <a:lstStyle/>
          <a:p>
            <a:pPr algn="l"/>
            <a:r>
              <a:rPr sz="1300" b="1" i="0">
                <a:solidFill>
                  <a:srgbClr val="C00000"/>
                </a:solidFill>
              </a:rPr>
              <a:t>26.66 ha  (8.2%)</a:t>
            </a:r>
          </a:p>
        </p:txBody>
      </p:sp>
      <p:sp>
        <p:nvSpPr>
          <p:cNvPr id="21" name="TextBox 20"/>
          <p:cNvSpPr txBox="1"/>
          <p:nvPr/>
        </p:nvSpPr>
        <p:spPr>
          <a:xfrm>
            <a:off x="8796528" y="1572768"/>
            <a:ext cx="2971800" cy="713232"/>
          </a:xfrm>
          <a:prstGeom prst="rect">
            <a:avLst/>
          </a:prstGeom>
          <a:noFill/>
        </p:spPr>
        <p:txBody>
          <a:bodyPr wrap="square">
            <a:spAutoFit/>
          </a:bodyPr>
          <a:lstStyle/>
          <a:p>
            <a:pPr algn="l"/>
            <a:r>
              <a:rPr sz="1000" b="0" i="0">
                <a:solidFill>
                  <a:srgbClr val="404040"/>
                </a:solidFill>
              </a:rPr>
              <a:t>Floods at Heavy Rain (≥90 mm). Mandatory evacuation during typhoons.</a:t>
            </a:r>
          </a:p>
        </p:txBody>
      </p:sp>
      <p:sp>
        <p:nvSpPr>
          <p:cNvPr id="22" name="Rectangle 21"/>
          <p:cNvSpPr/>
          <p:nvPr/>
        </p:nvSpPr>
        <p:spPr>
          <a:xfrm>
            <a:off x="6080760" y="2423160"/>
            <a:ext cx="5806440" cy="914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080760" y="2423160"/>
            <a:ext cx="228600" cy="914400"/>
          </a:xfrm>
          <a:prstGeom prst="rect">
            <a:avLst/>
          </a:prstGeom>
          <a:solidFill>
            <a:srgbClr val="FF7F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73368" y="2478024"/>
            <a:ext cx="2331720" cy="274320"/>
          </a:xfrm>
          <a:prstGeom prst="rect">
            <a:avLst/>
          </a:prstGeom>
          <a:noFill/>
        </p:spPr>
        <p:txBody>
          <a:bodyPr wrap="square">
            <a:spAutoFit/>
          </a:bodyPr>
          <a:lstStyle/>
          <a:p>
            <a:pPr algn="l"/>
            <a:r>
              <a:rPr sz="1000" b="1" i="0">
                <a:solidFill>
                  <a:srgbClr val="1F497D"/>
                </a:solidFill>
              </a:rPr>
              <a:t>High Risk</a:t>
            </a:r>
          </a:p>
        </p:txBody>
      </p:sp>
      <p:sp>
        <p:nvSpPr>
          <p:cNvPr id="25" name="TextBox 24"/>
          <p:cNvSpPr txBox="1"/>
          <p:nvPr/>
        </p:nvSpPr>
        <p:spPr>
          <a:xfrm>
            <a:off x="6373368" y="2770632"/>
            <a:ext cx="2331720" cy="274320"/>
          </a:xfrm>
          <a:prstGeom prst="rect">
            <a:avLst/>
          </a:prstGeom>
          <a:noFill/>
        </p:spPr>
        <p:txBody>
          <a:bodyPr wrap="square">
            <a:spAutoFit/>
          </a:bodyPr>
          <a:lstStyle/>
          <a:p>
            <a:pPr algn="l"/>
            <a:r>
              <a:rPr sz="1300" b="1" i="0">
                <a:solidFill>
                  <a:srgbClr val="FF7F27"/>
                </a:solidFill>
              </a:rPr>
              <a:t>31.83 ha  (9.7%)</a:t>
            </a:r>
          </a:p>
        </p:txBody>
      </p:sp>
      <p:sp>
        <p:nvSpPr>
          <p:cNvPr id="26" name="TextBox 25"/>
          <p:cNvSpPr txBox="1"/>
          <p:nvPr/>
        </p:nvSpPr>
        <p:spPr>
          <a:xfrm>
            <a:off x="8796528" y="2532888"/>
            <a:ext cx="2971800" cy="713232"/>
          </a:xfrm>
          <a:prstGeom prst="rect">
            <a:avLst/>
          </a:prstGeom>
          <a:noFill/>
        </p:spPr>
        <p:txBody>
          <a:bodyPr wrap="square">
            <a:spAutoFit/>
          </a:bodyPr>
          <a:lstStyle/>
          <a:p>
            <a:pPr algn="l"/>
            <a:r>
              <a:rPr sz="1000" b="0" i="0">
                <a:solidFill>
                  <a:srgbClr val="404040"/>
                </a:solidFill>
              </a:rPr>
              <a:t>Floods at Typhoon Signal 1 (≥150 mm). Pre-evacuation alert.</a:t>
            </a:r>
          </a:p>
        </p:txBody>
      </p:sp>
      <p:sp>
        <p:nvSpPr>
          <p:cNvPr id="27" name="Rectangle 26"/>
          <p:cNvSpPr/>
          <p:nvPr/>
        </p:nvSpPr>
        <p:spPr>
          <a:xfrm>
            <a:off x="6080760" y="3383280"/>
            <a:ext cx="5806440" cy="914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080760" y="3383280"/>
            <a:ext cx="228600" cy="914400"/>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73368" y="3438144"/>
            <a:ext cx="2331720" cy="274320"/>
          </a:xfrm>
          <a:prstGeom prst="rect">
            <a:avLst/>
          </a:prstGeom>
          <a:noFill/>
        </p:spPr>
        <p:txBody>
          <a:bodyPr wrap="square">
            <a:spAutoFit/>
          </a:bodyPr>
          <a:lstStyle/>
          <a:p>
            <a:pPr algn="l"/>
            <a:r>
              <a:rPr sz="1000" b="1" i="0">
                <a:solidFill>
                  <a:srgbClr val="1F497D"/>
                </a:solidFill>
              </a:rPr>
              <a:t>Medium Risk</a:t>
            </a:r>
          </a:p>
        </p:txBody>
      </p:sp>
      <p:sp>
        <p:nvSpPr>
          <p:cNvPr id="30" name="TextBox 29"/>
          <p:cNvSpPr txBox="1"/>
          <p:nvPr/>
        </p:nvSpPr>
        <p:spPr>
          <a:xfrm>
            <a:off x="6373368" y="3730752"/>
            <a:ext cx="2331720" cy="274320"/>
          </a:xfrm>
          <a:prstGeom prst="rect">
            <a:avLst/>
          </a:prstGeom>
          <a:noFill/>
        </p:spPr>
        <p:txBody>
          <a:bodyPr wrap="square">
            <a:spAutoFit/>
          </a:bodyPr>
          <a:lstStyle/>
          <a:p>
            <a:pPr algn="l"/>
            <a:r>
              <a:rPr sz="1300" b="1" i="0">
                <a:solidFill>
                  <a:srgbClr val="FFC000"/>
                </a:solidFill>
              </a:rPr>
              <a:t>32.30 ha  (9.9%)</a:t>
            </a:r>
          </a:p>
        </p:txBody>
      </p:sp>
      <p:sp>
        <p:nvSpPr>
          <p:cNvPr id="31" name="TextBox 30"/>
          <p:cNvSpPr txBox="1"/>
          <p:nvPr/>
        </p:nvSpPr>
        <p:spPr>
          <a:xfrm>
            <a:off x="8796528" y="3493008"/>
            <a:ext cx="2971800" cy="713232"/>
          </a:xfrm>
          <a:prstGeom prst="rect">
            <a:avLst/>
          </a:prstGeom>
          <a:noFill/>
        </p:spPr>
        <p:txBody>
          <a:bodyPr wrap="square">
            <a:spAutoFit/>
          </a:bodyPr>
          <a:lstStyle/>
          <a:p>
            <a:pPr algn="l"/>
            <a:r>
              <a:rPr sz="1000" b="0" i="0">
                <a:solidFill>
                  <a:srgbClr val="404040"/>
                </a:solidFill>
              </a:rPr>
              <a:t>Floods at Typhoon Signal 2 (≥250 mm). Monitor PAGASA advisories closely.</a:t>
            </a:r>
          </a:p>
        </p:txBody>
      </p:sp>
      <p:sp>
        <p:nvSpPr>
          <p:cNvPr id="32" name="Rectangle 31"/>
          <p:cNvSpPr/>
          <p:nvPr/>
        </p:nvSpPr>
        <p:spPr>
          <a:xfrm>
            <a:off x="6080760" y="4343400"/>
            <a:ext cx="5806440" cy="914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080760" y="4343400"/>
            <a:ext cx="228600" cy="914400"/>
          </a:xfrm>
          <a:prstGeom prst="rect">
            <a:avLst/>
          </a:prstGeom>
          <a:solidFill>
            <a:srgbClr val="00B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73368" y="4398264"/>
            <a:ext cx="2331720" cy="274320"/>
          </a:xfrm>
          <a:prstGeom prst="rect">
            <a:avLst/>
          </a:prstGeom>
          <a:noFill/>
        </p:spPr>
        <p:txBody>
          <a:bodyPr wrap="square">
            <a:spAutoFit/>
          </a:bodyPr>
          <a:lstStyle/>
          <a:p>
            <a:pPr algn="l"/>
            <a:r>
              <a:rPr sz="1000" b="1" i="0">
                <a:solidFill>
                  <a:srgbClr val="1F497D"/>
                </a:solidFill>
              </a:rPr>
              <a:t>Low Risk</a:t>
            </a:r>
          </a:p>
        </p:txBody>
      </p:sp>
      <p:sp>
        <p:nvSpPr>
          <p:cNvPr id="35" name="TextBox 34"/>
          <p:cNvSpPr txBox="1"/>
          <p:nvPr/>
        </p:nvSpPr>
        <p:spPr>
          <a:xfrm>
            <a:off x="6373368" y="4690872"/>
            <a:ext cx="2331720" cy="274320"/>
          </a:xfrm>
          <a:prstGeom prst="rect">
            <a:avLst/>
          </a:prstGeom>
          <a:noFill/>
        </p:spPr>
        <p:txBody>
          <a:bodyPr wrap="square">
            <a:spAutoFit/>
          </a:bodyPr>
          <a:lstStyle/>
          <a:p>
            <a:pPr algn="l"/>
            <a:r>
              <a:rPr sz="1300" b="1" i="0">
                <a:solidFill>
                  <a:srgbClr val="00B050"/>
                </a:solidFill>
              </a:rPr>
              <a:t>35.86 ha  (11.0%)</a:t>
            </a:r>
          </a:p>
        </p:txBody>
      </p:sp>
      <p:sp>
        <p:nvSpPr>
          <p:cNvPr id="36" name="TextBox 35"/>
          <p:cNvSpPr txBox="1"/>
          <p:nvPr/>
        </p:nvSpPr>
        <p:spPr>
          <a:xfrm>
            <a:off x="8796528" y="4453128"/>
            <a:ext cx="2971800" cy="713232"/>
          </a:xfrm>
          <a:prstGeom prst="rect">
            <a:avLst/>
          </a:prstGeom>
          <a:noFill/>
        </p:spPr>
        <p:txBody>
          <a:bodyPr wrap="square">
            <a:spAutoFit/>
          </a:bodyPr>
          <a:lstStyle/>
          <a:p>
            <a:pPr algn="l"/>
            <a:r>
              <a:rPr sz="1000" b="0" i="0">
                <a:solidFill>
                  <a:srgbClr val="404040"/>
                </a:solidFill>
              </a:rPr>
              <a:t>Floods only at Typhoon Signal 3 (≥400 mm). Maintain standby status.</a:t>
            </a:r>
          </a:p>
        </p:txBody>
      </p:sp>
      <p:sp>
        <p:nvSpPr>
          <p:cNvPr id="37" name="Rectangle 36"/>
          <p:cNvSpPr/>
          <p:nvPr/>
        </p:nvSpPr>
        <p:spPr>
          <a:xfrm>
            <a:off x="6080760" y="5303520"/>
            <a:ext cx="5806440" cy="914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080760" y="5303520"/>
            <a:ext cx="228600" cy="91440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373368" y="5358384"/>
            <a:ext cx="2331720" cy="274320"/>
          </a:xfrm>
          <a:prstGeom prst="rect">
            <a:avLst/>
          </a:prstGeom>
          <a:noFill/>
        </p:spPr>
        <p:txBody>
          <a:bodyPr wrap="square">
            <a:spAutoFit/>
          </a:bodyPr>
          <a:lstStyle/>
          <a:p>
            <a:pPr algn="l"/>
            <a:r>
              <a:rPr sz="1000" b="1" i="0">
                <a:solidFill>
                  <a:srgbClr val="1F497D"/>
                </a:solidFill>
              </a:rPr>
              <a:t>Safe Zone</a:t>
            </a:r>
          </a:p>
        </p:txBody>
      </p:sp>
      <p:sp>
        <p:nvSpPr>
          <p:cNvPr id="40" name="TextBox 39"/>
          <p:cNvSpPr txBox="1"/>
          <p:nvPr/>
        </p:nvSpPr>
        <p:spPr>
          <a:xfrm>
            <a:off x="6373368" y="5650992"/>
            <a:ext cx="2331720" cy="274320"/>
          </a:xfrm>
          <a:prstGeom prst="rect">
            <a:avLst/>
          </a:prstGeom>
          <a:noFill/>
        </p:spPr>
        <p:txBody>
          <a:bodyPr wrap="square">
            <a:spAutoFit/>
          </a:bodyPr>
          <a:lstStyle/>
          <a:p>
            <a:pPr algn="l"/>
            <a:r>
              <a:rPr sz="1300" b="1" i="0">
                <a:solidFill>
                  <a:srgbClr val="0070C0"/>
                </a:solidFill>
              </a:rPr>
              <a:t>174.81 ha  (53.6%)</a:t>
            </a:r>
          </a:p>
        </p:txBody>
      </p:sp>
      <p:sp>
        <p:nvSpPr>
          <p:cNvPr id="41" name="TextBox 40"/>
          <p:cNvSpPr txBox="1"/>
          <p:nvPr/>
        </p:nvSpPr>
        <p:spPr>
          <a:xfrm>
            <a:off x="8796528" y="5413248"/>
            <a:ext cx="2971800" cy="713232"/>
          </a:xfrm>
          <a:prstGeom prst="rect">
            <a:avLst/>
          </a:prstGeom>
          <a:noFill/>
        </p:spPr>
        <p:txBody>
          <a:bodyPr wrap="square">
            <a:spAutoFit/>
          </a:bodyPr>
          <a:lstStyle/>
          <a:p>
            <a:pPr algn="l"/>
            <a:r>
              <a:rPr sz="1000" b="0" i="0">
                <a:solidFill>
                  <a:srgbClr val="404040"/>
                </a:solidFill>
              </a:rPr>
              <a:t>Above 100-year flood level. Suitable as official evacuation destination.</a:t>
            </a:r>
          </a:p>
        </p:txBody>
      </p:sp>
      <p:sp>
        <p:nvSpPr>
          <p:cNvPr id="42" name="TextBox 41"/>
          <p:cNvSpPr txBox="1"/>
          <p:nvPr/>
        </p:nvSpPr>
        <p:spPr>
          <a:xfrm>
            <a:off x="6080760" y="6144768"/>
            <a:ext cx="5806440" cy="365760"/>
          </a:xfrm>
          <a:prstGeom prst="rect">
            <a:avLst/>
          </a:prstGeom>
          <a:noFill/>
        </p:spPr>
        <p:txBody>
          <a:bodyPr wrap="square">
            <a:spAutoFit/>
          </a:bodyPr>
          <a:lstStyle/>
          <a:p>
            <a:pPr algn="l"/>
            <a:r>
              <a:rPr sz="1000" b="1" i="0">
                <a:solidFill>
                  <a:srgbClr val="1F497D"/>
                </a:solidFill>
              </a:rPr>
              <a:t>✔  53.6% classified Safe Zone  |  Combined at-risk area = 38.9% (126.65 ha)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88952" cy="36576"/>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 y="91440"/>
            <a:ext cx="685800" cy="777240"/>
          </a:xfrm>
          <a:prstGeom prst="rect">
            <a:avLst/>
          </a:prstGeom>
          <a:noFill/>
        </p:spPr>
        <p:txBody>
          <a:bodyPr wrap="square">
            <a:spAutoFit/>
          </a:bodyPr>
          <a:lstStyle/>
          <a:p>
            <a:pPr algn="ctr"/>
            <a:r>
              <a:rPr sz="3000" b="1" i="0">
                <a:solidFill>
                  <a:srgbClr val="FFC000"/>
                </a:solidFill>
              </a:rPr>
              <a:t>07</a:t>
            </a:r>
          </a:p>
        </p:txBody>
      </p:sp>
      <p:sp>
        <p:nvSpPr>
          <p:cNvPr id="6" name="TextBox 5"/>
          <p:cNvSpPr txBox="1"/>
          <p:nvPr/>
        </p:nvSpPr>
        <p:spPr>
          <a:xfrm>
            <a:off x="868680" y="164592"/>
            <a:ext cx="10789920" cy="685800"/>
          </a:xfrm>
          <a:prstGeom prst="rect">
            <a:avLst/>
          </a:prstGeom>
          <a:noFill/>
        </p:spPr>
        <p:txBody>
          <a:bodyPr wrap="square">
            <a:spAutoFit/>
          </a:bodyPr>
          <a:lstStyle/>
          <a:p>
            <a:pPr algn="l"/>
            <a:r>
              <a:rPr sz="2200" b="1" i="0">
                <a:solidFill>
                  <a:srgbClr val="FFFFFF"/>
                </a:solidFill>
              </a:rPr>
              <a:t>Flood Prevention Measures</a:t>
            </a:r>
          </a:p>
        </p:txBody>
      </p:sp>
      <p:sp>
        <p:nvSpPr>
          <p:cNvPr id="7" name="Rectangle 6"/>
          <p:cNvSpPr/>
          <p:nvPr/>
        </p:nvSpPr>
        <p:spPr>
          <a:xfrm>
            <a:off x="0" y="6492240"/>
            <a:ext cx="12188952" cy="36576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0" y="6510528"/>
            <a:ext cx="12188952" cy="320040"/>
          </a:xfrm>
          <a:prstGeom prst="rect">
            <a:avLst/>
          </a:prstGeom>
          <a:noFill/>
        </p:spPr>
        <p:txBody>
          <a:bodyPr wrap="square">
            <a:spAutoFit/>
          </a:bodyPr>
          <a:lstStyle/>
          <a:p>
            <a:pPr algn="ctr"/>
            <a:r>
              <a:rPr sz="900" b="0" i="0">
                <a:solidFill>
                  <a:srgbClr val="DBE5F1"/>
                </a:solidFill>
              </a:rPr>
              <a:t>Jade Valley Flood Risk Simulation  •  Prevention Measures</a:t>
            </a:r>
          </a:p>
        </p:txBody>
      </p:sp>
      <p:sp>
        <p:nvSpPr>
          <p:cNvPr id="9" name="Rectangle 8"/>
          <p:cNvSpPr/>
          <p:nvPr/>
        </p:nvSpPr>
        <p:spPr>
          <a:xfrm>
            <a:off x="228600" y="1078992"/>
            <a:ext cx="5806440" cy="25146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28600" y="1078992"/>
            <a:ext cx="5806440" cy="384048"/>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38328" y="1133856"/>
            <a:ext cx="3657600" cy="292608"/>
          </a:xfrm>
          <a:prstGeom prst="rect">
            <a:avLst/>
          </a:prstGeom>
          <a:noFill/>
        </p:spPr>
        <p:txBody>
          <a:bodyPr wrap="square">
            <a:spAutoFit/>
          </a:bodyPr>
          <a:lstStyle/>
          <a:p>
            <a:pPr algn="l"/>
            <a:r>
              <a:rPr sz="1200" b="1" i="0">
                <a:solidFill>
                  <a:srgbClr val="FFFFFF"/>
                </a:solidFill>
              </a:rPr>
              <a:t>Riverbank Floodwall</a:t>
            </a:r>
          </a:p>
        </p:txBody>
      </p:sp>
      <p:sp>
        <p:nvSpPr>
          <p:cNvPr id="12" name="TextBox 11"/>
          <p:cNvSpPr txBox="1"/>
          <p:nvPr/>
        </p:nvSpPr>
        <p:spPr>
          <a:xfrm>
            <a:off x="4069080" y="1133856"/>
            <a:ext cx="1828800" cy="164592"/>
          </a:xfrm>
          <a:prstGeom prst="rect">
            <a:avLst/>
          </a:prstGeom>
          <a:noFill/>
        </p:spPr>
        <p:txBody>
          <a:bodyPr wrap="square">
            <a:spAutoFit/>
          </a:bodyPr>
          <a:lstStyle/>
          <a:p>
            <a:pPr algn="r"/>
            <a:r>
              <a:rPr sz="800" b="0" i="0">
                <a:solidFill>
                  <a:srgbClr val="DBE5F1"/>
                </a:solidFill>
              </a:rPr>
              <a:t>50% + 75% Builds</a:t>
            </a:r>
          </a:p>
        </p:txBody>
      </p:sp>
      <p:sp>
        <p:nvSpPr>
          <p:cNvPr id="13" name="TextBox 12"/>
          <p:cNvSpPr txBox="1"/>
          <p:nvPr/>
        </p:nvSpPr>
        <p:spPr>
          <a:xfrm>
            <a:off x="4069080" y="1298448"/>
            <a:ext cx="1828800" cy="137160"/>
          </a:xfrm>
          <a:prstGeom prst="rect">
            <a:avLst/>
          </a:prstGeom>
          <a:noFill/>
        </p:spPr>
        <p:txBody>
          <a:bodyPr wrap="square">
            <a:spAutoFit/>
          </a:bodyPr>
          <a:lstStyle/>
          <a:p>
            <a:pPr algn="r"/>
            <a:r>
              <a:rPr sz="800" b="0" i="0">
                <a:solidFill>
                  <a:srgbClr val="FFC000"/>
                </a:solidFill>
              </a:rPr>
              <a:t>Red overlay on map</a:t>
            </a:r>
          </a:p>
        </p:txBody>
      </p:sp>
      <p:sp>
        <p:nvSpPr>
          <p:cNvPr id="14" name="TextBox 13"/>
          <p:cNvSpPr txBox="1"/>
          <p:nvPr/>
        </p:nvSpPr>
        <p:spPr>
          <a:xfrm>
            <a:off x="365760" y="1536192"/>
            <a:ext cx="5577840" cy="1965960"/>
          </a:xfrm>
          <a:prstGeom prst="rect">
            <a:avLst/>
          </a:prstGeom>
          <a:noFill/>
        </p:spPr>
        <p:txBody>
          <a:bodyPr wrap="square">
            <a:spAutoFit/>
          </a:bodyPr>
          <a:lstStyle/>
          <a:p>
            <a:pPr>
              <a:spcBef>
                <a:spcPts val="300"/>
              </a:spcBef>
            </a:pPr>
            <a:r>
              <a:rPr sz="1100">
                <a:solidFill>
                  <a:srgbClr val="404040"/>
                </a:solidFill>
              </a:rPr>
              <a:t>•  Target: river bank cells at elevation ≤6 m within 3-cell dilation of river</a:t>
            </a:r>
          </a:p>
          <a:p>
            <a:pPr>
              <a:spcBef>
                <a:spcPts val="300"/>
              </a:spcBef>
            </a:pPr>
            <a:r>
              <a:rPr sz="1100">
                <a:solidFill>
                  <a:srgbClr val="404040"/>
                </a:solidFill>
              </a:rPr>
              <a:t>•  Action: raises those cells by wall_height_m (default 1.5 m, range 0.5–5.0 m)</a:t>
            </a:r>
          </a:p>
          <a:p>
            <a:pPr>
              <a:spcBef>
                <a:spcPts val="300"/>
              </a:spcBef>
            </a:pPr>
            <a:r>
              <a:rPr sz="1100">
                <a:solidFill>
                  <a:srgbClr val="404040"/>
                </a:solidFill>
              </a:rPr>
              <a:t>•  Effect: blocks river overflow until water surface exceeds wall crest by 2 cm</a:t>
            </a:r>
          </a:p>
          <a:p>
            <a:pPr>
              <a:spcBef>
                <a:spcPts val="300"/>
              </a:spcBef>
            </a:pPr>
            <a:r>
              <a:rPr sz="1100">
                <a:solidFill>
                  <a:srgbClr val="404040"/>
                </a:solidFill>
              </a:rPr>
              <a:t>•  Physics: floodwall cells block cross-wall transfers in route_water()</a:t>
            </a:r>
          </a:p>
        </p:txBody>
      </p:sp>
      <p:sp>
        <p:nvSpPr>
          <p:cNvPr id="15" name="Rectangle 14"/>
          <p:cNvSpPr/>
          <p:nvPr/>
        </p:nvSpPr>
        <p:spPr>
          <a:xfrm>
            <a:off x="6190488" y="1078992"/>
            <a:ext cx="5806440" cy="25146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90488" y="1078992"/>
            <a:ext cx="5806440" cy="384048"/>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00216" y="1133856"/>
            <a:ext cx="3657600" cy="292608"/>
          </a:xfrm>
          <a:prstGeom prst="rect">
            <a:avLst/>
          </a:prstGeom>
          <a:noFill/>
        </p:spPr>
        <p:txBody>
          <a:bodyPr wrap="square">
            <a:spAutoFit/>
          </a:bodyPr>
          <a:lstStyle/>
          <a:p>
            <a:pPr algn="l"/>
            <a:r>
              <a:rPr sz="1200" b="1" i="0">
                <a:solidFill>
                  <a:srgbClr val="FFFFFF"/>
                </a:solidFill>
              </a:rPr>
              <a:t>Drainage Canal Network</a:t>
            </a:r>
          </a:p>
        </p:txBody>
      </p:sp>
      <p:sp>
        <p:nvSpPr>
          <p:cNvPr id="18" name="TextBox 17"/>
          <p:cNvSpPr txBox="1"/>
          <p:nvPr/>
        </p:nvSpPr>
        <p:spPr>
          <a:xfrm>
            <a:off x="10030968" y="1133856"/>
            <a:ext cx="1828800" cy="164592"/>
          </a:xfrm>
          <a:prstGeom prst="rect">
            <a:avLst/>
          </a:prstGeom>
          <a:noFill/>
        </p:spPr>
        <p:txBody>
          <a:bodyPr wrap="square">
            <a:spAutoFit/>
          </a:bodyPr>
          <a:lstStyle/>
          <a:p>
            <a:pPr algn="r"/>
            <a:r>
              <a:rPr sz="800" b="0" i="0">
                <a:solidFill>
                  <a:srgbClr val="DBE5F1"/>
                </a:solidFill>
              </a:rPr>
              <a:t>50% + 75% Builds</a:t>
            </a:r>
          </a:p>
        </p:txBody>
      </p:sp>
      <p:sp>
        <p:nvSpPr>
          <p:cNvPr id="19" name="TextBox 18"/>
          <p:cNvSpPr txBox="1"/>
          <p:nvPr/>
        </p:nvSpPr>
        <p:spPr>
          <a:xfrm>
            <a:off x="10030968" y="1298448"/>
            <a:ext cx="1828800" cy="137160"/>
          </a:xfrm>
          <a:prstGeom prst="rect">
            <a:avLst/>
          </a:prstGeom>
          <a:noFill/>
        </p:spPr>
        <p:txBody>
          <a:bodyPr wrap="square">
            <a:spAutoFit/>
          </a:bodyPr>
          <a:lstStyle/>
          <a:p>
            <a:pPr algn="r"/>
            <a:r>
              <a:rPr sz="800" b="0" i="0">
                <a:solidFill>
                  <a:srgbClr val="FFC000"/>
                </a:solidFill>
              </a:rPr>
              <a:t>Cyan overlay on map</a:t>
            </a:r>
          </a:p>
        </p:txBody>
      </p:sp>
      <p:sp>
        <p:nvSpPr>
          <p:cNvPr id="20" name="TextBox 19"/>
          <p:cNvSpPr txBox="1"/>
          <p:nvPr/>
        </p:nvSpPr>
        <p:spPr>
          <a:xfrm>
            <a:off x="6327648" y="1536192"/>
            <a:ext cx="5577840" cy="1965960"/>
          </a:xfrm>
          <a:prstGeom prst="rect">
            <a:avLst/>
          </a:prstGeom>
          <a:noFill/>
        </p:spPr>
        <p:txBody>
          <a:bodyPr wrap="square">
            <a:spAutoFit/>
          </a:bodyPr>
          <a:lstStyle/>
          <a:p>
            <a:pPr>
              <a:spcBef>
                <a:spcPts val="300"/>
              </a:spcBef>
            </a:pPr>
            <a:r>
              <a:rPr sz="1100">
                <a:solidFill>
                  <a:srgbClr val="404040"/>
                </a:solidFill>
              </a:rPr>
              <a:t>•  Canal A: east-running corridor from lowest-elevation row to east boundary</a:t>
            </a:r>
          </a:p>
          <a:p>
            <a:pPr>
              <a:spcBef>
                <a:spcPts val="300"/>
              </a:spcBef>
            </a:pPr>
            <a:r>
              <a:rPr sz="1100">
                <a:solidFill>
                  <a:srgbClr val="404040"/>
                </a:solidFill>
              </a:rPr>
              <a:t>•  Canal B: south-running corridor from peak flow accumulation column to south</a:t>
            </a:r>
          </a:p>
          <a:p>
            <a:pPr>
              <a:spcBef>
                <a:spcPts val="300"/>
              </a:spcBef>
            </a:pPr>
            <a:r>
              <a:rPr sz="1100">
                <a:solidFill>
                  <a:srgbClr val="404040"/>
                </a:solidFill>
              </a:rPr>
              <a:t>•  Action: lowers corridor cells by canal_depth_m (default 2.0 m, range 0.5–5.0 m)</a:t>
            </a:r>
          </a:p>
          <a:p>
            <a:pPr>
              <a:spcBef>
                <a:spcPts val="300"/>
              </a:spcBef>
            </a:pPr>
            <a:r>
              <a:rPr sz="1100">
                <a:solidFill>
                  <a:srgbClr val="404040"/>
                </a:solidFill>
              </a:rPr>
              <a:t>•  Effect: fast drainage paths; canal cells drain 30× faster than base rate</a:t>
            </a:r>
          </a:p>
        </p:txBody>
      </p:sp>
      <p:sp>
        <p:nvSpPr>
          <p:cNvPr id="21" name="Rectangle 20"/>
          <p:cNvSpPr/>
          <p:nvPr/>
        </p:nvSpPr>
        <p:spPr>
          <a:xfrm>
            <a:off x="228600" y="3685032"/>
            <a:ext cx="5806440" cy="25146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28600" y="3685032"/>
            <a:ext cx="5806440" cy="384048"/>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38328" y="3739896"/>
            <a:ext cx="3657600" cy="292608"/>
          </a:xfrm>
          <a:prstGeom prst="rect">
            <a:avLst/>
          </a:prstGeom>
          <a:noFill/>
        </p:spPr>
        <p:txBody>
          <a:bodyPr wrap="square">
            <a:spAutoFit/>
          </a:bodyPr>
          <a:lstStyle/>
          <a:p>
            <a:pPr algn="l"/>
            <a:r>
              <a:rPr sz="1200" b="1" i="0">
                <a:solidFill>
                  <a:srgbClr val="FFFFFF"/>
                </a:solidFill>
              </a:rPr>
              <a:t>Retention Basin</a:t>
            </a:r>
          </a:p>
        </p:txBody>
      </p:sp>
      <p:sp>
        <p:nvSpPr>
          <p:cNvPr id="24" name="TextBox 23"/>
          <p:cNvSpPr txBox="1"/>
          <p:nvPr/>
        </p:nvSpPr>
        <p:spPr>
          <a:xfrm>
            <a:off x="4069080" y="3739896"/>
            <a:ext cx="1828800" cy="164592"/>
          </a:xfrm>
          <a:prstGeom prst="rect">
            <a:avLst/>
          </a:prstGeom>
          <a:noFill/>
        </p:spPr>
        <p:txBody>
          <a:bodyPr wrap="square">
            <a:spAutoFit/>
          </a:bodyPr>
          <a:lstStyle/>
          <a:p>
            <a:pPr algn="r"/>
            <a:r>
              <a:rPr sz="800" b="0" i="0">
                <a:solidFill>
                  <a:srgbClr val="DBE5F1"/>
                </a:solidFill>
              </a:rPr>
              <a:t>75% Build Only</a:t>
            </a:r>
          </a:p>
        </p:txBody>
      </p:sp>
      <p:sp>
        <p:nvSpPr>
          <p:cNvPr id="25" name="TextBox 24"/>
          <p:cNvSpPr txBox="1"/>
          <p:nvPr/>
        </p:nvSpPr>
        <p:spPr>
          <a:xfrm>
            <a:off x="4069080" y="3904488"/>
            <a:ext cx="1828800" cy="137160"/>
          </a:xfrm>
          <a:prstGeom prst="rect">
            <a:avLst/>
          </a:prstGeom>
          <a:noFill/>
        </p:spPr>
        <p:txBody>
          <a:bodyPr wrap="square">
            <a:spAutoFit/>
          </a:bodyPr>
          <a:lstStyle/>
          <a:p>
            <a:pPr algn="r"/>
            <a:r>
              <a:rPr sz="800" b="0" i="0">
                <a:solidFill>
                  <a:srgbClr val="FFC000"/>
                </a:solidFill>
              </a:rPr>
              <a:t>Green overlay on map</a:t>
            </a:r>
          </a:p>
        </p:txBody>
      </p:sp>
      <p:sp>
        <p:nvSpPr>
          <p:cNvPr id="26" name="TextBox 25"/>
          <p:cNvSpPr txBox="1"/>
          <p:nvPr/>
        </p:nvSpPr>
        <p:spPr>
          <a:xfrm>
            <a:off x="365760" y="4142232"/>
            <a:ext cx="5577840" cy="1965960"/>
          </a:xfrm>
          <a:prstGeom prst="rect">
            <a:avLst/>
          </a:prstGeom>
          <a:noFill/>
        </p:spPr>
        <p:txBody>
          <a:bodyPr wrap="square">
            <a:spAutoFit/>
          </a:bodyPr>
          <a:lstStyle/>
          <a:p>
            <a:pPr>
              <a:spcBef>
                <a:spcPts val="300"/>
              </a:spcBef>
            </a:pPr>
            <a:r>
              <a:rPr sz="1100">
                <a:solidFill>
                  <a:srgbClr val="404040"/>
                </a:solidFill>
              </a:rPr>
              <a:t>•  Target: highest flow accumulation zone in open land (outer perimeter only)</a:t>
            </a:r>
          </a:p>
          <a:p>
            <a:pPr>
              <a:spcBef>
                <a:spcPts val="300"/>
              </a:spcBef>
            </a:pPr>
            <a:r>
              <a:rPr sz="1100">
                <a:solidFill>
                  <a:srgbClr val="404040"/>
                </a:solidFill>
              </a:rPr>
              <a:t>•  Action: excavates circular depression (~6% of grid) by basin_depth_m (default 6 m)</a:t>
            </a:r>
          </a:p>
          <a:p>
            <a:pPr>
              <a:spcBef>
                <a:spcPts val="300"/>
              </a:spcBef>
            </a:pPr>
            <a:r>
              <a:rPr sz="1100">
                <a:solidFill>
                  <a:srgbClr val="404040"/>
                </a:solidFill>
              </a:rPr>
              <a:t>•  Constraint: residential core (inner 60% of grid) is excluded — no homes excavated</a:t>
            </a:r>
          </a:p>
          <a:p>
            <a:pPr>
              <a:spcBef>
                <a:spcPts val="300"/>
              </a:spcBef>
            </a:pPr>
            <a:r>
              <a:rPr sz="1100">
                <a:solidFill>
                  <a:srgbClr val="404040"/>
                </a:solidFill>
              </a:rPr>
              <a:t>•  Effect: stores peak runoff at topographic sink; reduces downstream inundation depth</a:t>
            </a:r>
          </a:p>
        </p:txBody>
      </p:sp>
      <p:sp>
        <p:nvSpPr>
          <p:cNvPr id="27" name="Rectangle 26"/>
          <p:cNvSpPr/>
          <p:nvPr/>
        </p:nvSpPr>
        <p:spPr>
          <a:xfrm>
            <a:off x="6190488" y="3685032"/>
            <a:ext cx="5806440" cy="25146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190488" y="3685032"/>
            <a:ext cx="5806440" cy="384048"/>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00216" y="3739896"/>
            <a:ext cx="3657600" cy="292608"/>
          </a:xfrm>
          <a:prstGeom prst="rect">
            <a:avLst/>
          </a:prstGeom>
          <a:noFill/>
        </p:spPr>
        <p:txBody>
          <a:bodyPr wrap="square">
            <a:spAutoFit/>
          </a:bodyPr>
          <a:lstStyle/>
          <a:p>
            <a:pPr algn="l"/>
            <a:r>
              <a:rPr sz="1200" b="1" i="0">
                <a:solidFill>
                  <a:srgbClr val="FFFFFF"/>
                </a:solidFill>
              </a:rPr>
              <a:t>Elevated Emergency Road</a:t>
            </a:r>
          </a:p>
        </p:txBody>
      </p:sp>
      <p:sp>
        <p:nvSpPr>
          <p:cNvPr id="30" name="TextBox 29"/>
          <p:cNvSpPr txBox="1"/>
          <p:nvPr/>
        </p:nvSpPr>
        <p:spPr>
          <a:xfrm>
            <a:off x="10030968" y="3739896"/>
            <a:ext cx="1828800" cy="164592"/>
          </a:xfrm>
          <a:prstGeom prst="rect">
            <a:avLst/>
          </a:prstGeom>
          <a:noFill/>
        </p:spPr>
        <p:txBody>
          <a:bodyPr wrap="square">
            <a:spAutoFit/>
          </a:bodyPr>
          <a:lstStyle/>
          <a:p>
            <a:pPr algn="r"/>
            <a:r>
              <a:rPr sz="800" b="0" i="0">
                <a:solidFill>
                  <a:srgbClr val="DBE5F1"/>
                </a:solidFill>
              </a:rPr>
              <a:t>75% Build Only</a:t>
            </a:r>
          </a:p>
        </p:txBody>
      </p:sp>
      <p:sp>
        <p:nvSpPr>
          <p:cNvPr id="31" name="TextBox 30"/>
          <p:cNvSpPr txBox="1"/>
          <p:nvPr/>
        </p:nvSpPr>
        <p:spPr>
          <a:xfrm>
            <a:off x="10030968" y="3904488"/>
            <a:ext cx="1828800" cy="137160"/>
          </a:xfrm>
          <a:prstGeom prst="rect">
            <a:avLst/>
          </a:prstGeom>
          <a:noFill/>
        </p:spPr>
        <p:txBody>
          <a:bodyPr wrap="square">
            <a:spAutoFit/>
          </a:bodyPr>
          <a:lstStyle/>
          <a:p>
            <a:pPr algn="r"/>
            <a:r>
              <a:rPr sz="800" b="0" i="0">
                <a:solidFill>
                  <a:srgbClr val="FFC000"/>
                </a:solidFill>
              </a:rPr>
              <a:t>Orange overlay on map</a:t>
            </a:r>
          </a:p>
        </p:txBody>
      </p:sp>
      <p:sp>
        <p:nvSpPr>
          <p:cNvPr id="32" name="TextBox 31"/>
          <p:cNvSpPr txBox="1"/>
          <p:nvPr/>
        </p:nvSpPr>
        <p:spPr>
          <a:xfrm>
            <a:off x="6327648" y="4142232"/>
            <a:ext cx="5577840" cy="1965960"/>
          </a:xfrm>
          <a:prstGeom prst="rect">
            <a:avLst/>
          </a:prstGeom>
          <a:noFill/>
        </p:spPr>
        <p:txBody>
          <a:bodyPr wrap="square">
            <a:spAutoFit/>
          </a:bodyPr>
          <a:lstStyle/>
          <a:p>
            <a:pPr>
              <a:spcBef>
                <a:spcPts val="300"/>
              </a:spcBef>
            </a:pPr>
            <a:r>
              <a:rPr sz="1100">
                <a:solidFill>
                  <a:srgbClr val="404040"/>
                </a:solidFill>
              </a:rPr>
              <a:t>•  Target: east-west corridor at ~45% grid height, skipping active river cells</a:t>
            </a:r>
          </a:p>
          <a:p>
            <a:pPr>
              <a:spcBef>
                <a:spcPts val="300"/>
              </a:spcBef>
            </a:pPr>
            <a:r>
              <a:rPr sz="1100">
                <a:solidFill>
                  <a:srgbClr val="404040"/>
                </a:solidFill>
              </a:rPr>
              <a:t>•  Action: raises corridor cells by road_height_m (default 1.5 m, range 0.5–3.0 m)</a:t>
            </a:r>
          </a:p>
          <a:p>
            <a:pPr>
              <a:spcBef>
                <a:spcPts val="300"/>
              </a:spcBef>
            </a:pPr>
            <a:r>
              <a:rPr sz="1100">
                <a:solidFill>
                  <a:srgbClr val="404040"/>
                </a:solidFill>
              </a:rPr>
              <a:t>•  Effect: maintains emergency vehicle access at design flood level</a:t>
            </a:r>
          </a:p>
          <a:p>
            <a:pPr>
              <a:spcBef>
                <a:spcPts val="300"/>
              </a:spcBef>
            </a:pPr>
            <a:r>
              <a:rPr sz="1100">
                <a:solidFill>
                  <a:srgbClr val="404040"/>
                </a:solidFill>
              </a:rPr>
              <a:t>•  Secondary: berm deflects surface flow laterally away from the central flood zone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88952" cy="36576"/>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 y="91440"/>
            <a:ext cx="685800" cy="777240"/>
          </a:xfrm>
          <a:prstGeom prst="rect">
            <a:avLst/>
          </a:prstGeom>
          <a:noFill/>
        </p:spPr>
        <p:txBody>
          <a:bodyPr wrap="square">
            <a:spAutoFit/>
          </a:bodyPr>
          <a:lstStyle/>
          <a:p>
            <a:pPr algn="ctr"/>
            <a:r>
              <a:rPr sz="3000" b="1" i="0">
                <a:solidFill>
                  <a:srgbClr val="FFC000"/>
                </a:solidFill>
              </a:rPr>
              <a:t>08</a:t>
            </a:r>
          </a:p>
        </p:txBody>
      </p:sp>
      <p:sp>
        <p:nvSpPr>
          <p:cNvPr id="6" name="TextBox 5"/>
          <p:cNvSpPr txBox="1"/>
          <p:nvPr/>
        </p:nvSpPr>
        <p:spPr>
          <a:xfrm>
            <a:off x="868680" y="164592"/>
            <a:ext cx="10789920" cy="685800"/>
          </a:xfrm>
          <a:prstGeom prst="rect">
            <a:avLst/>
          </a:prstGeom>
          <a:noFill/>
        </p:spPr>
        <p:txBody>
          <a:bodyPr wrap="square">
            <a:spAutoFit/>
          </a:bodyPr>
          <a:lstStyle/>
          <a:p>
            <a:pPr algn="l"/>
            <a:r>
              <a:rPr sz="2200" b="1" i="0">
                <a:solidFill>
                  <a:srgbClr val="FFFFFF"/>
                </a:solidFill>
              </a:rPr>
              <a:t>Key Findings &amp; Simulation Outputs</a:t>
            </a:r>
          </a:p>
        </p:txBody>
      </p:sp>
      <p:sp>
        <p:nvSpPr>
          <p:cNvPr id="7" name="Rectangle 6"/>
          <p:cNvSpPr/>
          <p:nvPr/>
        </p:nvSpPr>
        <p:spPr>
          <a:xfrm>
            <a:off x="0" y="6492240"/>
            <a:ext cx="12188952" cy="36576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0" y="6510528"/>
            <a:ext cx="12188952" cy="320040"/>
          </a:xfrm>
          <a:prstGeom prst="rect">
            <a:avLst/>
          </a:prstGeom>
          <a:noFill/>
        </p:spPr>
        <p:txBody>
          <a:bodyPr wrap="square">
            <a:spAutoFit/>
          </a:bodyPr>
          <a:lstStyle/>
          <a:p>
            <a:pPr algn="ctr"/>
            <a:r>
              <a:rPr sz="900" b="0" i="0">
                <a:solidFill>
                  <a:srgbClr val="DBE5F1"/>
                </a:solidFill>
              </a:rPr>
              <a:t>Jade Valley Flood Risk Simulation  •  Key Findings</a:t>
            </a:r>
          </a:p>
        </p:txBody>
      </p:sp>
      <p:sp>
        <p:nvSpPr>
          <p:cNvPr id="9" name="Rectangle 8"/>
          <p:cNvSpPr/>
          <p:nvPr/>
        </p:nvSpPr>
        <p:spPr>
          <a:xfrm>
            <a:off x="274320" y="1143000"/>
            <a:ext cx="5852160" cy="29260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84048" y="1179576"/>
            <a:ext cx="5715000" cy="256032"/>
          </a:xfrm>
          <a:prstGeom prst="rect">
            <a:avLst/>
          </a:prstGeom>
          <a:noFill/>
        </p:spPr>
        <p:txBody>
          <a:bodyPr wrap="square">
            <a:spAutoFit/>
          </a:bodyPr>
          <a:lstStyle/>
          <a:p>
            <a:pPr algn="l"/>
            <a:r>
              <a:rPr sz="1000" b="1" i="0">
                <a:solidFill>
                  <a:srgbClr val="FFFFFF"/>
                </a:solidFill>
              </a:rPr>
              <a:t>FLOOD RISK FINDINGS</a:t>
            </a:r>
          </a:p>
        </p:txBody>
      </p:sp>
      <p:sp>
        <p:nvSpPr>
          <p:cNvPr id="11" name="Rectangle 10"/>
          <p:cNvSpPr/>
          <p:nvPr/>
        </p:nvSpPr>
        <p:spPr>
          <a:xfrm>
            <a:off x="274320" y="1463040"/>
            <a:ext cx="5852160" cy="70408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74320" y="1463040"/>
            <a:ext cx="1325880" cy="704088"/>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1554480"/>
            <a:ext cx="1325880" cy="521207"/>
          </a:xfrm>
          <a:prstGeom prst="rect">
            <a:avLst/>
          </a:prstGeom>
          <a:noFill/>
        </p:spPr>
        <p:txBody>
          <a:bodyPr wrap="square">
            <a:spAutoFit/>
          </a:bodyPr>
          <a:lstStyle/>
          <a:p>
            <a:pPr algn="ctr"/>
            <a:r>
              <a:rPr sz="1800" b="1" i="0">
                <a:solidFill>
                  <a:srgbClr val="FFFFFF"/>
                </a:solidFill>
              </a:rPr>
              <a:t>72.3%</a:t>
            </a:r>
          </a:p>
        </p:txBody>
      </p:sp>
      <p:sp>
        <p:nvSpPr>
          <p:cNvPr id="14" name="TextBox 13"/>
          <p:cNvSpPr txBox="1"/>
          <p:nvPr/>
        </p:nvSpPr>
        <p:spPr>
          <a:xfrm>
            <a:off x="1691640" y="1645920"/>
            <a:ext cx="4370832" cy="384048"/>
          </a:xfrm>
          <a:prstGeom prst="rect">
            <a:avLst/>
          </a:prstGeom>
          <a:noFill/>
        </p:spPr>
        <p:txBody>
          <a:bodyPr wrap="square">
            <a:spAutoFit/>
          </a:bodyPr>
          <a:lstStyle/>
          <a:p>
            <a:pPr algn="l"/>
            <a:r>
              <a:rPr sz="1100" b="0" i="0">
                <a:solidFill>
                  <a:srgbClr val="404040"/>
                </a:solidFill>
              </a:rPr>
              <a:t>of the study area is flat terrain (slope &lt;5°) — primary driver of runoff accumulation</a:t>
            </a:r>
          </a:p>
        </p:txBody>
      </p:sp>
      <p:sp>
        <p:nvSpPr>
          <p:cNvPr id="15" name="Rectangle 14"/>
          <p:cNvSpPr/>
          <p:nvPr/>
        </p:nvSpPr>
        <p:spPr>
          <a:xfrm>
            <a:off x="274320" y="2221992"/>
            <a:ext cx="5852160" cy="70408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74320" y="2221992"/>
            <a:ext cx="1325880" cy="704088"/>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4320" y="2313432"/>
            <a:ext cx="1325880" cy="521207"/>
          </a:xfrm>
          <a:prstGeom prst="rect">
            <a:avLst/>
          </a:prstGeom>
          <a:noFill/>
        </p:spPr>
        <p:txBody>
          <a:bodyPr wrap="square">
            <a:spAutoFit/>
          </a:bodyPr>
          <a:lstStyle/>
          <a:p>
            <a:pPr algn="ctr"/>
            <a:r>
              <a:rPr sz="1800" b="1" i="0">
                <a:solidFill>
                  <a:srgbClr val="FFFFFF"/>
                </a:solidFill>
              </a:rPr>
              <a:t>8.2%</a:t>
            </a:r>
          </a:p>
        </p:txBody>
      </p:sp>
      <p:sp>
        <p:nvSpPr>
          <p:cNvPr id="18" name="TextBox 17"/>
          <p:cNvSpPr txBox="1"/>
          <p:nvPr/>
        </p:nvSpPr>
        <p:spPr>
          <a:xfrm>
            <a:off x="1691640" y="2404872"/>
            <a:ext cx="4370832" cy="384048"/>
          </a:xfrm>
          <a:prstGeom prst="rect">
            <a:avLst/>
          </a:prstGeom>
          <a:noFill/>
        </p:spPr>
        <p:txBody>
          <a:bodyPr wrap="square">
            <a:spAutoFit/>
          </a:bodyPr>
          <a:lstStyle/>
          <a:p>
            <a:pPr algn="l"/>
            <a:r>
              <a:rPr sz="1100" b="0" i="0">
                <a:solidFill>
                  <a:srgbClr val="404040"/>
                </a:solidFill>
              </a:rPr>
              <a:t>(26.66 ha) is Very High Risk — floods under Heavy Rain (≥90 mm)</a:t>
            </a:r>
          </a:p>
        </p:txBody>
      </p:sp>
      <p:sp>
        <p:nvSpPr>
          <p:cNvPr id="19" name="Rectangle 18"/>
          <p:cNvSpPr/>
          <p:nvPr/>
        </p:nvSpPr>
        <p:spPr>
          <a:xfrm>
            <a:off x="274320" y="2980944"/>
            <a:ext cx="5852160" cy="70408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74320" y="2980944"/>
            <a:ext cx="1325880" cy="704088"/>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4320" y="3072384"/>
            <a:ext cx="1325880" cy="521207"/>
          </a:xfrm>
          <a:prstGeom prst="rect">
            <a:avLst/>
          </a:prstGeom>
          <a:noFill/>
        </p:spPr>
        <p:txBody>
          <a:bodyPr wrap="square">
            <a:spAutoFit/>
          </a:bodyPr>
          <a:lstStyle/>
          <a:p>
            <a:pPr algn="ctr"/>
            <a:r>
              <a:rPr sz="1800" b="1" i="0">
                <a:solidFill>
                  <a:srgbClr val="FFFFFF"/>
                </a:solidFill>
              </a:rPr>
              <a:t>17.9%</a:t>
            </a:r>
          </a:p>
        </p:txBody>
      </p:sp>
      <p:sp>
        <p:nvSpPr>
          <p:cNvPr id="22" name="TextBox 21"/>
          <p:cNvSpPr txBox="1"/>
          <p:nvPr/>
        </p:nvSpPr>
        <p:spPr>
          <a:xfrm>
            <a:off x="1691640" y="3163824"/>
            <a:ext cx="4370832" cy="384048"/>
          </a:xfrm>
          <a:prstGeom prst="rect">
            <a:avLst/>
          </a:prstGeom>
          <a:noFill/>
        </p:spPr>
        <p:txBody>
          <a:bodyPr wrap="square">
            <a:spAutoFit/>
          </a:bodyPr>
          <a:lstStyle/>
          <a:p>
            <a:pPr algn="l"/>
            <a:r>
              <a:rPr sz="1100" b="0" i="0">
                <a:solidFill>
                  <a:srgbClr val="404040"/>
                </a:solidFill>
              </a:rPr>
              <a:t>combined Very High + High Risk — 58.49 ha requiring priority infrastructure</a:t>
            </a:r>
          </a:p>
        </p:txBody>
      </p:sp>
      <p:sp>
        <p:nvSpPr>
          <p:cNvPr id="23" name="Rectangle 22"/>
          <p:cNvSpPr/>
          <p:nvPr/>
        </p:nvSpPr>
        <p:spPr>
          <a:xfrm>
            <a:off x="274320" y="3739896"/>
            <a:ext cx="5852160" cy="70408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274320" y="3739896"/>
            <a:ext cx="1325880" cy="704088"/>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74320" y="3831336"/>
            <a:ext cx="1325880" cy="521207"/>
          </a:xfrm>
          <a:prstGeom prst="rect">
            <a:avLst/>
          </a:prstGeom>
          <a:noFill/>
        </p:spPr>
        <p:txBody>
          <a:bodyPr wrap="square">
            <a:spAutoFit/>
          </a:bodyPr>
          <a:lstStyle/>
          <a:p>
            <a:pPr algn="ctr"/>
            <a:r>
              <a:rPr sz="1800" b="1" i="0">
                <a:solidFill>
                  <a:srgbClr val="FFFFFF"/>
                </a:solidFill>
              </a:rPr>
              <a:t>35.5%</a:t>
            </a:r>
          </a:p>
        </p:txBody>
      </p:sp>
      <p:sp>
        <p:nvSpPr>
          <p:cNvPr id="26" name="TextBox 25"/>
          <p:cNvSpPr txBox="1"/>
          <p:nvPr/>
        </p:nvSpPr>
        <p:spPr>
          <a:xfrm>
            <a:off x="1691640" y="3922776"/>
            <a:ext cx="4370832" cy="384048"/>
          </a:xfrm>
          <a:prstGeom prst="rect">
            <a:avLst/>
          </a:prstGeom>
          <a:noFill/>
        </p:spPr>
        <p:txBody>
          <a:bodyPr wrap="square">
            <a:spAutoFit/>
          </a:bodyPr>
          <a:lstStyle/>
          <a:p>
            <a:pPr algn="l"/>
            <a:r>
              <a:rPr sz="1100" b="0" i="0">
                <a:solidFill>
                  <a:srgbClr val="404040"/>
                </a:solidFill>
              </a:rPr>
              <a:t>(115.76 ha) floods in 100-year event to a mean depth of 4.12 m</a:t>
            </a:r>
          </a:p>
        </p:txBody>
      </p:sp>
      <p:sp>
        <p:nvSpPr>
          <p:cNvPr id="27" name="Rectangle 26"/>
          <p:cNvSpPr/>
          <p:nvPr/>
        </p:nvSpPr>
        <p:spPr>
          <a:xfrm>
            <a:off x="274320" y="4498848"/>
            <a:ext cx="5852160" cy="70408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74320" y="4498848"/>
            <a:ext cx="1325880" cy="704088"/>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74320" y="4590288"/>
            <a:ext cx="1325880" cy="521207"/>
          </a:xfrm>
          <a:prstGeom prst="rect">
            <a:avLst/>
          </a:prstGeom>
          <a:noFill/>
        </p:spPr>
        <p:txBody>
          <a:bodyPr wrap="square">
            <a:spAutoFit/>
          </a:bodyPr>
          <a:lstStyle/>
          <a:p>
            <a:pPr algn="ctr"/>
            <a:r>
              <a:rPr sz="1800" b="1" i="0">
                <a:solidFill>
                  <a:srgbClr val="FFFFFF"/>
                </a:solidFill>
              </a:rPr>
              <a:t>53.6%</a:t>
            </a:r>
          </a:p>
        </p:txBody>
      </p:sp>
      <p:sp>
        <p:nvSpPr>
          <p:cNvPr id="30" name="TextBox 29"/>
          <p:cNvSpPr txBox="1"/>
          <p:nvPr/>
        </p:nvSpPr>
        <p:spPr>
          <a:xfrm>
            <a:off x="1691640" y="4681728"/>
            <a:ext cx="4370832" cy="384048"/>
          </a:xfrm>
          <a:prstGeom prst="rect">
            <a:avLst/>
          </a:prstGeom>
          <a:noFill/>
        </p:spPr>
        <p:txBody>
          <a:bodyPr wrap="square">
            <a:spAutoFit/>
          </a:bodyPr>
          <a:lstStyle/>
          <a:p>
            <a:pPr algn="l"/>
            <a:r>
              <a:rPr sz="1100" b="0" i="0">
                <a:solidFill>
                  <a:srgbClr val="404040"/>
                </a:solidFill>
              </a:rPr>
              <a:t>(174.81 ha) is Safe Zone — suitable official evacuation destination</a:t>
            </a:r>
          </a:p>
        </p:txBody>
      </p:sp>
      <p:sp>
        <p:nvSpPr>
          <p:cNvPr id="31" name="Rectangle 30"/>
          <p:cNvSpPr/>
          <p:nvPr/>
        </p:nvSpPr>
        <p:spPr>
          <a:xfrm>
            <a:off x="274320" y="5257800"/>
            <a:ext cx="5852160" cy="70408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274320" y="5257800"/>
            <a:ext cx="1325880" cy="704088"/>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74320" y="5349240"/>
            <a:ext cx="1325880" cy="521207"/>
          </a:xfrm>
          <a:prstGeom prst="rect">
            <a:avLst/>
          </a:prstGeom>
          <a:noFill/>
        </p:spPr>
        <p:txBody>
          <a:bodyPr wrap="square">
            <a:spAutoFit/>
          </a:bodyPr>
          <a:lstStyle/>
          <a:p>
            <a:pPr algn="ctr"/>
            <a:r>
              <a:rPr sz="1800" b="1" i="0">
                <a:solidFill>
                  <a:srgbClr val="FFFFFF"/>
                </a:solidFill>
              </a:rPr>
              <a:t>2.2×</a:t>
            </a:r>
          </a:p>
        </p:txBody>
      </p:sp>
      <p:sp>
        <p:nvSpPr>
          <p:cNvPr id="34" name="TextBox 33"/>
          <p:cNvSpPr txBox="1"/>
          <p:nvPr/>
        </p:nvSpPr>
        <p:spPr>
          <a:xfrm>
            <a:off x="1691640" y="5440680"/>
            <a:ext cx="4370832" cy="384048"/>
          </a:xfrm>
          <a:prstGeom prst="rect">
            <a:avLst/>
          </a:prstGeom>
          <a:noFill/>
        </p:spPr>
        <p:txBody>
          <a:bodyPr wrap="square">
            <a:spAutoFit/>
          </a:bodyPr>
          <a:lstStyle/>
          <a:p>
            <a:pPr algn="l"/>
            <a:r>
              <a:rPr sz="1100" b="0" i="0">
                <a:solidFill>
                  <a:srgbClr val="404040"/>
                </a:solidFill>
              </a:rPr>
              <a:t>flooded area growth from 5-year (51.64 ha) to 100-year (115.76 ha) events</a:t>
            </a:r>
          </a:p>
        </p:txBody>
      </p:sp>
      <p:sp>
        <p:nvSpPr>
          <p:cNvPr id="35" name="Rectangle 34"/>
          <p:cNvSpPr/>
          <p:nvPr/>
        </p:nvSpPr>
        <p:spPr>
          <a:xfrm>
            <a:off x="6355080" y="1143000"/>
            <a:ext cx="5532120" cy="29260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64808" y="1179576"/>
            <a:ext cx="5394960" cy="256032"/>
          </a:xfrm>
          <a:prstGeom prst="rect">
            <a:avLst/>
          </a:prstGeom>
          <a:noFill/>
        </p:spPr>
        <p:txBody>
          <a:bodyPr wrap="square">
            <a:spAutoFit/>
          </a:bodyPr>
          <a:lstStyle/>
          <a:p>
            <a:pPr algn="l"/>
            <a:r>
              <a:rPr sz="1000" b="1" i="0">
                <a:solidFill>
                  <a:srgbClr val="FFFFFF"/>
                </a:solidFill>
              </a:rPr>
              <a:t>SIMULATION SYSTEM OUTPUTS</a:t>
            </a:r>
          </a:p>
        </p:txBody>
      </p:sp>
      <p:sp>
        <p:nvSpPr>
          <p:cNvPr id="37" name="Rectangle 36"/>
          <p:cNvSpPr/>
          <p:nvPr/>
        </p:nvSpPr>
        <p:spPr>
          <a:xfrm>
            <a:off x="6355080" y="1463040"/>
            <a:ext cx="5532120" cy="82296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355080" y="1463040"/>
            <a:ext cx="5532120" cy="265176"/>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446520" y="1499616"/>
            <a:ext cx="5349240" cy="201168"/>
          </a:xfrm>
          <a:prstGeom prst="rect">
            <a:avLst/>
          </a:prstGeom>
          <a:noFill/>
        </p:spPr>
        <p:txBody>
          <a:bodyPr wrap="square">
            <a:spAutoFit/>
          </a:bodyPr>
          <a:lstStyle/>
          <a:p>
            <a:pPr algn="l"/>
            <a:r>
              <a:rPr sz="1000" b="1" i="0">
                <a:solidFill>
                  <a:srgbClr val="FFFFFF"/>
                </a:solidFill>
              </a:rPr>
              <a:t>Animated Visualization</a:t>
            </a:r>
          </a:p>
        </p:txBody>
      </p:sp>
      <p:sp>
        <p:nvSpPr>
          <p:cNvPr id="40" name="TextBox 39"/>
          <p:cNvSpPr txBox="1"/>
          <p:nvPr/>
        </p:nvSpPr>
        <p:spPr>
          <a:xfrm>
            <a:off x="6446520" y="1764792"/>
            <a:ext cx="5349240" cy="484632"/>
          </a:xfrm>
          <a:prstGeom prst="rect">
            <a:avLst/>
          </a:prstGeom>
          <a:noFill/>
        </p:spPr>
        <p:txBody>
          <a:bodyPr wrap="square">
            <a:spAutoFit/>
          </a:bodyPr>
          <a:lstStyle/>
          <a:p>
            <a:pPr algn="l"/>
            <a:r>
              <a:rPr sz="1000" b="0" i="0">
                <a:solidFill>
                  <a:srgbClr val="404040"/>
                </a:solidFill>
              </a:rPr>
              <a:t>5-layer Matplotlib: satellite BG + rain depth (cyan→red) + river overflow (blue) + infrastructure overlays</a:t>
            </a:r>
          </a:p>
        </p:txBody>
      </p:sp>
      <p:sp>
        <p:nvSpPr>
          <p:cNvPr id="41" name="Rectangle 40"/>
          <p:cNvSpPr/>
          <p:nvPr/>
        </p:nvSpPr>
        <p:spPr>
          <a:xfrm>
            <a:off x="6355080" y="2331720"/>
            <a:ext cx="5532120" cy="82296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355080" y="2331720"/>
            <a:ext cx="5532120" cy="265176"/>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446520" y="2368296"/>
            <a:ext cx="5349240" cy="201168"/>
          </a:xfrm>
          <a:prstGeom prst="rect">
            <a:avLst/>
          </a:prstGeom>
          <a:noFill/>
        </p:spPr>
        <p:txBody>
          <a:bodyPr wrap="square">
            <a:spAutoFit/>
          </a:bodyPr>
          <a:lstStyle/>
          <a:p>
            <a:pPr algn="l"/>
            <a:r>
              <a:rPr sz="1000" b="1" i="0">
                <a:solidFill>
                  <a:srgbClr val="FFFFFF"/>
                </a:solidFill>
              </a:rPr>
              <a:t>Live Statistics Panel</a:t>
            </a:r>
          </a:p>
        </p:txBody>
      </p:sp>
      <p:sp>
        <p:nvSpPr>
          <p:cNvPr id="44" name="TextBox 43"/>
          <p:cNvSpPr txBox="1"/>
          <p:nvPr/>
        </p:nvSpPr>
        <p:spPr>
          <a:xfrm>
            <a:off x="6446520" y="2633472"/>
            <a:ext cx="5349240" cy="484632"/>
          </a:xfrm>
          <a:prstGeom prst="rect">
            <a:avLst/>
          </a:prstGeom>
          <a:noFill/>
        </p:spPr>
        <p:txBody>
          <a:bodyPr wrap="square">
            <a:spAutoFit/>
          </a:bodyPr>
          <a:lstStyle/>
          <a:p>
            <a:pPr algn="l"/>
            <a:r>
              <a:rPr sz="1000" b="0" i="0">
                <a:solidFill>
                  <a:srgbClr val="404040"/>
                </a:solidFill>
              </a:rPr>
              <a:t>Per-frame: accumulated rainfall (mm), flooded area %, river overflow %, max depth (mm), vs-baseline delta</a:t>
            </a:r>
          </a:p>
        </p:txBody>
      </p:sp>
      <p:sp>
        <p:nvSpPr>
          <p:cNvPr id="45" name="Rectangle 44"/>
          <p:cNvSpPr/>
          <p:nvPr/>
        </p:nvSpPr>
        <p:spPr>
          <a:xfrm>
            <a:off x="6355080" y="3200400"/>
            <a:ext cx="5532120" cy="82296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6355080" y="3200400"/>
            <a:ext cx="5532120" cy="265176"/>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446520" y="3236976"/>
            <a:ext cx="5349240" cy="201168"/>
          </a:xfrm>
          <a:prstGeom prst="rect">
            <a:avLst/>
          </a:prstGeom>
          <a:noFill/>
        </p:spPr>
        <p:txBody>
          <a:bodyPr wrap="square">
            <a:spAutoFit/>
          </a:bodyPr>
          <a:lstStyle/>
          <a:p>
            <a:pPr algn="l"/>
            <a:r>
              <a:rPr sz="1000" b="1" i="0">
                <a:solidFill>
                  <a:srgbClr val="FFFFFF"/>
                </a:solidFill>
              </a:rPr>
              <a:t>GIF Animation Export</a:t>
            </a:r>
          </a:p>
        </p:txBody>
      </p:sp>
      <p:sp>
        <p:nvSpPr>
          <p:cNvPr id="48" name="TextBox 47"/>
          <p:cNvSpPr txBox="1"/>
          <p:nvPr/>
        </p:nvSpPr>
        <p:spPr>
          <a:xfrm>
            <a:off x="6446520" y="3502152"/>
            <a:ext cx="5349240" cy="484632"/>
          </a:xfrm>
          <a:prstGeom prst="rect">
            <a:avLst/>
          </a:prstGeom>
          <a:noFill/>
        </p:spPr>
        <p:txBody>
          <a:bodyPr wrap="square">
            <a:spAutoFit/>
          </a:bodyPr>
          <a:lstStyle/>
          <a:p>
            <a:pPr algn="l"/>
            <a:r>
              <a:rPr sz="1000" b="0" i="0">
                <a:solidFill>
                  <a:srgbClr val="404040"/>
                </a:solidFill>
              </a:rPr>
              <a:t>Full animation exported to Results/animations/ — one GIF per simulation run</a:t>
            </a:r>
          </a:p>
        </p:txBody>
      </p:sp>
      <p:sp>
        <p:nvSpPr>
          <p:cNvPr id="49" name="Rectangle 48"/>
          <p:cNvSpPr/>
          <p:nvPr/>
        </p:nvSpPr>
        <p:spPr>
          <a:xfrm>
            <a:off x="6355080" y="4069080"/>
            <a:ext cx="5532120" cy="82296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6355080" y="4069080"/>
            <a:ext cx="5532120" cy="265176"/>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446520" y="4105656"/>
            <a:ext cx="5349240" cy="201168"/>
          </a:xfrm>
          <a:prstGeom prst="rect">
            <a:avLst/>
          </a:prstGeom>
          <a:noFill/>
        </p:spPr>
        <p:txBody>
          <a:bodyPr wrap="square">
            <a:spAutoFit/>
          </a:bodyPr>
          <a:lstStyle/>
          <a:p>
            <a:pPr algn="l"/>
            <a:r>
              <a:rPr sz="1000" b="1" i="0">
                <a:solidFill>
                  <a:srgbClr val="FFFFFF"/>
                </a:solidFill>
              </a:rPr>
              <a:t>CSV Time-Series Export</a:t>
            </a:r>
          </a:p>
        </p:txBody>
      </p:sp>
      <p:sp>
        <p:nvSpPr>
          <p:cNvPr id="52" name="TextBox 51"/>
          <p:cNvSpPr txBox="1"/>
          <p:nvPr/>
        </p:nvSpPr>
        <p:spPr>
          <a:xfrm>
            <a:off x="6446520" y="4370832"/>
            <a:ext cx="5349240" cy="484632"/>
          </a:xfrm>
          <a:prstGeom prst="rect">
            <a:avLst/>
          </a:prstGeom>
          <a:noFill/>
        </p:spPr>
        <p:txBody>
          <a:bodyPr wrap="square">
            <a:spAutoFit/>
          </a:bodyPr>
          <a:lstStyle/>
          <a:p>
            <a:pPr algn="l"/>
            <a:r>
              <a:rPr sz="1000" b="0" i="0">
                <a:solidFill>
                  <a:srgbClr val="404040"/>
                </a:solidFill>
              </a:rPr>
              <a:t>Per-frame: time (min), rain_mm, flooded_pct, river_pct, max_depth_mm — baseline and prevention runs</a:t>
            </a:r>
          </a:p>
        </p:txBody>
      </p:sp>
      <p:sp>
        <p:nvSpPr>
          <p:cNvPr id="53" name="Rectangle 52"/>
          <p:cNvSpPr/>
          <p:nvPr/>
        </p:nvSpPr>
        <p:spPr>
          <a:xfrm>
            <a:off x="6355080" y="4937760"/>
            <a:ext cx="5532120" cy="82296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6355080" y="4937760"/>
            <a:ext cx="5532120" cy="265176"/>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446520" y="4974336"/>
            <a:ext cx="5349240" cy="201168"/>
          </a:xfrm>
          <a:prstGeom prst="rect">
            <a:avLst/>
          </a:prstGeom>
          <a:noFill/>
        </p:spPr>
        <p:txBody>
          <a:bodyPr wrap="square">
            <a:spAutoFit/>
          </a:bodyPr>
          <a:lstStyle/>
          <a:p>
            <a:pPr algn="l"/>
            <a:r>
              <a:rPr sz="1000" b="1" i="0">
                <a:solidFill>
                  <a:srgbClr val="FFFFFF"/>
                </a:solidFill>
              </a:rPr>
              <a:t>Risk Map Files</a:t>
            </a:r>
          </a:p>
        </p:txBody>
      </p:sp>
      <p:sp>
        <p:nvSpPr>
          <p:cNvPr id="56" name="TextBox 55"/>
          <p:cNvSpPr txBox="1"/>
          <p:nvPr/>
        </p:nvSpPr>
        <p:spPr>
          <a:xfrm>
            <a:off x="6446520" y="5239512"/>
            <a:ext cx="5349240" cy="484632"/>
          </a:xfrm>
          <a:prstGeom prst="rect">
            <a:avLst/>
          </a:prstGeom>
          <a:noFill/>
        </p:spPr>
        <p:txBody>
          <a:bodyPr wrap="square">
            <a:spAutoFit/>
          </a:bodyPr>
          <a:lstStyle/>
          <a:p>
            <a:pPr algn="l"/>
            <a:r>
              <a:rPr sz="1000" b="0" i="0">
                <a:solidFill>
                  <a:srgbClr val="404040"/>
                </a:solidFill>
              </a:rPr>
              <a:t>HAND outputs: risk_map.npy, flood_risk_report.txt, flood_statistics.json, terrain .npy arrays</a:t>
            </a:r>
          </a:p>
        </p:txBody>
      </p:sp>
      <p:sp>
        <p:nvSpPr>
          <p:cNvPr id="57" name="Rectangle 56"/>
          <p:cNvSpPr/>
          <p:nvPr/>
        </p:nvSpPr>
        <p:spPr>
          <a:xfrm>
            <a:off x="6355080" y="5806440"/>
            <a:ext cx="5532120" cy="82296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6355080" y="5806440"/>
            <a:ext cx="5532120" cy="265176"/>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446520" y="5843016"/>
            <a:ext cx="5349240" cy="201168"/>
          </a:xfrm>
          <a:prstGeom prst="rect">
            <a:avLst/>
          </a:prstGeom>
          <a:noFill/>
        </p:spPr>
        <p:txBody>
          <a:bodyPr wrap="square">
            <a:spAutoFit/>
          </a:bodyPr>
          <a:lstStyle/>
          <a:p>
            <a:pPr algn="l"/>
            <a:r>
              <a:rPr sz="1000" b="1" i="0">
                <a:solidFill>
                  <a:srgbClr val="FFFFFF"/>
                </a:solidFill>
              </a:rPr>
              <a:t>Playback Controls</a:t>
            </a:r>
          </a:p>
        </p:txBody>
      </p:sp>
      <p:sp>
        <p:nvSpPr>
          <p:cNvPr id="60" name="TextBox 59"/>
          <p:cNvSpPr txBox="1"/>
          <p:nvPr/>
        </p:nvSpPr>
        <p:spPr>
          <a:xfrm>
            <a:off x="6446520" y="6108192"/>
            <a:ext cx="5349240" cy="484632"/>
          </a:xfrm>
          <a:prstGeom prst="rect">
            <a:avLst/>
          </a:prstGeom>
          <a:noFill/>
        </p:spPr>
        <p:txBody>
          <a:bodyPr wrap="square">
            <a:spAutoFit/>
          </a:bodyPr>
          <a:lstStyle/>
          <a:p>
            <a:pPr algn="l"/>
            <a:r>
              <a:rPr sz="1000" b="0" i="0">
                <a:solidFill>
                  <a:srgbClr val="404040"/>
                </a:solidFill>
              </a:rPr>
              <a:t>Play/Pause, frame scrubber slider, speed control, step forward/backward buttons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88952" cy="36576"/>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 y="91440"/>
            <a:ext cx="685800" cy="777240"/>
          </a:xfrm>
          <a:prstGeom prst="rect">
            <a:avLst/>
          </a:prstGeom>
          <a:noFill/>
        </p:spPr>
        <p:txBody>
          <a:bodyPr wrap="square">
            <a:spAutoFit/>
          </a:bodyPr>
          <a:lstStyle/>
          <a:p>
            <a:pPr algn="ctr"/>
            <a:r>
              <a:rPr sz="3000" b="1" i="0">
                <a:solidFill>
                  <a:srgbClr val="FFC000"/>
                </a:solidFill>
              </a:rPr>
              <a:t>09</a:t>
            </a:r>
          </a:p>
        </p:txBody>
      </p:sp>
      <p:sp>
        <p:nvSpPr>
          <p:cNvPr id="6" name="TextBox 5"/>
          <p:cNvSpPr txBox="1"/>
          <p:nvPr/>
        </p:nvSpPr>
        <p:spPr>
          <a:xfrm>
            <a:off x="868680" y="164592"/>
            <a:ext cx="10789920" cy="685800"/>
          </a:xfrm>
          <a:prstGeom prst="rect">
            <a:avLst/>
          </a:prstGeom>
          <a:noFill/>
        </p:spPr>
        <p:txBody>
          <a:bodyPr wrap="square">
            <a:spAutoFit/>
          </a:bodyPr>
          <a:lstStyle/>
          <a:p>
            <a:pPr algn="l"/>
            <a:r>
              <a:rPr sz="2200" b="1" i="0">
                <a:solidFill>
                  <a:srgbClr val="FFFFFF"/>
                </a:solidFill>
              </a:rPr>
              <a:t>Conclusions &amp; Recommendations</a:t>
            </a:r>
          </a:p>
        </p:txBody>
      </p:sp>
      <p:sp>
        <p:nvSpPr>
          <p:cNvPr id="7" name="Rectangle 6"/>
          <p:cNvSpPr/>
          <p:nvPr/>
        </p:nvSpPr>
        <p:spPr>
          <a:xfrm>
            <a:off x="0" y="6492240"/>
            <a:ext cx="12188952" cy="36576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0" y="6510528"/>
            <a:ext cx="12188952" cy="320040"/>
          </a:xfrm>
          <a:prstGeom prst="rect">
            <a:avLst/>
          </a:prstGeom>
          <a:noFill/>
        </p:spPr>
        <p:txBody>
          <a:bodyPr wrap="square">
            <a:spAutoFit/>
          </a:bodyPr>
          <a:lstStyle/>
          <a:p>
            <a:pPr algn="ctr"/>
            <a:r>
              <a:rPr sz="900" b="0" i="0">
                <a:solidFill>
                  <a:srgbClr val="DBE5F1"/>
                </a:solidFill>
              </a:rPr>
              <a:t>Jade Valley Flood Risk Simulation  •  Conclusions</a:t>
            </a:r>
          </a:p>
        </p:txBody>
      </p:sp>
      <p:sp>
        <p:nvSpPr>
          <p:cNvPr id="9" name="Rectangle 8"/>
          <p:cNvSpPr/>
          <p:nvPr/>
        </p:nvSpPr>
        <p:spPr>
          <a:xfrm>
            <a:off x="274320" y="1143000"/>
            <a:ext cx="5669280" cy="29260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84048" y="1179576"/>
            <a:ext cx="5532120" cy="256032"/>
          </a:xfrm>
          <a:prstGeom prst="rect">
            <a:avLst/>
          </a:prstGeom>
          <a:noFill/>
        </p:spPr>
        <p:txBody>
          <a:bodyPr wrap="square">
            <a:spAutoFit/>
          </a:bodyPr>
          <a:lstStyle/>
          <a:p>
            <a:pPr algn="l"/>
            <a:r>
              <a:rPr sz="1000" b="1" i="0">
                <a:solidFill>
                  <a:srgbClr val="FFFFFF"/>
                </a:solidFill>
              </a:rPr>
              <a:t>CONCLUSIONS</a:t>
            </a:r>
          </a:p>
        </p:txBody>
      </p:sp>
      <p:sp>
        <p:nvSpPr>
          <p:cNvPr id="11" name="TextBox 10"/>
          <p:cNvSpPr txBox="1"/>
          <p:nvPr/>
        </p:nvSpPr>
        <p:spPr>
          <a:xfrm>
            <a:off x="274320" y="1463040"/>
            <a:ext cx="5669280" cy="5120640"/>
          </a:xfrm>
          <a:prstGeom prst="rect">
            <a:avLst/>
          </a:prstGeom>
          <a:noFill/>
        </p:spPr>
        <p:txBody>
          <a:bodyPr wrap="square">
            <a:spAutoFit/>
          </a:bodyPr>
          <a:lstStyle/>
          <a:p>
            <a:pPr>
              <a:spcBef>
                <a:spcPts val="300"/>
              </a:spcBef>
            </a:pPr>
            <a:r>
              <a:rPr sz="1000">
                <a:solidFill>
                  <a:srgbClr val="404040"/>
                </a:solidFill>
              </a:rPr>
              <a:t>•  The system successfully models flood inundation using D8 flow routing, BFS river overflow, and Green-Ampt infiltration — providing terrain-accurate, scenario-driven results on real DEM data.</a:t>
            </a:r>
          </a:p>
          <a:p>
            <a:pPr>
              <a:spcBef>
                <a:spcPts val="300"/>
              </a:spcBef>
            </a:pPr>
            <a:r>
              <a:rPr sz="1000">
                <a:solidFill>
                  <a:srgbClr val="404040"/>
                </a:solidFill>
              </a:rPr>
              <a:t>•  HAND model confirms 8.2% Very High Risk (26.66 ha) flooding at Heavy Rain and 35.5% (115.76 ha) inundated in 100-year events — quantifying genuine flood risk for emergency planning.</a:t>
            </a:r>
          </a:p>
          <a:p>
            <a:pPr>
              <a:spcBef>
                <a:spcPts val="300"/>
              </a:spcBef>
            </a:pPr>
            <a:r>
              <a:rPr sz="1000">
                <a:solidFill>
                  <a:srgbClr val="404040"/>
                </a:solidFill>
              </a:rPr>
              <a:t>•  The Riverbank Floodwall effectively delays river overflow into the residential core by requiring water to overtop the raised crest before spreading onto adjacent land.</a:t>
            </a:r>
          </a:p>
          <a:p>
            <a:pPr>
              <a:spcBef>
                <a:spcPts val="300"/>
              </a:spcBef>
            </a:pPr>
            <a:r>
              <a:rPr sz="1000">
                <a:solidFill>
                  <a:srgbClr val="404040"/>
                </a:solidFill>
              </a:rPr>
              <a:t>•  The Drainage Canal Network accelerates runoff evacuation from the flood-prone central zone, reducing peak surface accumulation in slow-draining flat areas.</a:t>
            </a:r>
          </a:p>
          <a:p>
            <a:pPr>
              <a:spcBef>
                <a:spcPts val="300"/>
              </a:spcBef>
            </a:pPr>
            <a:r>
              <a:rPr sz="1000">
                <a:solidFill>
                  <a:srgbClr val="404040"/>
                </a:solidFill>
              </a:rPr>
              <a:t>•  The Retention Basin (75% build) provides the most significant peak inundation reduction by storing excess floodwater at the primary topographic sink before it spreads.</a:t>
            </a:r>
          </a:p>
          <a:p>
            <a:pPr>
              <a:spcBef>
                <a:spcPts val="300"/>
              </a:spcBef>
            </a:pPr>
            <a:r>
              <a:rPr sz="1000">
                <a:solidFill>
                  <a:srgbClr val="404040"/>
                </a:solidFill>
              </a:rPr>
              <a:t>•  The Elevated Emergency Road maintains critical cross-subdivision access for emergency vehicles at design flood level while deflecting surface flow laterally away from the central zone.</a:t>
            </a:r>
          </a:p>
          <a:p>
            <a:pPr>
              <a:spcBef>
                <a:spcPts val="300"/>
              </a:spcBef>
            </a:pPr>
            <a:r>
              <a:rPr sz="1000">
                <a:solidFill>
                  <a:srgbClr val="404040"/>
                </a:solidFill>
              </a:rPr>
              <a:t>•  The layered 4-measure strategy in the 75% build represents a comprehensive flood risk reduction approach aligned with the terrain and hydrology of Jade Valley Subdivision.</a:t>
            </a:r>
          </a:p>
        </p:txBody>
      </p:sp>
      <p:sp>
        <p:nvSpPr>
          <p:cNvPr id="12" name="Rectangle 11"/>
          <p:cNvSpPr/>
          <p:nvPr/>
        </p:nvSpPr>
        <p:spPr>
          <a:xfrm>
            <a:off x="6172200" y="1143000"/>
            <a:ext cx="5715000" cy="29260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81928" y="1179576"/>
            <a:ext cx="5577840" cy="256032"/>
          </a:xfrm>
          <a:prstGeom prst="rect">
            <a:avLst/>
          </a:prstGeom>
          <a:noFill/>
        </p:spPr>
        <p:txBody>
          <a:bodyPr wrap="square">
            <a:spAutoFit/>
          </a:bodyPr>
          <a:lstStyle/>
          <a:p>
            <a:pPr algn="l"/>
            <a:r>
              <a:rPr sz="1000" b="1" i="0">
                <a:solidFill>
                  <a:srgbClr val="FFFFFF"/>
                </a:solidFill>
              </a:rPr>
              <a:t>RECOMMENDATIONS</a:t>
            </a:r>
          </a:p>
        </p:txBody>
      </p:sp>
      <p:sp>
        <p:nvSpPr>
          <p:cNvPr id="14" name="Rectangle 13"/>
          <p:cNvSpPr/>
          <p:nvPr/>
        </p:nvSpPr>
        <p:spPr>
          <a:xfrm>
            <a:off x="6172200" y="1463040"/>
            <a:ext cx="5715000" cy="63093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72200" y="1463040"/>
            <a:ext cx="347472" cy="630936"/>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72200" y="1554480"/>
            <a:ext cx="347472" cy="411480"/>
          </a:xfrm>
          <a:prstGeom prst="rect">
            <a:avLst/>
          </a:prstGeom>
          <a:noFill/>
        </p:spPr>
        <p:txBody>
          <a:bodyPr wrap="square">
            <a:spAutoFit/>
          </a:bodyPr>
          <a:lstStyle/>
          <a:p>
            <a:pPr algn="ctr"/>
            <a:r>
              <a:rPr sz="1400" b="1" i="0">
                <a:solidFill>
                  <a:srgbClr val="FFFFFF"/>
                </a:solidFill>
              </a:rPr>
              <a:t>1</a:t>
            </a:r>
          </a:p>
        </p:txBody>
      </p:sp>
      <p:sp>
        <p:nvSpPr>
          <p:cNvPr id="17" name="TextBox 16"/>
          <p:cNvSpPr txBox="1"/>
          <p:nvPr/>
        </p:nvSpPr>
        <p:spPr>
          <a:xfrm>
            <a:off x="6583680" y="1554480"/>
            <a:ext cx="5212080" cy="475488"/>
          </a:xfrm>
          <a:prstGeom prst="rect">
            <a:avLst/>
          </a:prstGeom>
          <a:noFill/>
        </p:spPr>
        <p:txBody>
          <a:bodyPr wrap="square">
            <a:spAutoFit/>
          </a:bodyPr>
          <a:lstStyle/>
          <a:p>
            <a:pPr algn="l"/>
            <a:r>
              <a:rPr sz="1000" b="0" i="0">
                <a:solidFill>
                  <a:srgbClr val="404040"/>
                </a:solidFill>
              </a:rPr>
              <a:t>Prioritize drainage infrastructure upgrades in the Very High + High Risk zones (58.49 ha combined).</a:t>
            </a:r>
          </a:p>
        </p:txBody>
      </p:sp>
      <p:sp>
        <p:nvSpPr>
          <p:cNvPr id="18" name="Rectangle 17"/>
          <p:cNvSpPr/>
          <p:nvPr/>
        </p:nvSpPr>
        <p:spPr>
          <a:xfrm>
            <a:off x="6172200" y="2139696"/>
            <a:ext cx="5715000" cy="63093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72200" y="2139696"/>
            <a:ext cx="347472" cy="630936"/>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72200" y="2231136"/>
            <a:ext cx="347472" cy="411480"/>
          </a:xfrm>
          <a:prstGeom prst="rect">
            <a:avLst/>
          </a:prstGeom>
          <a:noFill/>
        </p:spPr>
        <p:txBody>
          <a:bodyPr wrap="square">
            <a:spAutoFit/>
          </a:bodyPr>
          <a:lstStyle/>
          <a:p>
            <a:pPr algn="ctr"/>
            <a:r>
              <a:rPr sz="1400" b="1" i="0">
                <a:solidFill>
                  <a:srgbClr val="FFFFFF"/>
                </a:solidFill>
              </a:rPr>
              <a:t>2</a:t>
            </a:r>
          </a:p>
        </p:txBody>
      </p:sp>
      <p:sp>
        <p:nvSpPr>
          <p:cNvPr id="21" name="TextBox 20"/>
          <p:cNvSpPr txBox="1"/>
          <p:nvPr/>
        </p:nvSpPr>
        <p:spPr>
          <a:xfrm>
            <a:off x="6583680" y="2231136"/>
            <a:ext cx="5212080" cy="475488"/>
          </a:xfrm>
          <a:prstGeom prst="rect">
            <a:avLst/>
          </a:prstGeom>
          <a:noFill/>
        </p:spPr>
        <p:txBody>
          <a:bodyPr wrap="square">
            <a:spAutoFit/>
          </a:bodyPr>
          <a:lstStyle/>
          <a:p>
            <a:pPr algn="l"/>
            <a:r>
              <a:rPr sz="1000" b="0" i="0">
                <a:solidFill>
                  <a:srgbClr val="404040"/>
                </a:solidFill>
              </a:rPr>
              <a:t>Implement early warning systems calibrated to HAND thresholds: 1.0 m (5-yr) and 2.0 m (10-yr).</a:t>
            </a:r>
          </a:p>
        </p:txBody>
      </p:sp>
      <p:sp>
        <p:nvSpPr>
          <p:cNvPr id="22" name="Rectangle 21"/>
          <p:cNvSpPr/>
          <p:nvPr/>
        </p:nvSpPr>
        <p:spPr>
          <a:xfrm>
            <a:off x="6172200" y="2816352"/>
            <a:ext cx="5715000" cy="63093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2200" y="2816352"/>
            <a:ext cx="347472" cy="630936"/>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72200" y="2907792"/>
            <a:ext cx="347472" cy="411480"/>
          </a:xfrm>
          <a:prstGeom prst="rect">
            <a:avLst/>
          </a:prstGeom>
          <a:noFill/>
        </p:spPr>
        <p:txBody>
          <a:bodyPr wrap="square">
            <a:spAutoFit/>
          </a:bodyPr>
          <a:lstStyle/>
          <a:p>
            <a:pPr algn="ctr"/>
            <a:r>
              <a:rPr sz="1400" b="1" i="0">
                <a:solidFill>
                  <a:srgbClr val="FFFFFF"/>
                </a:solidFill>
              </a:rPr>
              <a:t>3</a:t>
            </a:r>
          </a:p>
        </p:txBody>
      </p:sp>
      <p:sp>
        <p:nvSpPr>
          <p:cNvPr id="25" name="TextBox 24"/>
          <p:cNvSpPr txBox="1"/>
          <p:nvPr/>
        </p:nvSpPr>
        <p:spPr>
          <a:xfrm>
            <a:off x="6583680" y="2907792"/>
            <a:ext cx="5212080" cy="475488"/>
          </a:xfrm>
          <a:prstGeom prst="rect">
            <a:avLst/>
          </a:prstGeom>
          <a:noFill/>
        </p:spPr>
        <p:txBody>
          <a:bodyPr wrap="square">
            <a:spAutoFit/>
          </a:bodyPr>
          <a:lstStyle/>
          <a:p>
            <a:pPr algn="l"/>
            <a:r>
              <a:rPr sz="1000" b="0" i="0">
                <a:solidFill>
                  <a:srgbClr val="404040"/>
                </a:solidFill>
              </a:rPr>
              <a:t>Restrict high-density development in areas with HAND values below 1.0 m (Very High Risk zone).</a:t>
            </a:r>
          </a:p>
        </p:txBody>
      </p:sp>
      <p:sp>
        <p:nvSpPr>
          <p:cNvPr id="26" name="Rectangle 25"/>
          <p:cNvSpPr/>
          <p:nvPr/>
        </p:nvSpPr>
        <p:spPr>
          <a:xfrm>
            <a:off x="6172200" y="3493008"/>
            <a:ext cx="5715000" cy="63093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172200" y="3493008"/>
            <a:ext cx="347472" cy="630936"/>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172200" y="3584448"/>
            <a:ext cx="347472" cy="411480"/>
          </a:xfrm>
          <a:prstGeom prst="rect">
            <a:avLst/>
          </a:prstGeom>
          <a:noFill/>
        </p:spPr>
        <p:txBody>
          <a:bodyPr wrap="square">
            <a:spAutoFit/>
          </a:bodyPr>
          <a:lstStyle/>
          <a:p>
            <a:pPr algn="ctr"/>
            <a:r>
              <a:rPr sz="1400" b="1" i="0">
                <a:solidFill>
                  <a:srgbClr val="FFFFFF"/>
                </a:solidFill>
              </a:rPr>
              <a:t>4</a:t>
            </a:r>
          </a:p>
        </p:txBody>
      </p:sp>
      <p:sp>
        <p:nvSpPr>
          <p:cNvPr id="29" name="TextBox 28"/>
          <p:cNvSpPr txBox="1"/>
          <p:nvPr/>
        </p:nvSpPr>
        <p:spPr>
          <a:xfrm>
            <a:off x="6583680" y="3584448"/>
            <a:ext cx="5212080" cy="475488"/>
          </a:xfrm>
          <a:prstGeom prst="rect">
            <a:avLst/>
          </a:prstGeom>
          <a:noFill/>
        </p:spPr>
        <p:txBody>
          <a:bodyPr wrap="square">
            <a:spAutoFit/>
          </a:bodyPr>
          <a:lstStyle/>
          <a:p>
            <a:pPr algn="l"/>
            <a:r>
              <a:rPr sz="1000" b="0" i="0">
                <a:solidFill>
                  <a:srgbClr val="404040"/>
                </a:solidFill>
              </a:rPr>
              <a:t>Construct retention basins in designated open land at the outer perimeter to buffer storm runoff.</a:t>
            </a:r>
          </a:p>
        </p:txBody>
      </p:sp>
      <p:sp>
        <p:nvSpPr>
          <p:cNvPr id="30" name="Rectangle 29"/>
          <p:cNvSpPr/>
          <p:nvPr/>
        </p:nvSpPr>
        <p:spPr>
          <a:xfrm>
            <a:off x="6172200" y="4169664"/>
            <a:ext cx="5715000" cy="63093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172200" y="4169664"/>
            <a:ext cx="347472" cy="630936"/>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172200" y="4261104"/>
            <a:ext cx="347472" cy="411480"/>
          </a:xfrm>
          <a:prstGeom prst="rect">
            <a:avLst/>
          </a:prstGeom>
          <a:noFill/>
        </p:spPr>
        <p:txBody>
          <a:bodyPr wrap="square">
            <a:spAutoFit/>
          </a:bodyPr>
          <a:lstStyle/>
          <a:p>
            <a:pPr algn="ctr"/>
            <a:r>
              <a:rPr sz="1400" b="1" i="0">
                <a:solidFill>
                  <a:srgbClr val="FFFFFF"/>
                </a:solidFill>
              </a:rPr>
              <a:t>5</a:t>
            </a:r>
          </a:p>
        </p:txBody>
      </p:sp>
      <p:sp>
        <p:nvSpPr>
          <p:cNvPr id="33" name="TextBox 32"/>
          <p:cNvSpPr txBox="1"/>
          <p:nvPr/>
        </p:nvSpPr>
        <p:spPr>
          <a:xfrm>
            <a:off x="6583680" y="4261104"/>
            <a:ext cx="5212080" cy="475488"/>
          </a:xfrm>
          <a:prstGeom prst="rect">
            <a:avLst/>
          </a:prstGeom>
          <a:noFill/>
        </p:spPr>
        <p:txBody>
          <a:bodyPr wrap="square">
            <a:spAutoFit/>
          </a:bodyPr>
          <a:lstStyle/>
          <a:p>
            <a:pPr algn="l"/>
            <a:r>
              <a:rPr sz="1000" b="0" i="0">
                <a:solidFill>
                  <a:srgbClr val="404040"/>
                </a:solidFill>
              </a:rPr>
              <a:t>Install a riverbank floodwall along the western bank to delay typhoon-event inundation onset.</a:t>
            </a:r>
          </a:p>
        </p:txBody>
      </p:sp>
      <p:sp>
        <p:nvSpPr>
          <p:cNvPr id="34" name="Rectangle 33"/>
          <p:cNvSpPr/>
          <p:nvPr/>
        </p:nvSpPr>
        <p:spPr>
          <a:xfrm>
            <a:off x="6172200" y="4846320"/>
            <a:ext cx="5715000" cy="63093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172200" y="4846320"/>
            <a:ext cx="347472" cy="630936"/>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172200" y="4937760"/>
            <a:ext cx="347472" cy="411480"/>
          </a:xfrm>
          <a:prstGeom prst="rect">
            <a:avLst/>
          </a:prstGeom>
          <a:noFill/>
        </p:spPr>
        <p:txBody>
          <a:bodyPr wrap="square">
            <a:spAutoFit/>
          </a:bodyPr>
          <a:lstStyle/>
          <a:p>
            <a:pPr algn="ctr"/>
            <a:r>
              <a:rPr sz="1400" b="1" i="0">
                <a:solidFill>
                  <a:srgbClr val="FFFFFF"/>
                </a:solidFill>
              </a:rPr>
              <a:t>6</a:t>
            </a:r>
          </a:p>
        </p:txBody>
      </p:sp>
      <p:sp>
        <p:nvSpPr>
          <p:cNvPr id="37" name="TextBox 36"/>
          <p:cNvSpPr txBox="1"/>
          <p:nvPr/>
        </p:nvSpPr>
        <p:spPr>
          <a:xfrm>
            <a:off x="6583680" y="4937760"/>
            <a:ext cx="5212080" cy="475488"/>
          </a:xfrm>
          <a:prstGeom prst="rect">
            <a:avLst/>
          </a:prstGeom>
          <a:noFill/>
        </p:spPr>
        <p:txBody>
          <a:bodyPr wrap="square">
            <a:spAutoFit/>
          </a:bodyPr>
          <a:lstStyle/>
          <a:p>
            <a:pPr algn="l"/>
            <a:r>
              <a:rPr sz="1000" b="0" i="0">
                <a:solidFill>
                  <a:srgbClr val="404040"/>
                </a:solidFill>
              </a:rPr>
              <a:t>Designate the 53.6% Safe Zone (174.81 ha) as official evacuation areas with pre-positioned resources.</a:t>
            </a:r>
          </a:p>
        </p:txBody>
      </p:sp>
      <p:sp>
        <p:nvSpPr>
          <p:cNvPr id="38" name="Rectangle 37"/>
          <p:cNvSpPr/>
          <p:nvPr/>
        </p:nvSpPr>
        <p:spPr>
          <a:xfrm>
            <a:off x="6172200" y="5522976"/>
            <a:ext cx="5715000" cy="63093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172200" y="5522976"/>
            <a:ext cx="347472" cy="630936"/>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172200" y="5614416"/>
            <a:ext cx="347472" cy="411480"/>
          </a:xfrm>
          <a:prstGeom prst="rect">
            <a:avLst/>
          </a:prstGeom>
          <a:noFill/>
        </p:spPr>
        <p:txBody>
          <a:bodyPr wrap="square">
            <a:spAutoFit/>
          </a:bodyPr>
          <a:lstStyle/>
          <a:p>
            <a:pPr algn="ctr"/>
            <a:r>
              <a:rPr sz="1400" b="1" i="0">
                <a:solidFill>
                  <a:srgbClr val="FFFFFF"/>
                </a:solidFill>
              </a:rPr>
              <a:t>7</a:t>
            </a:r>
          </a:p>
        </p:txBody>
      </p:sp>
      <p:sp>
        <p:nvSpPr>
          <p:cNvPr id="41" name="TextBox 40"/>
          <p:cNvSpPr txBox="1"/>
          <p:nvPr/>
        </p:nvSpPr>
        <p:spPr>
          <a:xfrm>
            <a:off x="6583680" y="5614416"/>
            <a:ext cx="5212080" cy="475488"/>
          </a:xfrm>
          <a:prstGeom prst="rect">
            <a:avLst/>
          </a:prstGeom>
          <a:noFill/>
        </p:spPr>
        <p:txBody>
          <a:bodyPr wrap="square">
            <a:spAutoFit/>
          </a:bodyPr>
          <a:lstStyle/>
          <a:p>
            <a:pPr algn="l"/>
            <a:r>
              <a:rPr sz="1000" b="0" i="0">
                <a:solidFill>
                  <a:srgbClr val="404040"/>
                </a:solidFill>
              </a:rPr>
              <a:t>Conduct community flood drills aligned to PAGASA 5-year return period advisories.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23774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2377440"/>
            <a:ext cx="12188952" cy="45720"/>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0" y="320040"/>
            <a:ext cx="12188952" cy="914400"/>
          </a:xfrm>
          <a:prstGeom prst="rect">
            <a:avLst/>
          </a:prstGeom>
          <a:noFill/>
        </p:spPr>
        <p:txBody>
          <a:bodyPr wrap="square">
            <a:spAutoFit/>
          </a:bodyPr>
          <a:lstStyle/>
          <a:p>
            <a:pPr algn="ctr"/>
            <a:r>
              <a:rPr sz="5200" b="1" i="0">
                <a:solidFill>
                  <a:srgbClr val="FFFFFF"/>
                </a:solidFill>
              </a:rPr>
              <a:t>Thank You!</a:t>
            </a:r>
          </a:p>
        </p:txBody>
      </p:sp>
      <p:sp>
        <p:nvSpPr>
          <p:cNvPr id="6" name="TextBox 5"/>
          <p:cNvSpPr txBox="1"/>
          <p:nvPr/>
        </p:nvSpPr>
        <p:spPr>
          <a:xfrm>
            <a:off x="0" y="1280160"/>
            <a:ext cx="12188952" cy="640080"/>
          </a:xfrm>
          <a:prstGeom prst="rect">
            <a:avLst/>
          </a:prstGeom>
          <a:noFill/>
        </p:spPr>
        <p:txBody>
          <a:bodyPr wrap="square">
            <a:spAutoFit/>
          </a:bodyPr>
          <a:lstStyle/>
          <a:p>
            <a:pPr algn="ctr"/>
            <a:r>
              <a:rPr sz="2200" b="0" i="0">
                <a:solidFill>
                  <a:srgbClr val="DBE5F1"/>
                </a:solidFill>
              </a:rPr>
              <a:t>Questions &amp; Discussion</a:t>
            </a:r>
          </a:p>
        </p:txBody>
      </p:sp>
      <p:sp>
        <p:nvSpPr>
          <p:cNvPr id="7" name="Rectangle 6"/>
          <p:cNvSpPr/>
          <p:nvPr/>
        </p:nvSpPr>
        <p:spPr>
          <a:xfrm>
            <a:off x="457200" y="2606040"/>
            <a:ext cx="2651760" cy="141732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2651760"/>
            <a:ext cx="2651760" cy="594360"/>
          </a:xfrm>
          <a:prstGeom prst="rect">
            <a:avLst/>
          </a:prstGeom>
          <a:noFill/>
        </p:spPr>
        <p:txBody>
          <a:bodyPr wrap="square">
            <a:spAutoFit/>
          </a:bodyPr>
          <a:lstStyle/>
          <a:p>
            <a:pPr algn="ctr"/>
            <a:r>
              <a:rPr sz="2800" b="1" i="0">
                <a:solidFill>
                  <a:srgbClr val="1F497D"/>
                </a:solidFill>
              </a:rPr>
              <a:t>326 ha</a:t>
            </a:r>
          </a:p>
        </p:txBody>
      </p:sp>
      <p:sp>
        <p:nvSpPr>
          <p:cNvPr id="9" name="TextBox 8"/>
          <p:cNvSpPr txBox="1"/>
          <p:nvPr/>
        </p:nvSpPr>
        <p:spPr>
          <a:xfrm>
            <a:off x="457200" y="3200400"/>
            <a:ext cx="2651760" cy="320040"/>
          </a:xfrm>
          <a:prstGeom prst="rect">
            <a:avLst/>
          </a:prstGeom>
          <a:noFill/>
        </p:spPr>
        <p:txBody>
          <a:bodyPr wrap="square">
            <a:spAutoFit/>
          </a:bodyPr>
          <a:lstStyle/>
          <a:p>
            <a:pPr algn="ctr"/>
            <a:r>
              <a:rPr sz="1200" b="1" i="0">
                <a:solidFill>
                  <a:srgbClr val="0070C0"/>
                </a:solidFill>
              </a:rPr>
              <a:t>Total Study Area</a:t>
            </a:r>
          </a:p>
        </p:txBody>
      </p:sp>
      <p:sp>
        <p:nvSpPr>
          <p:cNvPr id="10" name="TextBox 9"/>
          <p:cNvSpPr txBox="1"/>
          <p:nvPr/>
        </p:nvSpPr>
        <p:spPr>
          <a:xfrm>
            <a:off x="457200" y="3493008"/>
            <a:ext cx="2651760" cy="274320"/>
          </a:xfrm>
          <a:prstGeom prst="rect">
            <a:avLst/>
          </a:prstGeom>
          <a:noFill/>
        </p:spPr>
        <p:txBody>
          <a:bodyPr wrap="square">
            <a:spAutoFit/>
          </a:bodyPr>
          <a:lstStyle/>
          <a:p>
            <a:pPr algn="ctr"/>
            <a:r>
              <a:rPr sz="900" b="0" i="0">
                <a:solidFill>
                  <a:srgbClr val="808080"/>
                </a:solidFill>
              </a:rPr>
              <a:t>Jade Valley Subdivision</a:t>
            </a:r>
          </a:p>
        </p:txBody>
      </p:sp>
      <p:sp>
        <p:nvSpPr>
          <p:cNvPr id="11" name="Rectangle 10"/>
          <p:cNvSpPr/>
          <p:nvPr/>
        </p:nvSpPr>
        <p:spPr>
          <a:xfrm>
            <a:off x="3291840" y="2606040"/>
            <a:ext cx="2651760" cy="141732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91840" y="2651760"/>
            <a:ext cx="2651760" cy="594360"/>
          </a:xfrm>
          <a:prstGeom prst="rect">
            <a:avLst/>
          </a:prstGeom>
          <a:noFill/>
        </p:spPr>
        <p:txBody>
          <a:bodyPr wrap="square">
            <a:spAutoFit/>
          </a:bodyPr>
          <a:lstStyle/>
          <a:p>
            <a:pPr algn="ctr"/>
            <a:r>
              <a:rPr sz="2800" b="1" i="0">
                <a:solidFill>
                  <a:srgbClr val="1F497D"/>
                </a:solidFill>
              </a:rPr>
              <a:t>7</a:t>
            </a:r>
          </a:p>
        </p:txBody>
      </p:sp>
      <p:sp>
        <p:nvSpPr>
          <p:cNvPr id="13" name="TextBox 12"/>
          <p:cNvSpPr txBox="1"/>
          <p:nvPr/>
        </p:nvSpPr>
        <p:spPr>
          <a:xfrm>
            <a:off x="3291840" y="3200400"/>
            <a:ext cx="2651760" cy="320040"/>
          </a:xfrm>
          <a:prstGeom prst="rect">
            <a:avLst/>
          </a:prstGeom>
          <a:noFill/>
        </p:spPr>
        <p:txBody>
          <a:bodyPr wrap="square">
            <a:spAutoFit/>
          </a:bodyPr>
          <a:lstStyle/>
          <a:p>
            <a:pPr algn="ctr"/>
            <a:r>
              <a:rPr sz="1200" b="1" i="0">
                <a:solidFill>
                  <a:srgbClr val="0070C0"/>
                </a:solidFill>
              </a:rPr>
              <a:t>Storm Scenarios</a:t>
            </a:r>
          </a:p>
        </p:txBody>
      </p:sp>
      <p:sp>
        <p:nvSpPr>
          <p:cNvPr id="14" name="TextBox 13"/>
          <p:cNvSpPr txBox="1"/>
          <p:nvPr/>
        </p:nvSpPr>
        <p:spPr>
          <a:xfrm>
            <a:off x="3291840" y="3493008"/>
            <a:ext cx="2651760" cy="274320"/>
          </a:xfrm>
          <a:prstGeom prst="rect">
            <a:avLst/>
          </a:prstGeom>
          <a:noFill/>
        </p:spPr>
        <p:txBody>
          <a:bodyPr wrap="square">
            <a:spAutoFit/>
          </a:bodyPr>
          <a:lstStyle/>
          <a:p>
            <a:pPr algn="ctr"/>
            <a:r>
              <a:rPr sz="900" b="0" i="0">
                <a:solidFill>
                  <a:srgbClr val="808080"/>
                </a:solidFill>
              </a:rPr>
              <a:t>Light Rain → Typhoon Signal 3</a:t>
            </a:r>
          </a:p>
        </p:txBody>
      </p:sp>
      <p:sp>
        <p:nvSpPr>
          <p:cNvPr id="15" name="Rectangle 14"/>
          <p:cNvSpPr/>
          <p:nvPr/>
        </p:nvSpPr>
        <p:spPr>
          <a:xfrm>
            <a:off x="6126480" y="2606040"/>
            <a:ext cx="2651760" cy="141732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26480" y="2651760"/>
            <a:ext cx="2651760" cy="594360"/>
          </a:xfrm>
          <a:prstGeom prst="rect">
            <a:avLst/>
          </a:prstGeom>
          <a:noFill/>
        </p:spPr>
        <p:txBody>
          <a:bodyPr wrap="square">
            <a:spAutoFit/>
          </a:bodyPr>
          <a:lstStyle/>
          <a:p>
            <a:pPr algn="ctr"/>
            <a:r>
              <a:rPr sz="2800" b="1" i="0">
                <a:solidFill>
                  <a:srgbClr val="1F497D"/>
                </a:solidFill>
              </a:rPr>
              <a:t>4</a:t>
            </a:r>
          </a:p>
        </p:txBody>
      </p:sp>
      <p:sp>
        <p:nvSpPr>
          <p:cNvPr id="17" name="TextBox 16"/>
          <p:cNvSpPr txBox="1"/>
          <p:nvPr/>
        </p:nvSpPr>
        <p:spPr>
          <a:xfrm>
            <a:off x="6126480" y="3200400"/>
            <a:ext cx="2651760" cy="320040"/>
          </a:xfrm>
          <a:prstGeom prst="rect">
            <a:avLst/>
          </a:prstGeom>
          <a:noFill/>
        </p:spPr>
        <p:txBody>
          <a:bodyPr wrap="square">
            <a:spAutoFit/>
          </a:bodyPr>
          <a:lstStyle/>
          <a:p>
            <a:pPr algn="ctr"/>
            <a:r>
              <a:rPr sz="1200" b="1" i="0">
                <a:solidFill>
                  <a:srgbClr val="0070C0"/>
                </a:solidFill>
              </a:rPr>
              <a:t>Prevention Measures</a:t>
            </a:r>
          </a:p>
        </p:txBody>
      </p:sp>
      <p:sp>
        <p:nvSpPr>
          <p:cNvPr id="18" name="TextBox 17"/>
          <p:cNvSpPr txBox="1"/>
          <p:nvPr/>
        </p:nvSpPr>
        <p:spPr>
          <a:xfrm>
            <a:off x="6126480" y="3493008"/>
            <a:ext cx="2651760" cy="274320"/>
          </a:xfrm>
          <a:prstGeom prst="rect">
            <a:avLst/>
          </a:prstGeom>
          <a:noFill/>
        </p:spPr>
        <p:txBody>
          <a:bodyPr wrap="square">
            <a:spAutoFit/>
          </a:bodyPr>
          <a:lstStyle/>
          <a:p>
            <a:pPr algn="ctr"/>
            <a:r>
              <a:rPr sz="900" b="0" i="0">
                <a:solidFill>
                  <a:srgbClr val="808080"/>
                </a:solidFill>
              </a:rPr>
              <a:t>Floodwall, Canal, Basin, Road</a:t>
            </a:r>
          </a:p>
        </p:txBody>
      </p:sp>
      <p:sp>
        <p:nvSpPr>
          <p:cNvPr id="19" name="Rectangle 18"/>
          <p:cNvSpPr/>
          <p:nvPr/>
        </p:nvSpPr>
        <p:spPr>
          <a:xfrm>
            <a:off x="8961120" y="2606040"/>
            <a:ext cx="2651760" cy="141732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61120" y="2651760"/>
            <a:ext cx="2651760" cy="594360"/>
          </a:xfrm>
          <a:prstGeom prst="rect">
            <a:avLst/>
          </a:prstGeom>
          <a:noFill/>
        </p:spPr>
        <p:txBody>
          <a:bodyPr wrap="square">
            <a:spAutoFit/>
          </a:bodyPr>
          <a:lstStyle/>
          <a:p>
            <a:pPr algn="ctr"/>
            <a:r>
              <a:rPr sz="2800" b="1" i="0">
                <a:solidFill>
                  <a:srgbClr val="1F497D"/>
                </a:solidFill>
              </a:rPr>
              <a:t>5</a:t>
            </a:r>
          </a:p>
        </p:txBody>
      </p:sp>
      <p:sp>
        <p:nvSpPr>
          <p:cNvPr id="21" name="TextBox 20"/>
          <p:cNvSpPr txBox="1"/>
          <p:nvPr/>
        </p:nvSpPr>
        <p:spPr>
          <a:xfrm>
            <a:off x="8961120" y="3200400"/>
            <a:ext cx="2651760" cy="320040"/>
          </a:xfrm>
          <a:prstGeom prst="rect">
            <a:avLst/>
          </a:prstGeom>
          <a:noFill/>
        </p:spPr>
        <p:txBody>
          <a:bodyPr wrap="square">
            <a:spAutoFit/>
          </a:bodyPr>
          <a:lstStyle/>
          <a:p>
            <a:pPr algn="ctr"/>
            <a:r>
              <a:rPr sz="1200" b="1" i="0">
                <a:solidFill>
                  <a:srgbClr val="0070C0"/>
                </a:solidFill>
              </a:rPr>
              <a:t>Risk Zones</a:t>
            </a:r>
          </a:p>
        </p:txBody>
      </p:sp>
      <p:sp>
        <p:nvSpPr>
          <p:cNvPr id="22" name="TextBox 21"/>
          <p:cNvSpPr txBox="1"/>
          <p:nvPr/>
        </p:nvSpPr>
        <p:spPr>
          <a:xfrm>
            <a:off x="8961120" y="3493008"/>
            <a:ext cx="2651760" cy="274320"/>
          </a:xfrm>
          <a:prstGeom prst="rect">
            <a:avLst/>
          </a:prstGeom>
          <a:noFill/>
        </p:spPr>
        <p:txBody>
          <a:bodyPr wrap="square">
            <a:spAutoFit/>
          </a:bodyPr>
          <a:lstStyle/>
          <a:p>
            <a:pPr algn="ctr"/>
            <a:r>
              <a:rPr sz="900" b="0" i="0">
                <a:solidFill>
                  <a:srgbClr val="808080"/>
                </a:solidFill>
              </a:rPr>
              <a:t>Very High Risk → Safe Zone</a:t>
            </a:r>
          </a:p>
        </p:txBody>
      </p:sp>
      <p:sp>
        <p:nvSpPr>
          <p:cNvPr id="23" name="TextBox 22"/>
          <p:cNvSpPr txBox="1"/>
          <p:nvPr/>
        </p:nvSpPr>
        <p:spPr>
          <a:xfrm>
            <a:off x="457200" y="4206240"/>
            <a:ext cx="11274552" cy="347472"/>
          </a:xfrm>
          <a:prstGeom prst="rect">
            <a:avLst/>
          </a:prstGeom>
          <a:noFill/>
        </p:spPr>
        <p:txBody>
          <a:bodyPr wrap="square">
            <a:spAutoFit/>
          </a:bodyPr>
          <a:lstStyle/>
          <a:p>
            <a:pPr algn="l"/>
            <a:r>
              <a:rPr sz="1300" b="1" i="0">
                <a:solidFill>
                  <a:srgbClr val="1F497D"/>
                </a:solidFill>
              </a:rPr>
              <a:t>Key Findings Summary</a:t>
            </a:r>
          </a:p>
        </p:txBody>
      </p:sp>
      <p:sp>
        <p:nvSpPr>
          <p:cNvPr id="24" name="TextBox 23"/>
          <p:cNvSpPr txBox="1"/>
          <p:nvPr/>
        </p:nvSpPr>
        <p:spPr>
          <a:xfrm>
            <a:off x="457200" y="4553712"/>
            <a:ext cx="11274552" cy="1691640"/>
          </a:xfrm>
          <a:prstGeom prst="rect">
            <a:avLst/>
          </a:prstGeom>
          <a:noFill/>
        </p:spPr>
        <p:txBody>
          <a:bodyPr wrap="square">
            <a:spAutoFit/>
          </a:bodyPr>
          <a:lstStyle/>
          <a:p>
            <a:pPr>
              <a:spcBef>
                <a:spcPts val="300"/>
              </a:spcBef>
            </a:pPr>
            <a:r>
              <a:rPr sz="1200">
                <a:solidFill>
                  <a:srgbClr val="404040"/>
                </a:solidFill>
              </a:rPr>
              <a:t>•  8.2% Very High Risk (26.66 ha) — floods at Heavy Rain ≥90 mm</a:t>
            </a:r>
          </a:p>
          <a:p>
            <a:pPr>
              <a:spcBef>
                <a:spcPts val="300"/>
              </a:spcBef>
            </a:pPr>
            <a:r>
              <a:rPr sz="1200">
                <a:solidFill>
                  <a:srgbClr val="404040"/>
                </a:solidFill>
              </a:rPr>
              <a:t>•  17.9% combined High + Very High Risk — 58.49 ha requiring priority mitigation</a:t>
            </a:r>
          </a:p>
          <a:p>
            <a:pPr>
              <a:spcBef>
                <a:spcPts val="300"/>
              </a:spcBef>
            </a:pPr>
            <a:r>
              <a:rPr sz="1200">
                <a:solidFill>
                  <a:srgbClr val="404040"/>
                </a:solidFill>
              </a:rPr>
              <a:t>•  35.5% of subdivision inundated in 100-year event (mean depth 4.12 m, max 6.00 m)</a:t>
            </a:r>
          </a:p>
          <a:p>
            <a:pPr>
              <a:spcBef>
                <a:spcPts val="300"/>
              </a:spcBef>
            </a:pPr>
            <a:r>
              <a:rPr sz="1200">
                <a:solidFill>
                  <a:srgbClr val="404040"/>
                </a:solidFill>
              </a:rPr>
              <a:t>•  53.6% designated Safe Zone (174.81 ha) — suitable official evacuation destination</a:t>
            </a:r>
          </a:p>
          <a:p>
            <a:pPr>
              <a:spcBef>
                <a:spcPts val="300"/>
              </a:spcBef>
            </a:pPr>
            <a:r>
              <a:rPr sz="1200">
                <a:solidFill>
                  <a:srgbClr val="404040"/>
                </a:solidFill>
              </a:rPr>
              <a:t>•  2.2× flooded area growth from 5-year (51.64 ha) to 100-year (115.76 ha) return period events</a:t>
            </a:r>
          </a:p>
        </p:txBody>
      </p:sp>
      <p:sp>
        <p:nvSpPr>
          <p:cNvPr id="25" name="Rectangle 24"/>
          <p:cNvSpPr/>
          <p:nvPr/>
        </p:nvSpPr>
        <p:spPr>
          <a:xfrm>
            <a:off x="0" y="6291072"/>
            <a:ext cx="12188952" cy="566928"/>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0" y="6364224"/>
            <a:ext cx="12188952" cy="411480"/>
          </a:xfrm>
          <a:prstGeom prst="rect">
            <a:avLst/>
          </a:prstGeom>
          <a:noFill/>
        </p:spPr>
        <p:txBody>
          <a:bodyPr wrap="square">
            <a:spAutoFit/>
          </a:bodyPr>
          <a:lstStyle/>
          <a:p>
            <a:pPr algn="ctr"/>
            <a:r>
              <a:rPr sz="1000" b="0" i="0">
                <a:solidFill>
                  <a:srgbClr val="DBE5F1"/>
                </a:solidFill>
              </a:rPr>
              <a:t>Jade Valley Flood Risk Simulation  •  CSE10/L  •  2026  •  Davao City, Philippines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