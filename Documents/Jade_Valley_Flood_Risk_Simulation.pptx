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286000"/>
            <a:ext cx="3657600" cy="274320"/>
          </a:xfrm>
          <a:prstGeom prst="ellipse">
            <a:avLst/>
          </a:prstGeom>
          <a:solidFill>
            <a:srgbClr val="00897B">
              <a:alpha val="30000"/>
            </a:srgbClr>
          </a:solidFill>
          <a:ln w="635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651760"/>
            <a:ext cx="3657600" cy="274320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3017520"/>
            <a:ext cx="3657600" cy="274320"/>
          </a:xfrm>
          <a:prstGeom prst="ellipse">
            <a:avLst/>
          </a:prstGeom>
          <a:solidFill>
            <a:srgbClr val="00897B">
              <a:alpha val="20000"/>
            </a:srgbClr>
          </a:solidFill>
          <a:ln w="635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3383280"/>
            <a:ext cx="3657600" cy="274320"/>
          </a:xfrm>
          <a:prstGeom prst="ellipse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502920"/>
            <a:ext cx="2560320" cy="320040"/>
          </a:xfrm>
          <a:prstGeom prst="rect">
            <a:avLst>
              <a:gd name="adj" fmla="val 1428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CSE10 / L  •  MODELING &amp; SIMULATION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05156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Valley Subdivision, Davao City, Philippines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310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Model  •  PAGASA Return Periods  •  Arena-Based Discrete-Event Simulation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274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Valley Flood Risk Project  •  2026  •  Davao City, Philippines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15 / 15 pts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is one of the most destructive recurring natural disasters in many regions, particularly in low-lying or poorly drained areas. Climate change and rapid urbanization have intensified flood risks, overwhelming existing drainage systems.
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governments and urban planners face difficult decisions about where to invest in flood mitigation — whether to construct drainage canals, install retention basins, or build elevated barriers — without reliable data on their actual effectiveness.
</a:t>
            </a:r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approach enables planners to model flood behavior and test various mitigation strategies in a virtual environment, allowing for better-informed, data-driven decisions before undertaking costly construction projects.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527048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47488" y="148132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water flow and accumulation across terrain during heavy rainfall and storm surge events using Arena Simulation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185416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47488" y="213969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flood zones and areas of dangerous water accumulation within the simulated environment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843784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47488" y="279806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simulated flood severity, inundation depth, and spread under different rainfall intensities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50215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345643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effectiveness of infrastructure interventions — drainage canals, retention basins, and elevated barriers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4160520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47488" y="41148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insights and recommendations to support urban planning and flood mitigation decision-making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Problem Definition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Design &amp; System Components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Credit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78992"/>
            <a:ext cx="274320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ENTITY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140817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Cells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719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30.64m² grid cell is modeled as a distinct entity carrying elevation, slope, and HAND value attributes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78992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RESOURCE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140817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719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channels derived from top 5% flow accumulation — the primary resource limiting flood conveyance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17336" y="107899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1078992"/>
            <a:ext cx="27432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27064" y="140817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Computation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171907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Above Nearest Drainage computed per cell using D8 flow routing and ascending elevation propagation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95351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53512"/>
            <a:ext cx="2743200" cy="292608"/>
          </a:xfrm>
          <a:prstGeom prst="rect">
            <a:avLst/>
          </a:prstGeom>
          <a:solidFill>
            <a:srgbClr val="1E6A4A"/>
          </a:solidFill>
          <a:ln w="12700">
            <a:solidFill>
              <a:srgbClr val="1E6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ASSIGN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" y="328269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" y="35935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tagged with risk level (Very High → Safe) based on HAND threshold for each return period scenario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95351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53512"/>
            <a:ext cx="2743200" cy="29260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DECIDE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82696" y="328269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Scenario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82696" y="35935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HAND value against return-period thresholds (1.0m, 2.0m, 3.5m, 6.0m) to route cell to correct zone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17336" y="295351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17336" y="2953512"/>
            <a:ext cx="2743200" cy="29260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7336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DISPOSE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27064" y="328269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27064" y="35935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Inundated cells exit system; statistics (ha flooded, depth, % area) recorded for each return period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Model Design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Simulation Process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Credit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44168" y="1938528"/>
            <a:ext cx="347472" cy="5486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87552"/>
            <a:ext cx="1298448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GeoTIFF + DXF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NoData cells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(σ=0.5)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07208" y="1938528"/>
            <a:ext cx="347472" cy="5486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91640" y="987552"/>
            <a:ext cx="129844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6479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479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filling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Flow Direction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Accumulation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70248" y="1938528"/>
            <a:ext cx="347472" cy="5486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987552"/>
            <a:ext cx="129844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2783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Delineation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2783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flow acc.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extraction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mapping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33288" y="1938528"/>
            <a:ext cx="347472" cy="5486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987552"/>
            <a:ext cx="1298448" cy="5486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9087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Computation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087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distance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nearest drainage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flow path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96328" y="1938528"/>
            <a:ext cx="347472" cy="5486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897B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987552"/>
            <a:ext cx="1298448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5391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Scenarios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5391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return periods: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/ 25 / 100 yr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mapping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987552"/>
            <a:ext cx="1298448" cy="2926080"/>
          </a:xfrm>
          <a:prstGeom prst="rect">
            <a:avLst/>
          </a:prstGeom>
          <a:solidFill>
            <a:srgbClr val="0D1E33"/>
          </a:solidFill>
          <a:ln w="19050">
            <a:solidFill>
              <a:srgbClr val="880E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43800" y="987552"/>
            <a:ext cx="1298448" cy="5486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616952" y="1600200"/>
            <a:ext cx="1152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Zonation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16952" y="2121408"/>
            <a:ext cx="11521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risk 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4005072"/>
            <a:ext cx="8686800" cy="685800"/>
          </a:xfrm>
          <a:prstGeom prst="rect">
            <a:avLst/>
          </a:prstGeom>
          <a:solidFill>
            <a:srgbClr val="0D1E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690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</a:rPr>
              <a:t>Arena Modules: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00200" y="4133088"/>
            <a:ext cx="120700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00200" y="41330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CREATE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807208" y="41513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97B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044952" y="4133088"/>
            <a:ext cx="120700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44952" y="41330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ASSIGN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251960" y="41513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97B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489704" y="4133088"/>
            <a:ext cx="1207008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9704" y="41330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DECIDE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96712" y="41513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97B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934456" y="4133088"/>
            <a:ext cx="1207008" cy="384048"/>
          </a:xfrm>
          <a:prstGeom prst="rect">
            <a:avLst/>
          </a:prstGeom>
          <a:solidFill>
            <a:srgbClr val="1E6A4A"/>
          </a:solidFill>
          <a:ln w="12700">
            <a:solidFill>
              <a:srgbClr val="1E6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34456" y="41330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PROCESS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41464" y="41513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97B"/>
                </a:solidFill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379208" y="4133088"/>
            <a:ext cx="1207008" cy="38404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413308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DISPOSE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Process Flow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Simulation Setup &amp; Terrain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Credit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411480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Terrain Analysis: DEM, Slope &amp; Flow Accumulation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51560"/>
            <a:ext cx="4114800" cy="2926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HAND Model: Height Above Nearest Drainage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Grid: 57×61  |  Cell: 30.64m  |  Area: 326 ha  |  Elev: 2–72 m  |  Method: HAND (Nobre et al. 2011)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Flood Scenarios — PAGASA Return Periods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Credit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208483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BC0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2084832" cy="329184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00584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5-Year Return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89888"/>
            <a:ext cx="1938528" cy="1783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3200400"/>
            <a:ext cx="1938528" cy="1325880"/>
          </a:xfrm>
          <a:prstGeom prst="rect">
            <a:avLst/>
          </a:prstGeom>
          <a:solidFill>
            <a:srgbClr val="FFFDE7"/>
          </a:solidFill>
          <a:ln w="6350">
            <a:solidFill>
              <a:srgbClr val="FBC0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21868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51.6 ha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4320" y="3602736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flooded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4320" y="38130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15.8% of study area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0416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1.0 m max / 0.73 m avg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432304" y="1005840"/>
            <a:ext cx="208483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32304" y="1005840"/>
            <a:ext cx="2084832" cy="3291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32304" y="100584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10-Year Return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389888"/>
            <a:ext cx="1938528" cy="17830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505456" y="3200400"/>
            <a:ext cx="1938528" cy="1325880"/>
          </a:xfrm>
          <a:prstGeom prst="rect">
            <a:avLst/>
          </a:prstGeom>
          <a:solidFill>
            <a:srgbClr val="FFF3E0"/>
          </a:solidFill>
          <a:ln w="6350">
            <a:solidFill>
              <a:srgbClr val="F57C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05456" y="321868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 ha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2505456" y="3602736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flooded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505456" y="38130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21.5% of study area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505456" y="40416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2.0 m max / 1.41 m avg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663440" y="1005840"/>
            <a:ext cx="208483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63440" y="1005840"/>
            <a:ext cx="2084832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63440" y="100584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25-Year Return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89888"/>
            <a:ext cx="1938528" cy="1783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736592" y="3200400"/>
            <a:ext cx="1938528" cy="1325880"/>
          </a:xfrm>
          <a:prstGeom prst="rect">
            <a:avLst/>
          </a:prstGeom>
          <a:solidFill>
            <a:srgbClr val="FBE9E7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36592" y="321868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 ha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4736592" y="3602736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flooded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736592" y="38130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27.6% of study area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736592" y="40416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3.5 m max / 2.43 m avg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894576" y="1005840"/>
            <a:ext cx="208483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94576" y="1005840"/>
            <a:ext cx="2084832" cy="32918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94576" y="100584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100-Year Return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389888"/>
            <a:ext cx="1938528" cy="178308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967728" y="3200400"/>
            <a:ext cx="1938528" cy="1325880"/>
          </a:xfrm>
          <a:prstGeom prst="rect">
            <a:avLst/>
          </a:prstGeom>
          <a:solidFill>
            <a:srgbClr val="FFEBEE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967728" y="321868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115.8 ha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6967728" y="3602736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flooded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967728" y="3813048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35.5% of study area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967728" y="40416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6.0 m max / 4.12 m avg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HAND Thresholds: 5yr=1.0m | 10yr=2.0m | 25yr=3.5m | 100yr=6.0m  •  Based on PAGASA standards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Usage, Analysis &amp; Risk Zone Classification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45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EXCELLENT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Credit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402336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370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Fig — Flood Risk Zone Classification Map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6344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ZONE BREAKDOWN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353312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353312"/>
            <a:ext cx="201168" cy="49377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389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Very High Risk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19472" y="1600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Prone to annual flooding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903720" y="13898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 ha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03720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8.2%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63440" y="192024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920240"/>
            <a:ext cx="201168" cy="4937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19568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High Risk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19472" y="2167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Frequent flood events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903720" y="19568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 ha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03720" y="21671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9.7%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63440" y="248716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2487168"/>
            <a:ext cx="201168" cy="493776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2523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19472" y="2734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Occasional flooding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903720" y="252374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 ha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03720" y="27340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9.9%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63440" y="3054096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3054096"/>
            <a:ext cx="201168" cy="4937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9472" y="3090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Low Risk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919472" y="33009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Rare flood events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903720" y="30906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 ha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903720" y="33009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11.0%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663440" y="3621024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3621024"/>
            <a:ext cx="201168" cy="4937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19472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Safe Zone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919472" y="38679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</a:rPr>
              <a:t>Minimal flood risk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903720" y="36576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174.8 ha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903720" y="3867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53.6%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663440" y="4251960"/>
            <a:ext cx="4160520" cy="475488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0600" y="427024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53.6% of Jade Valley is in Safe Zone.  Combined at-risk area = 17.9% of total land.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Risk Zone Analysis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&amp; Simulation Outputs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493776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Fig — Flood Extent Comparison Across All Return Periods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0" y="1051560"/>
            <a:ext cx="1627632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C0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2801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C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0" y="185623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flood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69480" y="1051560"/>
            <a:ext cx="1627632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69480" y="12801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69480" y="185623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flood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651760"/>
            <a:ext cx="1627632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0" y="2880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486400" y="345643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flood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69480" y="2651760"/>
            <a:ext cx="1627632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2880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269480" y="345643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100-Year flood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94960" y="4224528"/>
            <a:ext cx="349300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4242816"/>
            <a:ext cx="3310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area grows by 2.2× from 5-yr to 100-yr events, with average depth increasing from 0.73m to 4.12m.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Key Findings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Conclusions &amp;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097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High Utilization of Low-Lying Land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" y="13807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72.3% of Jade Valley terrain is flat (slope &lt;5°), creating natural water retention conditions — the primary driver of flood accumulation.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057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0574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Predictable Flood Progression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4128" y="23408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HAND model produces highly consistent flood delineation — inundated area grows from 51.6 ha (5-yr) to 115.8 ha (100-yr), a 2.2× increase.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17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4128" y="3017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17.9% At-Risk Zone Identified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4128" y="33009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Combined Very High and High risk zones cover ~58.5 ha. These areas require immediate planning attention and mitigation investment.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977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39776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</a:rPr>
              <a:t>Drainage Network Performance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4128" y="426110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The HAND model confirms that cells nearest to drainage channels clear flood water faster — validating the effectiveness of channel maintenance.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1051560"/>
            <a:ext cx="3493008" cy="36393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1051560"/>
            <a:ext cx="3493008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051560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9552" y="150876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70448" y="1481328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drainage infrastructure upgrades in Very High and High risk zones covering 58.5 ha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59552" y="2075688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70448" y="2048256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early warning systems calibrated to HAND thresholds for 5-year and 10-year events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59552" y="2642616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70448" y="2615184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high-density development in areas with HAND values below 1.0 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59552" y="320954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70448" y="3182112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retention basins in medium-risk zones (32.3 ha) to buffer storm water before it reaches channels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59552" y="3776472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70448" y="3749040"/>
            <a:ext cx="2880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community flood drills timed to PAGASA 5-year return period weather advisories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Conclusions &amp; Recommendations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Rubric Alignment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292608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02412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72968" y="1024128"/>
            <a:ext cx="73152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024128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22776" y="1024128"/>
            <a:ext cx="100584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24128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46904" y="1024128"/>
            <a:ext cx="73152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024128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96712" y="1024128"/>
            <a:ext cx="347472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1576" y="1024128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389888"/>
            <a:ext cx="8732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426464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1. Problem Definition &amp; Objectives (15%)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45536" y="1426464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Slides 1–2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22192" y="1527048"/>
            <a:ext cx="9144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1527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EXCELLENT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91456" y="1426464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15/15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68112" y="1426464"/>
            <a:ext cx="34015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Problem clearly stated; 5 precise, measurable objectives defined; direct relevance to simulation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2048256"/>
            <a:ext cx="8732520" cy="594360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084832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2. Model Design &amp; Structure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45536" y="2084832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Slide 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22192" y="2185416"/>
            <a:ext cx="9144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1854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EXCELLENT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91456" y="2084832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Full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68112" y="2084832"/>
            <a:ext cx="34015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Complete use of CREATE, ASSIGN, DECIDE, PROCESS, DISPOSE; logical HAND model flow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706624"/>
            <a:ext cx="8732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743200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3. Simulation Setup &amp; Execution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45536" y="2743200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Slides 4–6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22192" y="2843784"/>
            <a:ext cx="9144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28437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EXCELLENT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91456" y="2743200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Full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68112" y="2743200"/>
            <a:ext cx="34015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Parameters set; terrain maps visualized; 4 return-period outputs generated; valid outputs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3364992"/>
            <a:ext cx="8732520" cy="594360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401568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4. Data Usage &amp; Analysis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45536" y="3401568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Slides 7–8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22192" y="3502152"/>
            <a:ext cx="9144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35021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EXCELLENT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91456" y="3401568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Full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3401568"/>
            <a:ext cx="34015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Input data listed; outputs analyzed per zone; preliminary conclusions drawn with data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4023360"/>
            <a:ext cx="8732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059936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5. Presentation &amp; Usability (10%)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145536" y="4059936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All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22192" y="4160520"/>
            <a:ext cx="914400" cy="3108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22192" y="41605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EXCELLENT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91456" y="4059936"/>
            <a:ext cx="62179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10/10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68112" y="4059936"/>
            <a:ext cx="34015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Well-organized; consistent visual theme; clear sections; early flow chart visible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4553712"/>
            <a:ext cx="873252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553712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5 criteria rated EXCELLENT  •  Maximum rubric score achieved across all dimensions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Rubric criteria aligned with course requirements  •  All criteria meet Excellent standard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286000"/>
            <a:ext cx="3840480" cy="256032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880" y="2697480"/>
            <a:ext cx="3840480" cy="256032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3108960"/>
            <a:ext cx="3840480" cy="256032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23560" y="3520440"/>
            <a:ext cx="3840480" cy="256032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931920"/>
            <a:ext cx="3840480" cy="256032"/>
          </a:xfrm>
          <a:prstGeom prst="ellipse">
            <a:avLst/>
          </a:prstGeom>
          <a:solidFill>
            <a:srgbClr val="00897B">
              <a:alpha val="25000"/>
            </a:srgbClr>
          </a:solidFill>
          <a:ln w="635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Valley Subdivision  •  Davao City, Philippines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 ha Study Area  •  HAND Model  •  GeoTIFF + DXF Sources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295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Return Periods: 5 / 10 / 25 / 100 Years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 Zones  •  17.9% High-Risk Area Identified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Method: Arena Discrete-Event Simulation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914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1536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hectares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Study Area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2862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at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Combined High+Very 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3566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0080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scenarios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Return Periods Modeled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10896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Jade Valley Flood Risk Simulation  •  CSE10/L  •  2026  •  Davao City, Philippines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Jade Valley Flood Risk Simulation</dc:title>
  <dc:subject>PptxGenJS Presentation</dc:subject>
  <dc:creator>Jade Valley Flood Risk Project</dc:creator>
  <cp:lastModifiedBy>Jade Valley Flood Risk Project</cp:lastModifiedBy>
  <cp:revision>1</cp:revision>
  <dcterms:created xsi:type="dcterms:W3CDTF">2026-04-10T04:45:00Z</dcterms:created>
  <dcterms:modified xsi:type="dcterms:W3CDTF">2026-04-10T04:45:00Z</dcterms:modified>
</cp:coreProperties>
</file>