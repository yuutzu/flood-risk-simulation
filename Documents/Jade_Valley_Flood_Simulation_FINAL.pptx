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6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44F819-A543-4122-83D4-CB73160A4302}" v="2" dt="2026-05-20T05:47:09.9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e Keith Polinar" userId="c28fe3e7b55bb430" providerId="LiveId" clId="{D5642BDC-8E8C-4F97-A4A1-68FCE422103A}"/>
    <pc:docChg chg="undo redo custSel addSld delSld modSld">
      <pc:chgData name="Justine Keith Polinar" userId="c28fe3e7b55bb430" providerId="LiveId" clId="{D5642BDC-8E8C-4F97-A4A1-68FCE422103A}" dt="2026-05-20T05:50:48.620" v="221" actId="20577"/>
      <pc:docMkLst>
        <pc:docMk/>
      </pc:docMkLst>
      <pc:sldChg chg="addSp delSp modSp mod">
        <pc:chgData name="Justine Keith Polinar" userId="c28fe3e7b55bb430" providerId="LiveId" clId="{D5642BDC-8E8C-4F97-A4A1-68FCE422103A}" dt="2026-05-20T05:43:40.221" v="78" actId="1076"/>
        <pc:sldMkLst>
          <pc:docMk/>
          <pc:sldMk cId="0" sldId="256"/>
        </pc:sldMkLst>
        <pc:spChg chg="add del mod">
          <ac:chgData name="Justine Keith Polinar" userId="c28fe3e7b55bb430" providerId="LiveId" clId="{D5642BDC-8E8C-4F97-A4A1-68FCE422103A}" dt="2026-05-20T05:43:40.221" v="78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21:56.787" v="0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Justine Keith Polinar" userId="c28fe3e7b55bb430" providerId="LiveId" clId="{D5642BDC-8E8C-4F97-A4A1-68FCE422103A}" dt="2026-05-20T05:43:40.221" v="78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Justine Keith Polinar" userId="c28fe3e7b55bb430" providerId="LiveId" clId="{D5642BDC-8E8C-4F97-A4A1-68FCE422103A}" dt="2026-05-20T05:43:40.221" v="78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Justine Keith Polinar" userId="c28fe3e7b55bb430" providerId="LiveId" clId="{D5642BDC-8E8C-4F97-A4A1-68FCE422103A}" dt="2026-05-20T05:43:40.221" v="78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Justine Keith Polinar" userId="c28fe3e7b55bb430" providerId="LiveId" clId="{D5642BDC-8E8C-4F97-A4A1-68FCE422103A}" dt="2026-05-20T05:43:40.221" v="78" actId="1076"/>
          <ac:spMkLst>
            <pc:docMk/>
            <pc:sldMk cId="0" sldId="256"/>
            <ac:spMk id="7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42:15.544" v="1" actId="478"/>
          <ac:spMkLst>
            <pc:docMk/>
            <pc:sldMk cId="0" sldId="256"/>
            <ac:spMk id="8" creationId="{00000000-0000-0000-0000-000000000000}"/>
          </ac:spMkLst>
        </pc:spChg>
        <pc:spChg chg="mod">
          <ac:chgData name="Justine Keith Polinar" userId="c28fe3e7b55bb430" providerId="LiveId" clId="{D5642BDC-8E8C-4F97-A4A1-68FCE422103A}" dt="2026-05-20T05:43:09.485" v="69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Justine Keith Polinar" userId="c28fe3e7b55bb430" providerId="LiveId" clId="{D5642BDC-8E8C-4F97-A4A1-68FCE422103A}" dt="2026-05-20T05:43:09.485" v="69" actId="1076"/>
          <ac:spMkLst>
            <pc:docMk/>
            <pc:sldMk cId="0" sldId="256"/>
            <ac:spMk id="10" creationId="{00000000-0000-0000-0000-000000000000}"/>
          </ac:spMkLst>
        </pc:spChg>
        <pc:spChg chg="add del">
          <ac:chgData name="Justine Keith Polinar" userId="c28fe3e7b55bb430" providerId="LiveId" clId="{D5642BDC-8E8C-4F97-A4A1-68FCE422103A}" dt="2026-05-20T05:42:52.881" v="60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42:58.821" v="67" actId="478"/>
          <ac:spMkLst>
            <pc:docMk/>
            <pc:sldMk cId="0" sldId="256"/>
            <ac:spMk id="13" creationId="{00000000-0000-0000-0000-000000000000}"/>
          </ac:spMkLst>
        </pc:spChg>
        <pc:spChg chg="add del">
          <ac:chgData name="Justine Keith Polinar" userId="c28fe3e7b55bb430" providerId="LiveId" clId="{D5642BDC-8E8C-4F97-A4A1-68FCE422103A}" dt="2026-05-20T05:42:53.073" v="61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42:58.821" v="67" actId="478"/>
          <ac:spMkLst>
            <pc:docMk/>
            <pc:sldMk cId="0" sldId="256"/>
            <ac:spMk id="15" creationId="{00000000-0000-0000-0000-000000000000}"/>
          </ac:spMkLst>
        </pc:spChg>
        <pc:spChg chg="add del">
          <ac:chgData name="Justine Keith Polinar" userId="c28fe3e7b55bb430" providerId="LiveId" clId="{D5642BDC-8E8C-4F97-A4A1-68FCE422103A}" dt="2026-05-20T05:42:53.224" v="62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42:58.821" v="67" actId="478"/>
          <ac:spMkLst>
            <pc:docMk/>
            <pc:sldMk cId="0" sldId="256"/>
            <ac:spMk id="17" creationId="{00000000-0000-0000-0000-000000000000}"/>
          </ac:spMkLst>
        </pc:spChg>
        <pc:spChg chg="add del">
          <ac:chgData name="Justine Keith Polinar" userId="c28fe3e7b55bb430" providerId="LiveId" clId="{D5642BDC-8E8C-4F97-A4A1-68FCE422103A}" dt="2026-05-20T05:42:53.388" v="63" actId="478"/>
          <ac:spMkLst>
            <pc:docMk/>
            <pc:sldMk cId="0" sldId="256"/>
            <ac:spMk id="18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42:58.821" v="67" actId="478"/>
          <ac:spMkLst>
            <pc:docMk/>
            <pc:sldMk cId="0" sldId="256"/>
            <ac:spMk id="19" creationId="{00000000-0000-0000-0000-000000000000}"/>
          </ac:spMkLst>
        </pc:spChg>
        <pc:spChg chg="add del">
          <ac:chgData name="Justine Keith Polinar" userId="c28fe3e7b55bb430" providerId="LiveId" clId="{D5642BDC-8E8C-4F97-A4A1-68FCE422103A}" dt="2026-05-20T05:42:53.537" v="64" actId="478"/>
          <ac:spMkLst>
            <pc:docMk/>
            <pc:sldMk cId="0" sldId="256"/>
            <ac:spMk id="20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42:58.821" v="67" actId="478"/>
          <ac:spMkLst>
            <pc:docMk/>
            <pc:sldMk cId="0" sldId="256"/>
            <ac:spMk id="21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42:55.181" v="65" actId="478"/>
          <ac:spMkLst>
            <pc:docMk/>
            <pc:sldMk cId="0" sldId="256"/>
            <ac:spMk id="22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42:59.927" v="68" actId="478"/>
          <ac:spMkLst>
            <pc:docMk/>
            <pc:sldMk cId="0" sldId="256"/>
            <ac:spMk id="23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42:55.957" v="66" actId="478"/>
          <ac:spMkLst>
            <pc:docMk/>
            <pc:sldMk cId="0" sldId="256"/>
            <ac:spMk id="24" creationId="{00000000-0000-0000-0000-000000000000}"/>
          </ac:spMkLst>
        </pc:spChg>
      </pc:sldChg>
      <pc:sldChg chg="delSp mod">
        <pc:chgData name="Justine Keith Polinar" userId="c28fe3e7b55bb430" providerId="LiveId" clId="{D5642BDC-8E8C-4F97-A4A1-68FCE422103A}" dt="2026-05-20T05:43:49.979" v="80" actId="478"/>
        <pc:sldMkLst>
          <pc:docMk/>
          <pc:sldMk cId="0" sldId="257"/>
        </pc:sldMkLst>
        <pc:spChg chg="del">
          <ac:chgData name="Justine Keith Polinar" userId="c28fe3e7b55bb430" providerId="LiveId" clId="{D5642BDC-8E8C-4F97-A4A1-68FCE422103A}" dt="2026-05-20T05:43:48.392" v="79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43:49.979" v="80" actId="478"/>
          <ac:spMkLst>
            <pc:docMk/>
            <pc:sldMk cId="0" sldId="257"/>
            <ac:spMk id="7" creationId="{00000000-0000-0000-0000-000000000000}"/>
          </ac:spMkLst>
        </pc:spChg>
      </pc:sldChg>
      <pc:sldChg chg="delSp modSp mod">
        <pc:chgData name="Justine Keith Polinar" userId="c28fe3e7b55bb430" providerId="LiveId" clId="{D5642BDC-8E8C-4F97-A4A1-68FCE422103A}" dt="2026-05-20T05:45:07.859" v="97" actId="478"/>
        <pc:sldMkLst>
          <pc:docMk/>
          <pc:sldMk cId="0" sldId="258"/>
        </pc:sldMkLst>
        <pc:spChg chg="mod">
          <ac:chgData name="Justine Keith Polinar" userId="c28fe3e7b55bb430" providerId="LiveId" clId="{D5642BDC-8E8C-4F97-A4A1-68FCE422103A}" dt="2026-05-20T05:45:05.970" v="96" actId="1076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Justine Keith Polinar" userId="c28fe3e7b55bb430" providerId="LiveId" clId="{D5642BDC-8E8C-4F97-A4A1-68FCE422103A}" dt="2026-05-20T05:45:07.859" v="97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Justine Keith Polinar" userId="c28fe3e7b55bb430" providerId="LiveId" clId="{D5642BDC-8E8C-4F97-A4A1-68FCE422103A}" dt="2026-05-20T05:44:58.562" v="93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Justine Keith Polinar" userId="c28fe3e7b55bb430" providerId="LiveId" clId="{D5642BDC-8E8C-4F97-A4A1-68FCE422103A}" dt="2026-05-20T05:44:58.562" v="93" actId="1076"/>
          <ac:spMkLst>
            <pc:docMk/>
            <pc:sldMk cId="0" sldId="258"/>
            <ac:spMk id="6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44:21.645" v="84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43:53.823" v="81" actId="478"/>
          <ac:spMkLst>
            <pc:docMk/>
            <pc:sldMk cId="0" sldId="258"/>
            <ac:spMk id="8" creationId="{00000000-0000-0000-0000-000000000000}"/>
          </ac:spMkLst>
        </pc:spChg>
      </pc:sldChg>
      <pc:sldChg chg="delSp mod">
        <pc:chgData name="Justine Keith Polinar" userId="c28fe3e7b55bb430" providerId="LiveId" clId="{D5642BDC-8E8C-4F97-A4A1-68FCE422103A}" dt="2026-05-20T05:44:01.404" v="83" actId="478"/>
        <pc:sldMkLst>
          <pc:docMk/>
          <pc:sldMk cId="0" sldId="259"/>
        </pc:sldMkLst>
        <pc:spChg chg="del">
          <ac:chgData name="Justine Keith Polinar" userId="c28fe3e7b55bb430" providerId="LiveId" clId="{D5642BDC-8E8C-4F97-A4A1-68FCE422103A}" dt="2026-05-20T05:44:00.086" v="82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44:01.404" v="83" actId="478"/>
          <ac:spMkLst>
            <pc:docMk/>
            <pc:sldMk cId="0" sldId="259"/>
            <ac:spMk id="7" creationId="{00000000-0000-0000-0000-000000000000}"/>
          </ac:spMkLst>
        </pc:spChg>
      </pc:sldChg>
      <pc:sldChg chg="addSp delSp modSp mod">
        <pc:chgData name="Justine Keith Polinar" userId="c28fe3e7b55bb430" providerId="LiveId" clId="{D5642BDC-8E8C-4F97-A4A1-68FCE422103A}" dt="2026-05-20T05:47:21.865" v="128" actId="478"/>
        <pc:sldMkLst>
          <pc:docMk/>
          <pc:sldMk cId="0" sldId="261"/>
        </pc:sldMkLst>
        <pc:spChg chg="add del">
          <ac:chgData name="Justine Keith Polinar" userId="c28fe3e7b55bb430" providerId="LiveId" clId="{D5642BDC-8E8C-4F97-A4A1-68FCE422103A}" dt="2026-05-20T05:45:43.292" v="108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Justine Keith Polinar" userId="c28fe3e7b55bb430" providerId="LiveId" clId="{D5642BDC-8E8C-4F97-A4A1-68FCE422103A}" dt="2026-05-20T05:45:57.895" v="111" actId="1076"/>
          <ac:spMkLst>
            <pc:docMk/>
            <pc:sldMk cId="0" sldId="261"/>
            <ac:spMk id="3" creationId="{00000000-0000-0000-0000-000000000000}"/>
          </ac:spMkLst>
        </pc:spChg>
        <pc:spChg chg="del mod">
          <ac:chgData name="Justine Keith Polinar" userId="c28fe3e7b55bb430" providerId="LiveId" clId="{D5642BDC-8E8C-4F97-A4A1-68FCE422103A}" dt="2026-05-20T05:45:55.648" v="110" actId="478"/>
          <ac:spMkLst>
            <pc:docMk/>
            <pc:sldMk cId="0" sldId="261"/>
            <ac:spMk id="4" creationId="{00000000-0000-0000-0000-000000000000}"/>
          </ac:spMkLst>
        </pc:spChg>
        <pc:spChg chg="mod">
          <ac:chgData name="Justine Keith Polinar" userId="c28fe3e7b55bb430" providerId="LiveId" clId="{D5642BDC-8E8C-4F97-A4A1-68FCE422103A}" dt="2026-05-20T05:47:03.740" v="123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Justine Keith Polinar" userId="c28fe3e7b55bb430" providerId="LiveId" clId="{D5642BDC-8E8C-4F97-A4A1-68FCE422103A}" dt="2026-05-20T05:47:03.740" v="123" actId="1076"/>
          <ac:spMkLst>
            <pc:docMk/>
            <pc:sldMk cId="0" sldId="261"/>
            <ac:spMk id="6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46:05.552" v="113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47:21.865" v="128" actId="478"/>
          <ac:spMkLst>
            <pc:docMk/>
            <pc:sldMk cId="0" sldId="261"/>
            <ac:spMk id="8" creationId="{00000000-0000-0000-0000-000000000000}"/>
          </ac:spMkLst>
        </pc:spChg>
        <pc:spChg chg="add del mod">
          <ac:chgData name="Justine Keith Polinar" userId="c28fe3e7b55bb430" providerId="LiveId" clId="{D5642BDC-8E8C-4F97-A4A1-68FCE422103A}" dt="2026-05-20T05:47:13.747" v="125" actId="478"/>
          <ac:spMkLst>
            <pc:docMk/>
            <pc:sldMk cId="0" sldId="261"/>
            <ac:spMk id="10" creationId="{902FE387-3220-2B20-D47B-E1B193B1126D}"/>
          </ac:spMkLst>
        </pc:spChg>
      </pc:sldChg>
      <pc:sldChg chg="delSp mod">
        <pc:chgData name="Justine Keith Polinar" userId="c28fe3e7b55bb430" providerId="LiveId" clId="{D5642BDC-8E8C-4F97-A4A1-68FCE422103A}" dt="2026-05-20T05:47:34.666" v="132" actId="478"/>
        <pc:sldMkLst>
          <pc:docMk/>
          <pc:sldMk cId="0" sldId="262"/>
        </pc:sldMkLst>
        <pc:spChg chg="del">
          <ac:chgData name="Justine Keith Polinar" userId="c28fe3e7b55bb430" providerId="LiveId" clId="{D5642BDC-8E8C-4F97-A4A1-68FCE422103A}" dt="2026-05-20T05:47:24.249" v="129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47:34.666" v="132" actId="478"/>
          <ac:spMkLst>
            <pc:docMk/>
            <pc:sldMk cId="0" sldId="262"/>
            <ac:spMk id="7" creationId="{00000000-0000-0000-0000-000000000000}"/>
          </ac:spMkLst>
        </pc:spChg>
      </pc:sldChg>
      <pc:sldChg chg="delSp mod">
        <pc:chgData name="Justine Keith Polinar" userId="c28fe3e7b55bb430" providerId="LiveId" clId="{D5642BDC-8E8C-4F97-A4A1-68FCE422103A}" dt="2026-05-20T05:47:31.931" v="131" actId="478"/>
        <pc:sldMkLst>
          <pc:docMk/>
          <pc:sldMk cId="0" sldId="263"/>
        </pc:sldMkLst>
        <pc:spChg chg="del">
          <ac:chgData name="Justine Keith Polinar" userId="c28fe3e7b55bb430" providerId="LiveId" clId="{D5642BDC-8E8C-4F97-A4A1-68FCE422103A}" dt="2026-05-20T05:47:27.823" v="130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47:31.931" v="131" actId="478"/>
          <ac:spMkLst>
            <pc:docMk/>
            <pc:sldMk cId="0" sldId="263"/>
            <ac:spMk id="7" creationId="{00000000-0000-0000-0000-000000000000}"/>
          </ac:spMkLst>
        </pc:spChg>
      </pc:sldChg>
      <pc:sldChg chg="delSp modSp mod">
        <pc:chgData name="Justine Keith Polinar" userId="c28fe3e7b55bb430" providerId="LiveId" clId="{D5642BDC-8E8C-4F97-A4A1-68FCE422103A}" dt="2026-05-20T05:47:37.701" v="134" actId="478"/>
        <pc:sldMkLst>
          <pc:docMk/>
          <pc:sldMk cId="0" sldId="264"/>
        </pc:sldMkLst>
        <pc:spChg chg="del">
          <ac:chgData name="Justine Keith Polinar" userId="c28fe3e7b55bb430" providerId="LiveId" clId="{D5642BDC-8E8C-4F97-A4A1-68FCE422103A}" dt="2026-05-20T05:47:37.701" v="134" actId="478"/>
          <ac:spMkLst>
            <pc:docMk/>
            <pc:sldMk cId="0" sldId="264"/>
            <ac:spMk id="2" creationId="{00000000-0000-0000-0000-000000000000}"/>
          </ac:spMkLst>
        </pc:spChg>
        <pc:spChg chg="mod">
          <ac:chgData name="Justine Keith Polinar" userId="c28fe3e7b55bb430" providerId="LiveId" clId="{D5642BDC-8E8C-4F97-A4A1-68FCE422103A}" dt="2026-05-20T05:47:37.043" v="133" actId="20577"/>
          <ac:spMkLst>
            <pc:docMk/>
            <pc:sldMk cId="0" sldId="264"/>
            <ac:spMk id="4" creationId="{00000000-0000-0000-0000-000000000000}"/>
          </ac:spMkLst>
        </pc:spChg>
      </pc:sldChg>
      <pc:sldChg chg="delSp mod">
        <pc:chgData name="Justine Keith Polinar" userId="c28fe3e7b55bb430" providerId="LiveId" clId="{D5642BDC-8E8C-4F97-A4A1-68FCE422103A}" dt="2026-05-20T05:47:39.754" v="135" actId="478"/>
        <pc:sldMkLst>
          <pc:docMk/>
          <pc:sldMk cId="0" sldId="266"/>
        </pc:sldMkLst>
        <pc:spChg chg="del">
          <ac:chgData name="Justine Keith Polinar" userId="c28fe3e7b55bb430" providerId="LiveId" clId="{D5642BDC-8E8C-4F97-A4A1-68FCE422103A}" dt="2026-05-20T05:47:39.754" v="135" actId="478"/>
          <ac:spMkLst>
            <pc:docMk/>
            <pc:sldMk cId="0" sldId="266"/>
            <ac:spMk id="4" creationId="{00000000-0000-0000-0000-000000000000}"/>
          </ac:spMkLst>
        </pc:spChg>
      </pc:sldChg>
      <pc:sldChg chg="delSp mod">
        <pc:chgData name="Justine Keith Polinar" userId="c28fe3e7b55bb430" providerId="LiveId" clId="{D5642BDC-8E8C-4F97-A4A1-68FCE422103A}" dt="2026-05-20T05:47:43.031" v="136" actId="478"/>
        <pc:sldMkLst>
          <pc:docMk/>
          <pc:sldMk cId="0" sldId="271"/>
        </pc:sldMkLst>
        <pc:spChg chg="del">
          <ac:chgData name="Justine Keith Polinar" userId="c28fe3e7b55bb430" providerId="LiveId" clId="{D5642BDC-8E8C-4F97-A4A1-68FCE422103A}" dt="2026-05-20T05:47:43.031" v="136" actId="478"/>
          <ac:spMkLst>
            <pc:docMk/>
            <pc:sldMk cId="0" sldId="271"/>
            <ac:spMk id="4" creationId="{00000000-0000-0000-0000-000000000000}"/>
          </ac:spMkLst>
        </pc:spChg>
      </pc:sldChg>
      <pc:sldChg chg="delSp mod">
        <pc:chgData name="Justine Keith Polinar" userId="c28fe3e7b55bb430" providerId="LiveId" clId="{D5642BDC-8E8C-4F97-A4A1-68FCE422103A}" dt="2026-05-20T05:47:45.970" v="137" actId="478"/>
        <pc:sldMkLst>
          <pc:docMk/>
          <pc:sldMk cId="0" sldId="275"/>
        </pc:sldMkLst>
        <pc:spChg chg="del">
          <ac:chgData name="Justine Keith Polinar" userId="c28fe3e7b55bb430" providerId="LiveId" clId="{D5642BDC-8E8C-4F97-A4A1-68FCE422103A}" dt="2026-05-20T05:47:45.970" v="137" actId="478"/>
          <ac:spMkLst>
            <pc:docMk/>
            <pc:sldMk cId="0" sldId="275"/>
            <ac:spMk id="4" creationId="{00000000-0000-0000-0000-000000000000}"/>
          </ac:spMkLst>
        </pc:spChg>
      </pc:sldChg>
      <pc:sldChg chg="delSp mod">
        <pc:chgData name="Justine Keith Polinar" userId="c28fe3e7b55bb430" providerId="LiveId" clId="{D5642BDC-8E8C-4F97-A4A1-68FCE422103A}" dt="2026-05-20T05:47:49.458" v="138" actId="478"/>
        <pc:sldMkLst>
          <pc:docMk/>
          <pc:sldMk cId="0" sldId="279"/>
        </pc:sldMkLst>
        <pc:spChg chg="del">
          <ac:chgData name="Justine Keith Polinar" userId="c28fe3e7b55bb430" providerId="LiveId" clId="{D5642BDC-8E8C-4F97-A4A1-68FCE422103A}" dt="2026-05-20T05:47:49.458" v="138" actId="478"/>
          <ac:spMkLst>
            <pc:docMk/>
            <pc:sldMk cId="0" sldId="279"/>
            <ac:spMk id="4" creationId="{00000000-0000-0000-0000-000000000000}"/>
          </ac:spMkLst>
        </pc:spChg>
      </pc:sldChg>
      <pc:sldChg chg="addSp delSp mod">
        <pc:chgData name="Justine Keith Polinar" userId="c28fe3e7b55bb430" providerId="LiveId" clId="{D5642BDC-8E8C-4F97-A4A1-68FCE422103A}" dt="2026-05-20T05:47:53.798" v="141" actId="478"/>
        <pc:sldMkLst>
          <pc:docMk/>
          <pc:sldMk cId="0" sldId="281"/>
        </pc:sldMkLst>
        <pc:spChg chg="add del">
          <ac:chgData name="Justine Keith Polinar" userId="c28fe3e7b55bb430" providerId="LiveId" clId="{D5642BDC-8E8C-4F97-A4A1-68FCE422103A}" dt="2026-05-20T05:47:52.870" v="140" actId="478"/>
          <ac:spMkLst>
            <pc:docMk/>
            <pc:sldMk cId="0" sldId="281"/>
            <ac:spMk id="2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47:53.798" v="141" actId="478"/>
          <ac:spMkLst>
            <pc:docMk/>
            <pc:sldMk cId="0" sldId="281"/>
            <ac:spMk id="4" creationId="{00000000-0000-0000-0000-000000000000}"/>
          </ac:spMkLst>
        </pc:spChg>
      </pc:sldChg>
      <pc:sldChg chg="delSp mod">
        <pc:chgData name="Justine Keith Polinar" userId="c28fe3e7b55bb430" providerId="LiveId" clId="{D5642BDC-8E8C-4F97-A4A1-68FCE422103A}" dt="2026-05-20T05:47:57.497" v="142" actId="478"/>
        <pc:sldMkLst>
          <pc:docMk/>
          <pc:sldMk cId="0" sldId="285"/>
        </pc:sldMkLst>
        <pc:spChg chg="del">
          <ac:chgData name="Justine Keith Polinar" userId="c28fe3e7b55bb430" providerId="LiveId" clId="{D5642BDC-8E8C-4F97-A4A1-68FCE422103A}" dt="2026-05-20T05:47:57.497" v="142" actId="478"/>
          <ac:spMkLst>
            <pc:docMk/>
            <pc:sldMk cId="0" sldId="285"/>
            <ac:spMk id="4" creationId="{00000000-0000-0000-0000-000000000000}"/>
          </ac:spMkLst>
        </pc:spChg>
      </pc:sldChg>
      <pc:sldChg chg="modSp mod">
        <pc:chgData name="Justine Keith Polinar" userId="c28fe3e7b55bb430" providerId="LiveId" clId="{D5642BDC-8E8C-4F97-A4A1-68FCE422103A}" dt="2026-05-20T05:48:09.635" v="145" actId="255"/>
        <pc:sldMkLst>
          <pc:docMk/>
          <pc:sldMk cId="0" sldId="286"/>
        </pc:sldMkLst>
        <pc:spChg chg="mod">
          <ac:chgData name="Justine Keith Polinar" userId="c28fe3e7b55bb430" providerId="LiveId" clId="{D5642BDC-8E8C-4F97-A4A1-68FCE422103A}" dt="2026-05-20T05:48:09.635" v="145" actId="255"/>
          <ac:spMkLst>
            <pc:docMk/>
            <pc:sldMk cId="0" sldId="286"/>
            <ac:spMk id="10" creationId="{00000000-0000-0000-0000-000000000000}"/>
          </ac:spMkLst>
        </pc:spChg>
      </pc:sldChg>
      <pc:sldChg chg="modSp mod">
        <pc:chgData name="Justine Keith Polinar" userId="c28fe3e7b55bb430" providerId="LiveId" clId="{D5642BDC-8E8C-4F97-A4A1-68FCE422103A}" dt="2026-05-20T05:48:17.324" v="146" actId="255"/>
        <pc:sldMkLst>
          <pc:docMk/>
          <pc:sldMk cId="0" sldId="287"/>
        </pc:sldMkLst>
        <pc:spChg chg="mod">
          <ac:chgData name="Justine Keith Polinar" userId="c28fe3e7b55bb430" providerId="LiveId" clId="{D5642BDC-8E8C-4F97-A4A1-68FCE422103A}" dt="2026-05-20T05:48:17.324" v="146" actId="255"/>
          <ac:spMkLst>
            <pc:docMk/>
            <pc:sldMk cId="0" sldId="287"/>
            <ac:spMk id="10" creationId="{00000000-0000-0000-0000-000000000000}"/>
          </ac:spMkLst>
        </pc:spChg>
      </pc:sldChg>
      <pc:sldChg chg="delSp modSp mod">
        <pc:chgData name="Justine Keith Polinar" userId="c28fe3e7b55bb430" providerId="LiveId" clId="{D5642BDC-8E8C-4F97-A4A1-68FCE422103A}" dt="2026-05-20T05:50:12.914" v="174" actId="478"/>
        <pc:sldMkLst>
          <pc:docMk/>
          <pc:sldMk cId="0" sldId="288"/>
        </pc:sldMkLst>
        <pc:spChg chg="del">
          <ac:chgData name="Justine Keith Polinar" userId="c28fe3e7b55bb430" providerId="LiveId" clId="{D5642BDC-8E8C-4F97-A4A1-68FCE422103A}" dt="2026-05-20T05:49:38.752" v="161" actId="478"/>
          <ac:spMkLst>
            <pc:docMk/>
            <pc:sldMk cId="0" sldId="288"/>
            <ac:spMk id="6" creationId="{00000000-0000-0000-0000-000000000000}"/>
          </ac:spMkLst>
        </pc:spChg>
        <pc:spChg chg="del mod">
          <ac:chgData name="Justine Keith Polinar" userId="c28fe3e7b55bb430" providerId="LiveId" clId="{D5642BDC-8E8C-4F97-A4A1-68FCE422103A}" dt="2026-05-20T05:50:12.914" v="174" actId="478"/>
          <ac:spMkLst>
            <pc:docMk/>
            <pc:sldMk cId="0" sldId="288"/>
            <ac:spMk id="7" creationId="{00000000-0000-0000-0000-000000000000}"/>
          </ac:spMkLst>
        </pc:spChg>
        <pc:spChg chg="mod">
          <ac:chgData name="Justine Keith Polinar" userId="c28fe3e7b55bb430" providerId="LiveId" clId="{D5642BDC-8E8C-4F97-A4A1-68FCE422103A}" dt="2026-05-20T05:50:01.165" v="167" actId="1076"/>
          <ac:spMkLst>
            <pc:docMk/>
            <pc:sldMk cId="0" sldId="288"/>
            <ac:spMk id="8" creationId="{00000000-0000-0000-0000-000000000000}"/>
          </ac:spMkLst>
        </pc:spChg>
        <pc:spChg chg="mod">
          <ac:chgData name="Justine Keith Polinar" userId="c28fe3e7b55bb430" providerId="LiveId" clId="{D5642BDC-8E8C-4F97-A4A1-68FCE422103A}" dt="2026-05-20T05:50:07.542" v="171" actId="14100"/>
          <ac:spMkLst>
            <pc:docMk/>
            <pc:sldMk cId="0" sldId="288"/>
            <ac:spMk id="9" creationId="{00000000-0000-0000-0000-000000000000}"/>
          </ac:spMkLst>
        </pc:spChg>
        <pc:spChg chg="del mod">
          <ac:chgData name="Justine Keith Polinar" userId="c28fe3e7b55bb430" providerId="LiveId" clId="{D5642BDC-8E8C-4F97-A4A1-68FCE422103A}" dt="2026-05-20T05:49:37.647" v="160" actId="478"/>
          <ac:spMkLst>
            <pc:docMk/>
            <pc:sldMk cId="0" sldId="288"/>
            <ac:spMk id="11" creationId="{00000000-0000-0000-0000-000000000000}"/>
          </ac:spMkLst>
        </pc:spChg>
        <pc:graphicFrameChg chg="mod modGraphic">
          <ac:chgData name="Justine Keith Polinar" userId="c28fe3e7b55bb430" providerId="LiveId" clId="{D5642BDC-8E8C-4F97-A4A1-68FCE422103A}" dt="2026-05-20T05:49:53.528" v="166" actId="1076"/>
          <ac:graphicFrameMkLst>
            <pc:docMk/>
            <pc:sldMk cId="0" sldId="288"/>
            <ac:graphicFrameMk id="10" creationId="{00000000-0000-0000-0000-000000000000}"/>
          </ac:graphicFrameMkLst>
        </pc:graphicFrameChg>
      </pc:sldChg>
      <pc:sldChg chg="modSp del mod">
        <pc:chgData name="Justine Keith Polinar" userId="c28fe3e7b55bb430" providerId="LiveId" clId="{D5642BDC-8E8C-4F97-A4A1-68FCE422103A}" dt="2026-05-20T05:49:01.066" v="154" actId="47"/>
        <pc:sldMkLst>
          <pc:docMk/>
          <pc:sldMk cId="0" sldId="289"/>
        </pc:sldMkLst>
        <pc:spChg chg="mod">
          <ac:chgData name="Justine Keith Polinar" userId="c28fe3e7b55bb430" providerId="LiveId" clId="{D5642BDC-8E8C-4F97-A4A1-68FCE422103A}" dt="2026-05-20T05:48:51.625" v="153" actId="14100"/>
          <ac:spMkLst>
            <pc:docMk/>
            <pc:sldMk cId="0" sldId="289"/>
            <ac:spMk id="15" creationId="{00000000-0000-0000-0000-000000000000}"/>
          </ac:spMkLst>
        </pc:spChg>
      </pc:sldChg>
      <pc:sldChg chg="delSp modSp mod">
        <pc:chgData name="Justine Keith Polinar" userId="c28fe3e7b55bb430" providerId="LiveId" clId="{D5642BDC-8E8C-4F97-A4A1-68FCE422103A}" dt="2026-05-20T05:48:36.377" v="152" actId="14100"/>
        <pc:sldMkLst>
          <pc:docMk/>
          <pc:sldMk cId="0" sldId="290"/>
        </pc:sldMkLst>
        <pc:spChg chg="del">
          <ac:chgData name="Justine Keith Polinar" userId="c28fe3e7b55bb430" providerId="LiveId" clId="{D5642BDC-8E8C-4F97-A4A1-68FCE422103A}" dt="2026-05-20T05:48:31.934" v="151" actId="478"/>
          <ac:spMkLst>
            <pc:docMk/>
            <pc:sldMk cId="0" sldId="290"/>
            <ac:spMk id="6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48:30.855" v="150" actId="478"/>
          <ac:spMkLst>
            <pc:docMk/>
            <pc:sldMk cId="0" sldId="290"/>
            <ac:spMk id="7" creationId="{00000000-0000-0000-0000-000000000000}"/>
          </ac:spMkLst>
        </pc:spChg>
        <pc:spChg chg="mod">
          <ac:chgData name="Justine Keith Polinar" userId="c28fe3e7b55bb430" providerId="LiveId" clId="{D5642BDC-8E8C-4F97-A4A1-68FCE422103A}" dt="2026-05-20T05:48:36.377" v="152" actId="14100"/>
          <ac:spMkLst>
            <pc:docMk/>
            <pc:sldMk cId="0" sldId="290"/>
            <ac:spMk id="9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48:23.983" v="147" actId="478"/>
          <ac:spMkLst>
            <pc:docMk/>
            <pc:sldMk cId="0" sldId="290"/>
            <ac:spMk id="11" creationId="{00000000-0000-0000-0000-000000000000}"/>
          </ac:spMkLst>
        </pc:spChg>
        <pc:graphicFrameChg chg="mod modGraphic">
          <ac:chgData name="Justine Keith Polinar" userId="c28fe3e7b55bb430" providerId="LiveId" clId="{D5642BDC-8E8C-4F97-A4A1-68FCE422103A}" dt="2026-05-20T05:48:29.247" v="149" actId="14100"/>
          <ac:graphicFrameMkLst>
            <pc:docMk/>
            <pc:sldMk cId="0" sldId="290"/>
            <ac:graphicFrameMk id="10" creationId="{00000000-0000-0000-0000-000000000000}"/>
          </ac:graphicFrameMkLst>
        </pc:graphicFrameChg>
      </pc:sldChg>
      <pc:sldChg chg="modSp mod">
        <pc:chgData name="Justine Keith Polinar" userId="c28fe3e7b55bb430" providerId="LiveId" clId="{D5642BDC-8E8C-4F97-A4A1-68FCE422103A}" dt="2026-05-20T05:50:30.187" v="175" actId="255"/>
        <pc:sldMkLst>
          <pc:docMk/>
          <pc:sldMk cId="0" sldId="292"/>
        </pc:sldMkLst>
        <pc:spChg chg="mod">
          <ac:chgData name="Justine Keith Polinar" userId="c28fe3e7b55bb430" providerId="LiveId" clId="{D5642BDC-8E8C-4F97-A4A1-68FCE422103A}" dt="2026-05-20T05:50:30.187" v="175" actId="255"/>
          <ac:spMkLst>
            <pc:docMk/>
            <pc:sldMk cId="0" sldId="292"/>
            <ac:spMk id="10" creationId="{00000000-0000-0000-0000-000000000000}"/>
          </ac:spMkLst>
        </pc:spChg>
      </pc:sldChg>
      <pc:sldChg chg="delSp modSp mod">
        <pc:chgData name="Justine Keith Polinar" userId="c28fe3e7b55bb430" providerId="LiveId" clId="{D5642BDC-8E8C-4F97-A4A1-68FCE422103A}" dt="2026-05-20T05:50:38.215" v="178" actId="478"/>
        <pc:sldMkLst>
          <pc:docMk/>
          <pc:sldMk cId="0" sldId="293"/>
        </pc:sldMkLst>
        <pc:spChg chg="del">
          <ac:chgData name="Justine Keith Polinar" userId="c28fe3e7b55bb430" providerId="LiveId" clId="{D5642BDC-8E8C-4F97-A4A1-68FCE422103A}" dt="2026-05-20T05:50:37.067" v="177" actId="478"/>
          <ac:spMkLst>
            <pc:docMk/>
            <pc:sldMk cId="0" sldId="293"/>
            <ac:spMk id="6" creationId="{00000000-0000-0000-0000-000000000000}"/>
          </ac:spMkLst>
        </pc:spChg>
        <pc:spChg chg="del">
          <ac:chgData name="Justine Keith Polinar" userId="c28fe3e7b55bb430" providerId="LiveId" clId="{D5642BDC-8E8C-4F97-A4A1-68FCE422103A}" dt="2026-05-20T05:50:38.215" v="178" actId="478"/>
          <ac:spMkLst>
            <pc:docMk/>
            <pc:sldMk cId="0" sldId="293"/>
            <ac:spMk id="7" creationId="{00000000-0000-0000-0000-000000000000}"/>
          </ac:spMkLst>
        </pc:spChg>
        <pc:spChg chg="mod">
          <ac:chgData name="Justine Keith Polinar" userId="c28fe3e7b55bb430" providerId="LiveId" clId="{D5642BDC-8E8C-4F97-A4A1-68FCE422103A}" dt="2026-05-20T05:50:34.862" v="176" actId="255"/>
          <ac:spMkLst>
            <pc:docMk/>
            <pc:sldMk cId="0" sldId="293"/>
            <ac:spMk id="10" creationId="{00000000-0000-0000-0000-000000000000}"/>
          </ac:spMkLst>
        </pc:spChg>
      </pc:sldChg>
      <pc:sldChg chg="modSp mod">
        <pc:chgData name="Justine Keith Polinar" userId="c28fe3e7b55bb430" providerId="LiveId" clId="{D5642BDC-8E8C-4F97-A4A1-68FCE422103A}" dt="2026-05-20T05:50:48.620" v="221" actId="20577"/>
        <pc:sldMkLst>
          <pc:docMk/>
          <pc:sldMk cId="0" sldId="294"/>
        </pc:sldMkLst>
        <pc:spChg chg="mod">
          <ac:chgData name="Justine Keith Polinar" userId="c28fe3e7b55bb430" providerId="LiveId" clId="{D5642BDC-8E8C-4F97-A4A1-68FCE422103A}" dt="2026-05-20T05:50:48.620" v="221" actId="20577"/>
          <ac:spMkLst>
            <pc:docMk/>
            <pc:sldMk cId="0" sldId="294"/>
            <ac:spMk id="5" creationId="{00000000-0000-0000-0000-000000000000}"/>
          </ac:spMkLst>
        </pc:spChg>
      </pc:sldChg>
      <pc:sldChg chg="addSp delSp modSp add del mod">
        <pc:chgData name="Justine Keith Polinar" userId="c28fe3e7b55bb430" providerId="LiveId" clId="{D5642BDC-8E8C-4F97-A4A1-68FCE422103A}" dt="2026-05-20T05:47:15.362" v="126" actId="47"/>
        <pc:sldMkLst>
          <pc:docMk/>
          <pc:sldMk cId="2300446843" sldId="295"/>
        </pc:sldMkLst>
        <pc:spChg chg="mod">
          <ac:chgData name="Justine Keith Polinar" userId="c28fe3e7b55bb430" providerId="LiveId" clId="{D5642BDC-8E8C-4F97-A4A1-68FCE422103A}" dt="2026-05-20T05:45:38.542" v="106" actId="1076"/>
          <ac:spMkLst>
            <pc:docMk/>
            <pc:sldMk cId="2300446843" sldId="295"/>
            <ac:spMk id="3" creationId="{6020BE03-EA8E-4688-1DBB-2F937DEB67E3}"/>
          </ac:spMkLst>
        </pc:spChg>
        <pc:spChg chg="add del">
          <ac:chgData name="Justine Keith Polinar" userId="c28fe3e7b55bb430" providerId="LiveId" clId="{D5642BDC-8E8C-4F97-A4A1-68FCE422103A}" dt="2026-05-20T05:45:36.026" v="104" actId="478"/>
          <ac:spMkLst>
            <pc:docMk/>
            <pc:sldMk cId="2300446843" sldId="295"/>
            <ac:spMk id="4" creationId="{9F874330-5E5A-6A95-3DF9-1061C28148D3}"/>
          </ac:spMkLst>
        </pc:spChg>
      </pc:sldChg>
      <pc:sldChg chg="delSp add mod">
        <pc:chgData name="Justine Keith Polinar" userId="c28fe3e7b55bb430" providerId="LiveId" clId="{D5642BDC-8E8C-4F97-A4A1-68FCE422103A}" dt="2026-05-20T05:47:20.066" v="127" actId="478"/>
        <pc:sldMkLst>
          <pc:docMk/>
          <pc:sldMk cId="2056728369" sldId="296"/>
        </pc:sldMkLst>
        <pc:spChg chg="del">
          <ac:chgData name="Justine Keith Polinar" userId="c28fe3e7b55bb430" providerId="LiveId" clId="{D5642BDC-8E8C-4F97-A4A1-68FCE422103A}" dt="2026-05-20T05:47:20.066" v="127" actId="478"/>
          <ac:spMkLst>
            <pc:docMk/>
            <pc:sldMk cId="2056728369" sldId="296"/>
            <ac:spMk id="8" creationId="{52FE592A-9B78-E8C0-A64D-270AEB56EEF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1106424"/>
            <a:ext cx="12191695" cy="31089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945" y="1472184"/>
            <a:ext cx="73152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985" y="1609344"/>
            <a:ext cx="105156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FINAL PROJECT  |  SIMULATION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985" y="2020824"/>
            <a:ext cx="10515600" cy="1052014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lang="en-US" sz="6600" b="1" i="0" dirty="0">
                <a:solidFill>
                  <a:srgbClr val="FFFFFF"/>
                </a:solidFill>
                <a:latin typeface="Calibri"/>
              </a:rPr>
              <a:t>FLOOD RISK SIMULATION</a:t>
            </a:r>
            <a:endParaRPr sz="6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985" y="2889504"/>
            <a:ext cx="10515600" cy="7134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lang="en-US" sz="4400" b="1" dirty="0">
                <a:solidFill>
                  <a:srgbClr val="FFFFFF"/>
                </a:solidFill>
                <a:latin typeface="Calibri"/>
              </a:rPr>
              <a:t>JADE VALLEY MODEL</a:t>
            </a:r>
            <a:endParaRPr sz="4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5084064"/>
            <a:ext cx="1051560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 i="0" dirty="0">
                <a:solidFill>
                  <a:srgbClr val="000000"/>
                </a:solidFill>
                <a:latin typeface="Calibri"/>
              </a:rPr>
              <a:t>A TERRAIN-AWARE HYDROLOGICAL SIMULATION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95544"/>
            <a:ext cx="1051560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1" i="0" dirty="0">
                <a:solidFill>
                  <a:srgbClr val="333333"/>
                </a:solidFill>
                <a:latin typeface="Consolas"/>
              </a:rPr>
              <a:t>D8 FLOW ROUTING  |  GREEN-AMPT INFILTRATION  |  BFS RIVER OVERFLOW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263640"/>
            <a:ext cx="11064240" cy="3657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 dirty="0">
                <a:solidFill>
                  <a:srgbClr val="FFFFFF"/>
                </a:solidFill>
                <a:latin typeface="Consolas"/>
              </a:rPr>
              <a:t>DOCUMENTATION + RESULTS  |  COMPILED FROM SIMULATION SYSTEM OUTPUTS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onsolas"/>
              </a:rPr>
              <a:t>01 / 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00  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2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TABLE OF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640080" cy="38404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463040"/>
            <a:ext cx="4526280" cy="38404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Introduction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521208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892808"/>
            <a:ext cx="640080" cy="38404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892808"/>
            <a:ext cx="4526280" cy="38404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Problem Definition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58568"/>
            <a:ext cx="521208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322576"/>
            <a:ext cx="640080" cy="38404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322576"/>
            <a:ext cx="4526280" cy="38404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Objectives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88336"/>
            <a:ext cx="521208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752344"/>
            <a:ext cx="640080" cy="38404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752344"/>
            <a:ext cx="4526280" cy="38404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System Description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18104"/>
            <a:ext cx="521208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182112"/>
            <a:ext cx="640080" cy="38404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onsola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182112"/>
            <a:ext cx="4526280" cy="38404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System 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47872"/>
            <a:ext cx="521208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1463040"/>
            <a:ext cx="640080" cy="38404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onsola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1463040"/>
            <a:ext cx="4526280" cy="38404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System Variables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828800"/>
            <a:ext cx="521208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1892808"/>
            <a:ext cx="640080" cy="38404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onsolas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1892808"/>
            <a:ext cx="4526280" cy="38404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Assumptions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258568"/>
            <a:ext cx="521208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2322576"/>
            <a:ext cx="640080" cy="38404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onsolas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322576"/>
            <a:ext cx="4526280" cy="38404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Simulation Setup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688336"/>
            <a:ext cx="521208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2752344"/>
            <a:ext cx="640080" cy="38404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onsolas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2752344"/>
            <a:ext cx="4526280" cy="38404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Results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118104"/>
            <a:ext cx="521208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3182112"/>
            <a:ext cx="640080" cy="38404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onsolas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182112"/>
            <a:ext cx="4526280" cy="38404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Conclusion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547872"/>
            <a:ext cx="521208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" y="2009794"/>
            <a:ext cx="3383280" cy="219078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0" b="1" i="0" dirty="0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9392" y="2541592"/>
            <a:ext cx="7680960" cy="959681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6000" b="1" i="0" dirty="0">
                <a:solidFill>
                  <a:srgbClr val="000000"/>
                </a:solidFill>
                <a:latin typeface="Calibri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501273"/>
            <a:ext cx="4846320" cy="457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 dirty="0">
                <a:solidFill>
                  <a:srgbClr val="666666"/>
                </a:solidFill>
                <a:latin typeface="Consolas"/>
              </a:rPr>
              <a:t>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01 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4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PROJECT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Jade Valley Subdivision is a residential community in Davao City, Philippines, situated on low-lying terrain that is highly susceptible to flooding during heavy rainfall events and tropical cyclones.</a:t>
            </a:r>
          </a:p>
          <a:p>
            <a:pPr>
              <a:spcAft>
                <a:spcPts val="600"/>
              </a:spcAft>
            </a:pPr>
            <a:endParaRPr sz="1300" b="0" i="0" dirty="0">
              <a:solidFill>
                <a:srgbClr val="000000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The study area covers approximately 326.44 hectares with elevations ranging from 2.00 m to 71.75 m above mean sea level, mean elevation of 20.74 m. With 72.3% of the land classified as flat (slope &lt; 5°), surface runoff accumulates rapidly during storms, exposing the subdivision to both pluvial flooding from direct rainfall and fluvial flooding from nearby river overflow.</a:t>
            </a:r>
          </a:p>
          <a:p>
            <a:pPr>
              <a:spcAft>
                <a:spcPts val="600"/>
              </a:spcAft>
            </a:pPr>
            <a:endParaRPr sz="1300" b="0" i="0" dirty="0">
              <a:solidFill>
                <a:srgbClr val="000000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This system is an interactive, terrain-aware flood simulation built entirely in Python (</a:t>
            </a:r>
            <a:r>
              <a:rPr sz="1300" b="0" i="0" dirty="0" err="1">
                <a:solidFill>
                  <a:srgbClr val="000000"/>
                </a:solidFill>
                <a:latin typeface="Calibri"/>
              </a:rPr>
              <a:t>rasterio</a:t>
            </a:r>
            <a:r>
              <a:rPr sz="1300" b="0" i="0" dirty="0">
                <a:solidFill>
                  <a:srgbClr val="000000"/>
                </a:solidFill>
                <a:latin typeface="Calibri"/>
              </a:rPr>
              <a:t>, NumPy, SciPy, Matplotlib) operating on a </a:t>
            </a:r>
            <a:r>
              <a:rPr sz="1300" b="0" i="0" dirty="0" err="1">
                <a:solidFill>
                  <a:srgbClr val="000000"/>
                </a:solidFill>
                <a:latin typeface="Calibri"/>
              </a:rPr>
              <a:t>GeoTIFF</a:t>
            </a:r>
            <a:r>
              <a:rPr sz="1300" b="0" i="0" dirty="0">
                <a:solidFill>
                  <a:srgbClr val="000000"/>
                </a:solidFill>
                <a:latin typeface="Calibri"/>
              </a:rPr>
              <a:t> Digital Elevation Model (DEM) derived from 3D topographic survey data of the subdivision.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01 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5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CITY,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FINAL BUILD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THREE PROGRESSIVE BUILDS + MASTER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 dirty="0">
                <a:solidFill>
                  <a:srgbClr val="000000"/>
                </a:solidFill>
                <a:latin typeface="Consolas"/>
              </a:rPr>
              <a:t>25%   </a:t>
            </a:r>
            <a:r>
              <a:rPr sz="1300" b="0" i="0" dirty="0">
                <a:solidFill>
                  <a:srgbClr val="000000"/>
                </a:solidFill>
                <a:latin typeface="Calibri"/>
              </a:rPr>
              <a:t>Baseline simulation. No prevention measures. Establishes the unmitigated flood </a:t>
            </a:r>
            <a:r>
              <a:rPr sz="1300" b="0" i="0" dirty="0" err="1">
                <a:solidFill>
                  <a:srgbClr val="000000"/>
                </a:solidFill>
                <a:latin typeface="Calibri"/>
              </a:rPr>
              <a:t>behaviour</a:t>
            </a:r>
            <a:r>
              <a:rPr sz="1300" b="0" i="0" dirty="0">
                <a:solidFill>
                  <a:srgbClr val="000000"/>
                </a:solidFill>
                <a:latin typeface="Calibri"/>
              </a:rPr>
              <a:t> as the reference for comparison.</a:t>
            </a:r>
          </a:p>
          <a:p>
            <a:pPr>
              <a:spcAft>
                <a:spcPts val="600"/>
              </a:spcAft>
            </a:pPr>
            <a:r>
              <a:rPr sz="1300" b="1" i="0" dirty="0">
                <a:solidFill>
                  <a:srgbClr val="000000"/>
                </a:solidFill>
                <a:latin typeface="Consolas"/>
              </a:rPr>
              <a:t>50%   </a:t>
            </a:r>
            <a:r>
              <a:rPr sz="1300" b="0" i="0" dirty="0">
                <a:solidFill>
                  <a:srgbClr val="000000"/>
                </a:solidFill>
                <a:latin typeface="Calibri"/>
              </a:rPr>
              <a:t>Adds two prevention measures: Riverbank Floodwall and Drainage Canal Network. Runs an improved and a baseline simulation in parallel and reports the delta.</a:t>
            </a:r>
          </a:p>
          <a:p>
            <a:pPr>
              <a:spcAft>
                <a:spcPts val="600"/>
              </a:spcAft>
            </a:pPr>
            <a:r>
              <a:rPr sz="1300" b="1" i="0" dirty="0">
                <a:solidFill>
                  <a:srgbClr val="000000"/>
                </a:solidFill>
                <a:latin typeface="Consolas"/>
              </a:rPr>
              <a:t>75%   </a:t>
            </a:r>
            <a:r>
              <a:rPr sz="1300" b="0" i="0" dirty="0">
                <a:solidFill>
                  <a:srgbClr val="000000"/>
                </a:solidFill>
                <a:latin typeface="Calibri"/>
              </a:rPr>
              <a:t>Adds two further measures: Retention Basin and Elevated Emergency Road. Renders all four infrastructure overlays on the animated map.</a:t>
            </a:r>
          </a:p>
          <a:p>
            <a:pPr>
              <a:spcAft>
                <a:spcPts val="600"/>
              </a:spcAft>
            </a:pPr>
            <a:r>
              <a:rPr sz="1300" b="1" i="0" dirty="0">
                <a:solidFill>
                  <a:srgbClr val="000000"/>
                </a:solidFill>
                <a:latin typeface="Consolas"/>
              </a:rPr>
              <a:t>100%   </a:t>
            </a:r>
            <a:r>
              <a:rPr sz="1300" b="0" i="0" dirty="0">
                <a:solidFill>
                  <a:srgbClr val="000000"/>
                </a:solidFill>
                <a:latin typeface="Calibri"/>
              </a:rPr>
              <a:t>Complete system. Same GUI as 75% (storm tab + four prevention measures) PLUS a COLLECT ALL DATA button that runs the full 6 × 4 = 24 scenario/config matrix and exports the master data tables that drive this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1752" y="1830686"/>
            <a:ext cx="3383280" cy="219078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0" b="1" i="0" dirty="0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70832" y="2222430"/>
            <a:ext cx="7680960" cy="959681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6000" b="1" i="0" dirty="0">
                <a:solidFill>
                  <a:srgbClr val="000000"/>
                </a:solidFill>
                <a:latin typeface="Calibri"/>
              </a:rPr>
              <a:t>PROBLEM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3118103"/>
            <a:ext cx="6986016" cy="457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D881C-7D98-F522-FAD1-63DA62AD7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C5554F-327D-DF38-E045-4C7FA17A557B}"/>
              </a:ext>
            </a:extLst>
          </p:cNvPr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753583-2A5B-FCDD-66E1-DC6B24D0A1CD}"/>
              </a:ext>
            </a:extLst>
          </p:cNvPr>
          <p:cNvSpPr txBox="1"/>
          <p:nvPr/>
        </p:nvSpPr>
        <p:spPr>
          <a:xfrm>
            <a:off x="301752" y="1830686"/>
            <a:ext cx="3383280" cy="219078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0" b="1" i="0" dirty="0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5DBDA-11A6-2EEC-37B2-CDF774BA75E3}"/>
              </a:ext>
            </a:extLst>
          </p:cNvPr>
          <p:cNvSpPr txBox="1"/>
          <p:nvPr/>
        </p:nvSpPr>
        <p:spPr>
          <a:xfrm>
            <a:off x="4370832" y="2222430"/>
            <a:ext cx="7680960" cy="959681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6000" b="1" i="0" dirty="0">
                <a:solidFill>
                  <a:srgbClr val="000000"/>
                </a:solidFill>
                <a:latin typeface="Calibri"/>
              </a:rPr>
              <a:t>PROBLEM DEFINITION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6EB6BA-1321-56C4-9A15-FDF9746B5FA3}"/>
              </a:ext>
            </a:extLst>
          </p:cNvPr>
          <p:cNvSpPr/>
          <p:nvPr/>
        </p:nvSpPr>
        <p:spPr>
          <a:xfrm>
            <a:off x="4434840" y="3118103"/>
            <a:ext cx="6986016" cy="457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CF2DDB-E1ED-73EE-5298-8AFDF51BA6C5}"/>
              </a:ext>
            </a:extLst>
          </p:cNvPr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6 / 39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8D47A5-D6AE-8FA7-982E-3B9654AF663F}"/>
              </a:ext>
            </a:extLst>
          </p:cNvPr>
          <p:cNvSpPr txBox="1"/>
          <p:nvPr/>
        </p:nvSpPr>
        <p:spPr>
          <a:xfrm>
            <a:off x="4434840" y="3255264"/>
            <a:ext cx="7178040" cy="467239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 dirty="0">
                <a:solidFill>
                  <a:srgbClr val="333333"/>
                </a:solidFill>
                <a:latin typeface="Calibri"/>
              </a:rPr>
              <a:t>Why Jade Valley is flood-prone, the planning gap this system addresses, and the critical questions a terrain-aware model can answer.</a:t>
            </a:r>
          </a:p>
        </p:txBody>
      </p:sp>
    </p:spTree>
    <p:extLst>
      <p:ext uri="{BB962C8B-B14F-4D97-AF65-F5344CB8AC3E}">
        <p14:creationId xmlns:p14="http://schemas.microsoft.com/office/powerpoint/2010/main" val="2056728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02  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7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WHY JADE VALLEY FLOODS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Davao City is among the most flood-prone urban centres in the Philippines: proximity to river systems, high annual rainfall, and rapid urbanisation of low-lying areas.</a:t>
            </a:r>
          </a:p>
          <a:p>
            <a:pPr>
              <a:spcAft>
                <a:spcPts val="600"/>
              </a:spcAft>
            </a:pPr>
            <a:endParaRPr sz="1300" b="0" i="0">
              <a:solidFill>
                <a:srgbClr val="000000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Jade Valley exemplifies the compounding flood risk in such communities: flat terrain limits natural drainage while proximity to river channels exposes residents to both surface runoff accumulation and fluvial overflow during storm events.</a:t>
            </a:r>
          </a:p>
          <a:p>
            <a:pPr>
              <a:spcAft>
                <a:spcPts val="600"/>
              </a:spcAft>
            </a:pPr>
            <a:endParaRPr sz="1300" b="0" i="0">
              <a:solidFill>
                <a:srgbClr val="000000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Despite these conditions, flood risk planning in residential subdivisions often lacks site-specific quantitative modeling — meaning emergency preparedness, infrastructure investments, and land use recommendations are made without direct evidence of how water actually moves across the terrain during real storms.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02  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8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QUESTIONS THIS SYSTEM ANSWERS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Q1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Which specific zones flood first, and at what rainfall threshold does inundation become critical?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Q2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How far does river overflow spread across the subdivision during typhoons of varying intensities?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Q3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How much flood extent and peak depth reduction can be achieved by constructing prevention infrastructure — and which combination provides the best protection?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Q4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Which areas can safely serve as evacuation zones during a 100-year flood event?</a:t>
            </a:r>
          </a:p>
          <a:p>
            <a:pPr>
              <a:spcAft>
                <a:spcPts val="600"/>
              </a:spcAft>
            </a:pPr>
            <a:endParaRPr sz="1300" b="0" i="0">
              <a:solidFill>
                <a:srgbClr val="000000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This simulation system answers each of these questions with a terrain-aware, scenario-driven model grounded in standard hydrological methods.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914400"/>
            <a:ext cx="3383280" cy="228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0" b="1" i="0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91840"/>
            <a:ext cx="3383280" cy="251795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onsolas"/>
              </a:rPr>
              <a:t>SECTON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371600"/>
            <a:ext cx="7680960" cy="1371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200" b="1" i="0">
                <a:solidFill>
                  <a:srgbClr val="000000"/>
                </a:solidFill>
                <a:latin typeface="Calibri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278892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0" y="2926080"/>
            <a:ext cx="7680960" cy="32004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Six concrete objectives the simulation system is designed to meet.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54864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9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03  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10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CITY,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FINAL BUILD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SIX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3.1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Terrain-Accurate Flood Inundation Modeling — D8 flow routing, Green-Ampt infiltration, BFS overflow dilation.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3.2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Multi-Scenario Storm Coverage — PAGASA-calibrated scenarios from Light Rain (15 mm / 2 h) to Typhoon Signal 3 (400 mm / 18 h).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3.3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Flood Risk Quantification — five-class HAND-based risk zonation (Very High / High / Medium / Low / Safe).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3.4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Prevention Measure Evaluation — frame-by-frame comparison of baseline vs. improved runs across four mitigation configurations.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3.5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Interactive Visualisation — animated multi-layer figure with playback controls.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3.6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Data Export — GIF animations, time-series CSV files, .npy terrain arrays, JSON statistics, and human-readable reports.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3383280" cy="228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0" b="1" i="0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371600"/>
            <a:ext cx="7680960" cy="1371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200" b="1" i="0">
                <a:solidFill>
                  <a:srgbClr val="000000"/>
                </a:solidFill>
                <a:latin typeface="Calibri"/>
              </a:rPr>
              <a:t>SYSTEM DESCRIPTION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278892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0" y="2926080"/>
            <a:ext cx="7680960" cy="32004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Architecture, build hierarchy, core components, and data 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54864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11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04   SYSTEM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12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CITY,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FINAL BUILD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ARCHITECTURE: FIVE LOGICAL LAYERS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LAYER 1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Data Layer  |  Reads the GeoTIFF DEM and JPEG satellite background from disk. All terrain computations derive from the 57 × 61 elevation grid.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LAYER 2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Input Layer  |  A Tkinter GUI collects storm parameters and prevention settings (the 100% build skips this and runs the matrix headlessly).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LAYER 3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Preprocessing Layer  |  Applies prevention DEM modifications, then runs the hydrological pipeline: depression fill, D8 flow direction, flow accumulation, slope, runoff coefficient, infiltration capacity, bank elevation map.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LAYER 4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Simulation Engine  |  Frame-by-frame physics loop: rainfall addition, water routing, river overflow via BFS dilation, infiltration, drainage. Parallel baseline sim runs simultaneously when prevention is active.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LAYER 5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Output Layer  |  Matplotlib renders the animation; results export as GIF animations and CSV/JSON/.npy artefacts.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04   SYSTEM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13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CITY,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FINAL BUILD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BUILD HIERARCHY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BUILD          SCRIPT                          PREVENTION MEASURES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--------------------------------------------------------------------------------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25%  Baseline  flood_simulation_25%.py          None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50%  Two-meas. flood_simulation_50%.py          Floodwall + Drainage Canal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75%  Four-meas flood_simulation_75%.py          Floodwall + Canal +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                                          Retention Basin + Elevated Road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100% Master    flood_simulation_100%.py         Headless 6 × 4 matrix runner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                                          + HAND/risk-zone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04   SYSTEM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14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CITY,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FINAL BUILD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CORE COMPONENTS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load_dem()                  Reads GeoTIFF; fills NoData; returns (dem, cellsize)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_fill_depressions()         Priority-Flood sink removal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_d8_flow_direction()        Steepest-descent D8 routing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_flow_accumulation()        Topological-sort upstream count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build_stream_mask()         Top-8% accumulation = river channel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apply_floodwall()           DEM modification: raises western bank cells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apply_drainage_canal()      DEM modification: lowers east/south corridors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apply_retention_basin()     DEM modification: excavates basin depression [75%]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apply_elevated_road()       DEM modification: raises emergency road berm [75%]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apply_prevention_measures() Combines active measures into one modified DEM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FloodSimulation             Class — holds state; runs physics per timestep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.add_rainfall()         Runoff-weighted rainfall onto grid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.route_water()          D8 surface-water diffusion (12 sub-iters)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.apply_river_overflow() BFS dilation of flood front from channel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.apply_infiltration()   Green-Ampt inspired soil absorption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.apply_drainage()       Channel + canal drainage removal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.step()                 Calls all five methods for one timestep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wind_rainfall_map()         Wind-modified spatial rainfall weights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run_simulation()            Orchestrates preprocessing, loop, rendering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SimulationGUI               Tkinter two-tab GUI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04   SYSTEM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15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CITY,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FINAL BUILD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DATA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GeoTIFF DEM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|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+-- Prevention DEM modifications (if enabled)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|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+-- Hydrological preprocessing  --&gt;  fdir, accum, river_mask,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|                                    slope, runoff_coeff,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|                                    max_inf, bank_elev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|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+-- [Improved Sim]  FloodSimulation(modified_dem)  -+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|                   frame loop x num_frames         +-- Animation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+-- [Baseline Sim]  FloodSimulation(original_dem)  -+   + CSV Export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3383280" cy="228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0" b="1" i="0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371600"/>
            <a:ext cx="7680960" cy="1371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200" b="1" i="0">
                <a:solidFill>
                  <a:srgbClr val="000000"/>
                </a:solidFill>
                <a:latin typeface="Calibri"/>
              </a:rPr>
              <a:t>SYSTEM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278892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0" y="2926080"/>
            <a:ext cx="7680960" cy="32004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The eight stages from terrain loading through to output export.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54864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16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05   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17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CITY,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FINAL BUILD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STAGES 1–4: LOAD, INPUT, PREVENTION, PREPROCESS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STAGE 1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Data Loading  |  Read GeoTIFF DEM (rasterio) and JPEG background (Pillow). Resize JPEG to ≤ 2048 px on longest side. Cell size corrected via cosine-latitude scaling.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STAGE 2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User Input  |  Two-tab Tkinter GUI gathers storm parameters and prevention settings. 100% build skips this stage and uses CLI flags / defaults.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STAGE 3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DEM Modification  |  For each active measure, modify elevations on target cells: raise floodwall, lower canals, excavate retention basin, raise emergency road.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STAGE 4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Hydrological Preprocessing  |  Priority-Flood fill, D8 flow direction, flow accumulation, stream mask, slope, runoff coefficient, infiltration capacity, bank-elevation map.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05   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18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CITY,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FINAL BUILD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STAGE 5: PER-TIMESTEP 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alibri"/>
              </a:rPr>
              <a:t>The simulation loop runs num_frames = ceil(duration_h / timestep_h) iterations. At each timestep, six physics operations execute in order:</a:t>
            </a:r>
          </a:p>
          <a:p>
            <a:pPr>
              <a:spcAft>
                <a:spcPts val="600"/>
              </a:spcAft>
            </a:pPr>
            <a:endParaRPr sz="1300" b="0" i="0">
              <a:solidFill>
                <a:srgbClr val="000000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STEP 1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Rainfall intensity factor scales rate by storm pattern (uniform / progressive / burst / decreasing).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STEP 2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add_rainfall(): rain × intensity × dt × runoff_coeff × wind_map.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STEP 3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route_water(): D8 surface diffusion, 12 sub-iterations.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STEP 4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apply_river_overflow(): rises river level; BFS dilation expands flood front; floodwall blocks overflow until overtopped; canal cells receive 40% less river water.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STEP 5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apply_infiltration(): saturation grows; infiltration removes water (Green-Ampt inspired).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STEP 6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apply_drainage(): base + channel + canal drainage; shallow water decays.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05   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19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CITY,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FINAL BUILD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STAGES 6–8: BASELINE, RENDER, EXPORT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STAGE 6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Parallel Baseline Run  |  When prevention is enabled, an identical sim runs on the unmodified DEM with no measures; deltas feed the live stats panel.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STAGE 7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Animation Rendering  |  Five composited Matplotlib layers: satellite background, river channel band, rain depth, river overflow, prevention overlays.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STAGE 8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Output Export  |  GIF animation, time-series CSVs, and (via the 100% build) master_results_table.csv/.json, master_results_summary.txt, master_reduction_table.txt, plus the HAND/risk-zone artefacts.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3383280" cy="228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0" b="1" i="0">
                <a:solidFill>
                  <a:srgbClr val="FFFFFF"/>
                </a:solidFill>
                <a:latin typeface="Consola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371600"/>
            <a:ext cx="7680960" cy="1371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200" b="1" i="0">
                <a:solidFill>
                  <a:srgbClr val="000000"/>
                </a:solidFill>
                <a:latin typeface="Calibri"/>
              </a:rPr>
              <a:t>SYSTEM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278892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0" y="2926080"/>
            <a:ext cx="7680960" cy="32004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Inputs, prevention parameters, terrain arrays, and storm presets.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54864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20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06   SYSTEM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21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CITY,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FINAL BUILD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USER INPUT VARIABLES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rainfall_mm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0–600 mm     |  Total storm rainfall.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duration_h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0.5–24.0 h   |  Storm duration.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timestep_min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1–60 min     |  Simulation timestep.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wind_speed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0–200 km/h   |  Wind speed.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wind_dir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0–360°       |  Wind direction.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soil_sat_pct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0–100 %      |  Initial soil saturation.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drain_cap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0–30 mm/hr   |  Baseline drainage capacity.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pattern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uniform / progressive / burst / decreasing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start_time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HH:MM        |  Clock time at frame 0.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06   SYSTEM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22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CITY,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FINAL BUILD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PREVENTION MEASURE VARIABLES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use_floodwall / wall_height_m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Riverbank Floodwall, crest 0.5–5.0 m (default 1.5 m).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use_canal / canal_depth_m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Drainage Canal Network, depth 0.5–5.0 m (default 2.0 m).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use_basin / basin_depth_m   [75% / 100%]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Retention Basin, depth 2.0–10.0 m (default 6.0 m).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use_road / road_height_m   [75% / 100%]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Elevated Emergency Road, raise 0.5–3.0 m (default 1.5 m).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06   SYSTEM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23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CITY,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FINAL BUILD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STORM SCENARIO PRESETS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ID  NAME                                  RAINFALL   DURATION  PATTERN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--------------------------------------------------------------------------------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1  Light Rain                              15 mm       2.0 h  uniform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2  Moderate Rain                           36 mm       3.0 h  progressive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3  Heavy Rain                              90 mm       4.0 h  progressive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4  Typhoon Signal 1 (Tropical Depression) 150 mm       8.0 h  progressive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5  Typhoon Signal 2 (Tropical Storm)      250 mm      12.0 h  burst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6  Typhoon Signal 3 (Severe Typhoon)      400 mm      18.0 h  burst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7  Custom                                 user def   user def  user def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3383280" cy="228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0" b="1" i="0">
                <a:solidFill>
                  <a:srgbClr val="FFFFFF"/>
                </a:solidFill>
                <a:latin typeface="Consola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371600"/>
            <a:ext cx="7680960" cy="1371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200" b="1" i="0">
                <a:solidFill>
                  <a:srgbClr val="000000"/>
                </a:solidFill>
                <a:latin typeface="Calibri"/>
              </a:rPr>
              <a:t>ASSUMPTIONS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278892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0" y="2926080"/>
            <a:ext cx="7680960" cy="32004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Modeling simplifications, scope limitations, and what is not simulated.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54864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24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07  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25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CITY,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FINAL BUILD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MODELING ASSUMPTIONS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5.1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Single-Direction Flow — D8: each cell routes to one of 8 neighbours (steepest descent).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5.2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Static DEM — no erosion/sedimentation; prevention measures are applied once before t=0.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5.3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Uniform Initial Soil Saturation — spatially uniform; infiltration capacity uses elevation as proxy.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5.4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Simplified Green-Ampt Infiltration — scalar approximation; no explicit wetting front.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5.5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BFS River Overflow — efficient dilation; not a full shallow-water equation solver.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5.6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Instantaneous Prevention Deployment — measures are fully effective from t=0.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5.7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No Groundwater Interaction — surface hydrology only.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5.8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Wind Uniformity — constant throughout the storm.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5.9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PAGASA-Calibrated Scenarios — Mindanao / Davao classification.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5.10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Retention Basin — instantaneous fill, no inlet/spillway model.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5.11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Grid Resolution — ~30.64 m / cell; sub-grid features approximated via runoff coefficient and drainage capacity.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3383280" cy="228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0" b="1" i="0">
                <a:solidFill>
                  <a:srgbClr val="FFFFFF"/>
                </a:solidFill>
                <a:latin typeface="Consola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371600"/>
            <a:ext cx="7680960" cy="1371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200" b="1" i="0">
                <a:solidFill>
                  <a:srgbClr val="000000"/>
                </a:solidFill>
                <a:latin typeface="Calibri"/>
              </a:rPr>
              <a:t>SIMULATION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278892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0" y="2926080"/>
            <a:ext cx="7680960" cy="32004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Software requirements, inputs, run procedures, and numerical config.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54864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26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08   SIMULATION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27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CITY,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FINAL BUILD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SOFTWARE + INPUTS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Python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3.10 or higher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Virtual env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.venv (project root)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Required pkgs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numpy  scipy  matplotlib  rasterio  Pillow  ezdxf  pysheds  pandas  python-pptx  python-docx</a:t>
            </a:r>
          </a:p>
          <a:p>
            <a:pPr>
              <a:spcAft>
                <a:spcPts val="600"/>
              </a:spcAft>
            </a:pPr>
            <a:endParaRPr sz="1300" b="0" i="0">
              <a:solidFill>
                <a:srgbClr val="000000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Required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Map Topography/3D/JVS_Simulation.tif    (GeoTIFF DEM)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Required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Map Topography/2D/JVS_2D.jpg            (background)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Optional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Map Topography/2D/...2D_vectorial.dxf   (vector overlay)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Optional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Map Topography/3D/...3D_modeling.dxf    (3D reference)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08   SIMULATION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28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CITY,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FINAL BUILD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RUNNING THE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25% (GUI)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python "Main/flood_simulation_25%.py"             # baseline only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50% (GUI)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python "Main/flood_simulation_50%.py"             # + Wall + Canal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75% (GUI)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python "Main/flood_simulation_75%.py"             # + Basin + Road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100% (GUI+matrix)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python "Main/flood_simulation_100%.py"            # full system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100% headless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python "Main/flood_simulation_100%.py" --matrix-only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HAND analysis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python "Main/hand_risk_analysis.py"               # idempotent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00000"/>
                </a:solidFill>
                <a:latin typeface="Consolas"/>
              </a:rPr>
              <a:t>Reality check   </a:t>
            </a:r>
            <a:r>
              <a:rPr sz="1300" b="0" i="0">
                <a:solidFill>
                  <a:srgbClr val="000000"/>
                </a:solidFill>
                <a:latin typeface="Calibri"/>
              </a:rPr>
              <a:t>python "Main/run_validation.py"                   # vs historical events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08   SIMULATION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29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CITY,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FINAL BUILD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NUMERICAL CONFIGURATION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DEM Grid                  : 57 rows × 61 cols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Cell Size                 : 30.64 m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Total Study Area          : 326.44 ha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Elevation Range           : 2.00 m – 71.75 m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Mean Elevation            : 20.74 m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Mean Slope                : 4.3°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Stream Threshold          : Top 8% of flow accumulation (92nd pctile)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HAND Smooth Sigma         : 0.5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Curve Number              : 85  (urban mix reference)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Routing Sub-steps         : 12 D8 iterations per timestep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River Overflow BFS Hops   : 1 (light) to 4-6 (typhoon)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Matrix Timestep           : 20 min  (100% build default)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3383280" cy="228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0" b="1" i="0">
                <a:solidFill>
                  <a:srgbClr val="FFFFFF"/>
                </a:solidFill>
                <a:latin typeface="Consola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371600"/>
            <a:ext cx="7680960" cy="1371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200" b="1" i="0">
                <a:solidFill>
                  <a:srgbClr val="000000"/>
                </a:solidFill>
                <a:latin typeface="Calibri"/>
              </a:rPr>
              <a:t>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278892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0" y="2926080"/>
            <a:ext cx="7680960" cy="32004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Risk zonation, return-period analysis, and the 24-cell master dataset.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54864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30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09 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31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CITY,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FINAL BUILD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HAND RISK ZONES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12264"/>
            <a:ext cx="11094415" cy="33085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000000"/>
                </a:solidFill>
                <a:latin typeface="Calibri"/>
              </a:rPr>
              <a:t>The HAND (Height Above Nearest Drainage) model classifies every terrain cell into one of five risk zones:</a:t>
            </a:r>
          </a:p>
          <a:p>
            <a:pPr>
              <a:spcAft>
                <a:spcPts val="600"/>
              </a:spcAft>
            </a:pPr>
            <a:endParaRPr sz="2000" b="0" i="0" dirty="0">
              <a:solidFill>
                <a:srgbClr val="000000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2000" b="1" i="0" dirty="0">
                <a:solidFill>
                  <a:srgbClr val="000000"/>
                </a:solidFill>
                <a:latin typeface="Consolas"/>
              </a:rPr>
              <a:t>VERY HIGH   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26.66 ha (8.2%)   — Floods in Heavy Rain ≥ 90 mm. Mandatory evacuation during typhoons.</a:t>
            </a:r>
          </a:p>
          <a:p>
            <a:pPr>
              <a:spcAft>
                <a:spcPts val="600"/>
              </a:spcAft>
            </a:pPr>
            <a:r>
              <a:rPr sz="2000" b="1" i="0" dirty="0">
                <a:solidFill>
                  <a:srgbClr val="000000"/>
                </a:solidFill>
                <a:latin typeface="Consolas"/>
              </a:rPr>
              <a:t>HIGH   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31.83 ha (9.7%)   — Floods in Typhoon Signal 1 ≥ 150 mm. Pre-evacuation alert.</a:t>
            </a:r>
          </a:p>
          <a:p>
            <a:pPr>
              <a:spcAft>
                <a:spcPts val="600"/>
              </a:spcAft>
            </a:pPr>
            <a:r>
              <a:rPr sz="2000" b="1" i="0" dirty="0">
                <a:solidFill>
                  <a:srgbClr val="000000"/>
                </a:solidFill>
                <a:latin typeface="Consolas"/>
              </a:rPr>
              <a:t>MEDIUM   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32.30 ha (9.9%)   — Floods in Typhoon Signal 2 ≥ 250 mm. Monitor advisories.</a:t>
            </a:r>
          </a:p>
          <a:p>
            <a:pPr>
              <a:spcAft>
                <a:spcPts val="600"/>
              </a:spcAft>
            </a:pPr>
            <a:r>
              <a:rPr sz="2000" b="1" i="0" dirty="0">
                <a:solidFill>
                  <a:srgbClr val="000000"/>
                </a:solidFill>
                <a:latin typeface="Consolas"/>
              </a:rPr>
              <a:t>LOW   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35.86 ha (11.0%)  — Floods only in extreme events (Sig 3 / ≥ 400 mm). Standby.</a:t>
            </a:r>
          </a:p>
          <a:p>
            <a:pPr>
              <a:spcAft>
                <a:spcPts val="600"/>
              </a:spcAft>
            </a:pPr>
            <a:r>
              <a:rPr sz="2000" b="1" i="0" dirty="0">
                <a:solidFill>
                  <a:srgbClr val="000000"/>
                </a:solidFill>
                <a:latin typeface="Consolas"/>
              </a:rPr>
              <a:t>SAFE   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174.81 ha (53.6%) — Above 100-yr flood level. Suitable as evacuation destination.</a:t>
            </a:r>
          </a:p>
          <a:p>
            <a:pPr>
              <a:spcAft>
                <a:spcPts val="600"/>
              </a:spcAft>
            </a:pPr>
            <a:endParaRPr sz="2000" b="0" i="0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09 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32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CITY,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FINAL BUILD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RETURN PERIOD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44473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 dirty="0">
                <a:solidFill>
                  <a:srgbClr val="000000"/>
                </a:solidFill>
                <a:latin typeface="Consolas"/>
              </a:rPr>
              <a:t>5-YEAR   </a:t>
            </a:r>
            <a:r>
              <a:rPr sz="2400" b="0" i="0" dirty="0">
                <a:solidFill>
                  <a:srgbClr val="000000"/>
                </a:solidFill>
                <a:latin typeface="Calibri"/>
              </a:rPr>
              <a:t>HAND threshold 1.0 m  —  51.64 ha (15.8%) flooded  —  mean depth 0.73 m.</a:t>
            </a:r>
          </a:p>
          <a:p>
            <a:pPr>
              <a:spcAft>
                <a:spcPts val="600"/>
              </a:spcAft>
            </a:pPr>
            <a:r>
              <a:rPr sz="2400" b="1" i="0" dirty="0">
                <a:solidFill>
                  <a:srgbClr val="000000"/>
                </a:solidFill>
                <a:latin typeface="Consolas"/>
              </a:rPr>
              <a:t>10-YEAR   </a:t>
            </a:r>
            <a:r>
              <a:rPr sz="2400" b="0" i="0" dirty="0">
                <a:solidFill>
                  <a:srgbClr val="000000"/>
                </a:solidFill>
                <a:latin typeface="Calibri"/>
              </a:rPr>
              <a:t>HAND threshold 2.0 m  —  70.04 ha (21.5%) flooded  —  mean depth 1.41 m.</a:t>
            </a:r>
          </a:p>
          <a:p>
            <a:pPr>
              <a:spcAft>
                <a:spcPts val="600"/>
              </a:spcAft>
            </a:pPr>
            <a:r>
              <a:rPr sz="2400" b="1" i="0" dirty="0">
                <a:solidFill>
                  <a:srgbClr val="000000"/>
                </a:solidFill>
                <a:latin typeface="Consolas"/>
              </a:rPr>
              <a:t>25-YEAR   </a:t>
            </a:r>
            <a:r>
              <a:rPr sz="2400" b="0" i="0" dirty="0">
                <a:solidFill>
                  <a:srgbClr val="000000"/>
                </a:solidFill>
                <a:latin typeface="Calibri"/>
              </a:rPr>
              <a:t>HAND threshold 3.5 m  —  90.03 ha (27.6%) flooded  —  mean depth 2.43 m.</a:t>
            </a:r>
          </a:p>
          <a:p>
            <a:pPr>
              <a:spcAft>
                <a:spcPts val="600"/>
              </a:spcAft>
            </a:pPr>
            <a:r>
              <a:rPr sz="2400" b="1" i="0" dirty="0">
                <a:solidFill>
                  <a:srgbClr val="000000"/>
                </a:solidFill>
                <a:latin typeface="Consolas"/>
              </a:rPr>
              <a:t>100-YEAR   </a:t>
            </a:r>
            <a:r>
              <a:rPr sz="2400" b="0" i="0" dirty="0">
                <a:solidFill>
                  <a:srgbClr val="000000"/>
                </a:solidFill>
                <a:latin typeface="Calibri"/>
              </a:rPr>
              <a:t>HAND threshold 6.0 m  —  115.76 ha (35.5%) flooded  —  mean depth 4.12 m.</a:t>
            </a:r>
          </a:p>
          <a:p>
            <a:pPr>
              <a:spcAft>
                <a:spcPts val="600"/>
              </a:spcAft>
            </a:pPr>
            <a:endParaRPr sz="2400" b="0" i="0" dirty="0">
              <a:solidFill>
                <a:srgbClr val="000000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2400" b="0" i="0" dirty="0">
                <a:solidFill>
                  <a:srgbClr val="000000"/>
                </a:solidFill>
                <a:latin typeface="Calibri"/>
              </a:rPr>
              <a:t>These results underline the severity of the 100-year design event (35.5% of the subdivision inundated) and the rationale for the layered prevention strategy evaluated by the simulation matrix.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09 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33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66725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 dirty="0">
                <a:solidFill>
                  <a:srgbClr val="000000"/>
                </a:solidFill>
                <a:latin typeface="Calibri"/>
              </a:rPr>
              <a:t>MASTER RESULTS: ALL 24 RUNS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39" y="897255"/>
            <a:ext cx="3975735" cy="457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490942"/>
              </p:ext>
            </p:extLst>
          </p:nvPr>
        </p:nvGraphicFramePr>
        <p:xfrm>
          <a:off x="2448306" y="1015365"/>
          <a:ext cx="7410068" cy="53369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9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1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3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78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10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30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6307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onsolas"/>
                        </a:rPr>
                        <a:t>Scenario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onsolas"/>
                        </a:rPr>
                        <a:t>Config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onsolas"/>
                        </a:rPr>
                        <a:t>Peak %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onsolas"/>
                        </a:rPr>
                        <a:t>Peak ha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onsolas"/>
                        </a:rPr>
                        <a:t>Max Depth mm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onsolas"/>
                        </a:rPr>
                        <a:t>River %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onsolas"/>
                        </a:rPr>
                        <a:t>Onset min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Light 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Light Rain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Wall+Canal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0.0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0.0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0.0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 dirty="0">
                          <a:solidFill>
                            <a:srgbClr val="000000"/>
                          </a:solidFill>
                          <a:latin typeface="Consolas"/>
                        </a:rPr>
                        <a:t>Light 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Full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Light Rain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dirty="0">
                          <a:solidFill>
                            <a:srgbClr val="000000"/>
                          </a:solidFill>
                          <a:latin typeface="Consolas"/>
                        </a:rPr>
                        <a:t>Large Prevention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0.0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0.0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0.0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Moderate 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21.43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69.94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21.17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Moderate Rain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Wall+Canal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16.36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53.42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217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16.19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160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Moderate 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Full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14.15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46.19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13.98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Moderate Rain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Large Prevention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12.65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41.31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217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12.74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160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Heavy 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39.09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127.58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34.83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Heavy Rain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Wall+Canal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33.68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109.93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1431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28.65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120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Heavy 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Full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30.89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100.83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25.11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Heavy Rain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Large Prevention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dirty="0">
                          <a:solidFill>
                            <a:srgbClr val="000000"/>
                          </a:solidFill>
                          <a:latin typeface="Consolas"/>
                        </a:rPr>
                        <a:t>28.73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93.79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1438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23.76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120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Sig 1 (TD)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44.92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146.64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39.83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Sig 1 (TD)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Wall+Canal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42.45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138.57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3241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36.09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160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Sig 1 (TD)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Full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39.98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130.49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Sig 1 (TD)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Large Prevention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37.91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123.74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3243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31.35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160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Sig 2 (TS)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49.7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162.23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46.33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Sig 2 (TS)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Wall+Canal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47.08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153.68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3666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42.62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180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Sig 2 (TS)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Full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44.2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144.3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38.22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Sig 2 (TS)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Large Prevention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42.19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137.72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dirty="0">
                          <a:solidFill>
                            <a:srgbClr val="000000"/>
                          </a:solidFill>
                          <a:latin typeface="Consolas"/>
                        </a:rPr>
                        <a:t>3680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36.99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180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Sig 3 (Severe)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56.46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184.29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3565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50.47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Sig 3 (Severe)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Wall+Canal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53.98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176.21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3859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46.88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200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Sig 3 (Severe)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Full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50.3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164.2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3953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42.34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96028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Sig 3 (Severe)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Large Prevention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49.12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160.35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3878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Consolas"/>
                        </a:rPr>
                        <a:t>41.04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dirty="0">
                          <a:solidFill>
                            <a:srgbClr val="000000"/>
                          </a:solidFill>
                          <a:latin typeface="Consolas"/>
                        </a:rPr>
                        <a:t>200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09 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35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REDUCTION VS BASELINE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3236976" cy="4571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024884"/>
              </p:ext>
            </p:extLst>
          </p:nvPr>
        </p:nvGraphicFramePr>
        <p:xfrm>
          <a:off x="548639" y="1325880"/>
          <a:ext cx="11094416" cy="4974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8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9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9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92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815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onsolas"/>
                        </a:rPr>
                        <a:t>Scenario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onsolas"/>
                        </a:rPr>
                        <a:t>Config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onsolas"/>
                        </a:rPr>
                        <a:t>Δ Flooded %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onsolas"/>
                        </a:rPr>
                        <a:t>Δ Flooded ha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onsolas"/>
                        </a:rPr>
                        <a:t>Δ Depth mm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onsolas"/>
                        </a:rPr>
                        <a:t>Reduction %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45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Light 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Wall+Canal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45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Light Rain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Full Prevention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+0.00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+0.00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+0.0%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45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Light 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Large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45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Moderate Rain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Wall+Canal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-5.07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-16.52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-23.7%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45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Moderate 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Full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-7.28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-23.75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-34.0%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45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Moderate Rain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Large Prevention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-8.78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-28.63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-41.0%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45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Heavy 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Wall+Canal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-5.41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-17.65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-13.8%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45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Heavy Rain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Full Prevention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-8.20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-26.75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+127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-21.0%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45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Heavy 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Large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-10.36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-33.79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-26.5%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45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Sig 1 (TD)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Wall+Canal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-2.47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-8.07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+239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-5.5%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45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Sig 1 (TD)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Full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-4.94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-16.15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-11.0%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45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Sig 1 (TD)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Large Prevention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-7.01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-22.90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+242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-15.6%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45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Sig 2 (TS)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Wall+Canal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 dirty="0">
                          <a:solidFill>
                            <a:srgbClr val="000000"/>
                          </a:solidFill>
                          <a:latin typeface="Consolas"/>
                        </a:rPr>
                        <a:t>-2.62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-8.55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45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Sig 2 (TS)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Full Prevention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-5.50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-17.93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+423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-11.1%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145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Sig 2 (TS)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Large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-7.51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-24.51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-15.1%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145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Sig 3 (Severe)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 dirty="0" err="1">
                          <a:solidFill>
                            <a:srgbClr val="000000"/>
                          </a:solidFill>
                          <a:latin typeface="Consolas"/>
                        </a:rPr>
                        <a:t>Wall+Canal</a:t>
                      </a:r>
                      <a:endParaRPr sz="850" b="0" i="0" dirty="0">
                        <a:solidFill>
                          <a:srgbClr val="000000"/>
                        </a:solidFill>
                        <a:latin typeface="Consolas"/>
                      </a:endParaRP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-2.48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-8.08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+294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-4.4%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145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Sig 3 (Severe)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Full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-6.16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-20.09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-10.9%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1454"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Sig 3 (Severe)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Large Prevention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-7.34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-23.94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000000"/>
                          </a:solidFill>
                          <a:latin typeface="Consolas"/>
                        </a:rPr>
                        <a:t>+313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 dirty="0">
                          <a:solidFill>
                            <a:srgbClr val="000000"/>
                          </a:solidFill>
                          <a:latin typeface="Consolas"/>
                        </a:rPr>
                        <a:t>-13.0%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3383280" cy="228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0" b="1" i="0">
                <a:solidFill>
                  <a:srgbClr val="FFFFFF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91840"/>
            <a:ext cx="338328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371600"/>
            <a:ext cx="7680960" cy="1371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4200" b="1" i="0">
                <a:solidFill>
                  <a:srgbClr val="000000"/>
                </a:solidFill>
                <a:latin typeface="Calibr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278892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0" y="2926080"/>
            <a:ext cx="7680960" cy="32004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Findings, observed effectiveness of prevention measures, and outlook.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54864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10 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37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CITY,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FINAL BUILD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FINDINGS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4078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000000"/>
                </a:solidFill>
                <a:latin typeface="Calibri"/>
              </a:rPr>
              <a:t>The 100% master simulation matrix demonstrates a consistent, monotonic improvement as additional prevention measures are layered:</a:t>
            </a:r>
          </a:p>
          <a:p>
            <a:pPr>
              <a:spcAft>
                <a:spcPts val="600"/>
              </a:spcAft>
            </a:pPr>
            <a:endParaRPr sz="2000" b="0" i="0" dirty="0">
              <a:solidFill>
                <a:srgbClr val="000000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2000" b="1" i="0" dirty="0">
                <a:solidFill>
                  <a:srgbClr val="000000"/>
                </a:solidFill>
                <a:latin typeface="Consolas"/>
              </a:rPr>
              <a:t>OBSERVATION 1   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Light Rain (15 mm / 2 h) produces no measurable flooding under any configuration — the subdivision can absorb light convective events without intervention.</a:t>
            </a:r>
          </a:p>
          <a:p>
            <a:pPr>
              <a:spcAft>
                <a:spcPts val="600"/>
              </a:spcAft>
            </a:pPr>
            <a:r>
              <a:rPr sz="2000" b="1" i="0" dirty="0">
                <a:solidFill>
                  <a:srgbClr val="000000"/>
                </a:solidFill>
                <a:latin typeface="Consolas"/>
              </a:rPr>
              <a:t>OBSERVATION 2   </a:t>
            </a:r>
            <a:r>
              <a:rPr sz="2000" b="0" i="0" dirty="0" err="1">
                <a:solidFill>
                  <a:srgbClr val="000000"/>
                </a:solidFill>
                <a:latin typeface="Calibri"/>
              </a:rPr>
              <a:t>Wall+Canal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alone reduces peak flooded area by 5–24% across the moderate-to-heavy band. The retention basin and elevated road extend the reduction to 11–41% (full prevention) and 13–41% (large-scale prevention) — the basin contributes the largest single reduction at moderate intensities.</a:t>
            </a:r>
          </a:p>
          <a:p>
            <a:pPr>
              <a:spcAft>
                <a:spcPts val="600"/>
              </a:spcAft>
            </a:pPr>
            <a:r>
              <a:rPr sz="2000" b="1" i="0" dirty="0">
                <a:solidFill>
                  <a:srgbClr val="000000"/>
                </a:solidFill>
                <a:latin typeface="Consolas"/>
              </a:rPr>
              <a:t>OBSERVATION 3   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Peak depth can rise slightly with prevention: water concentrates in the basin sink while spread shrinks. The relevant decision metric is therefore extent (% / ha), not depth alone.</a:t>
            </a:r>
          </a:p>
          <a:p>
            <a:pPr>
              <a:spcAft>
                <a:spcPts val="600"/>
              </a:spcAft>
            </a:pPr>
            <a:r>
              <a:rPr sz="2000" b="1" i="0" dirty="0">
                <a:solidFill>
                  <a:srgbClr val="000000"/>
                </a:solidFill>
                <a:latin typeface="Consolas"/>
              </a:rPr>
              <a:t>OBSERVATION 4   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Onset time is unchanged by prevention measures — they reduce extent, not timing. Early-warning systems remain essential.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10 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"/>
            <a:ext cx="1828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onsolas"/>
              </a:rPr>
              <a:t>38 /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46520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94360"/>
            <a:ext cx="11094415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Calibri"/>
              </a:rPr>
              <a:t>CLOSING 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828800" cy="285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1094415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000000"/>
                </a:solidFill>
                <a:latin typeface="Calibri"/>
              </a:rPr>
              <a:t>The Jade Valley Flood Simulation system successfully models the hydrological </a:t>
            </a:r>
            <a:r>
              <a:rPr sz="2000" b="0" i="0" dirty="0" err="1">
                <a:solidFill>
                  <a:srgbClr val="000000"/>
                </a:solidFill>
                <a:latin typeface="Calibri"/>
              </a:rPr>
              <a:t>behaviour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of a real-world Philippine subdivision under the full spectrum of PAGASA-classified storm conditions.</a:t>
            </a:r>
          </a:p>
          <a:p>
            <a:pPr>
              <a:spcAft>
                <a:spcPts val="600"/>
              </a:spcAft>
            </a:pPr>
            <a:endParaRPr sz="2000" b="0" i="0" dirty="0">
              <a:solidFill>
                <a:srgbClr val="000000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000000"/>
                </a:solidFill>
                <a:latin typeface="Calibri"/>
              </a:rPr>
              <a:t>By combining D8 terrain-based flow routing, scenario-adaptive river overflow via BFS dilation, and Green-</a:t>
            </a:r>
            <a:r>
              <a:rPr sz="2000" b="0" i="0" dirty="0" err="1">
                <a:solidFill>
                  <a:srgbClr val="000000"/>
                </a:solidFill>
                <a:latin typeface="Calibri"/>
              </a:rPr>
              <a:t>Ampt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-inspired infiltration, the model captures the essential dynamics of urban flooding at a computationally accessible scale.</a:t>
            </a:r>
          </a:p>
          <a:p>
            <a:pPr>
              <a:spcAft>
                <a:spcPts val="600"/>
              </a:spcAft>
            </a:pPr>
            <a:endParaRPr sz="2000" b="0" i="0" dirty="0">
              <a:solidFill>
                <a:srgbClr val="000000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000000"/>
                </a:solidFill>
                <a:latin typeface="Calibri"/>
              </a:rPr>
              <a:t>The three-build hierarchy plus the 100% master orchestrator provides quantitative, frame-by-frame comparison of flood extent with and without each prevention measure. The master CSV/JSON exports support direct use in infrastructure planning, community disaster preparedness, and policy recommendations for flood-vulnerable residential areas such as Jade Valley.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1064240" cy="10972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END OF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0" y="3246120"/>
            <a:ext cx="1920240" cy="28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64240" cy="31335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lang="en-US">
                <a:solidFill>
                  <a:srgbClr val="CCCCCC"/>
                </a:solidFill>
                <a:latin typeface="Consolas"/>
              </a:rPr>
              <a:t>Flood Risk Si</a:t>
            </a:r>
            <a:endParaRPr sz="1800" b="0" i="0" dirty="0">
              <a:solidFill>
                <a:srgbClr val="CCCCCC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Davao City, Philippines  |  Final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onsolas"/>
              </a:rPr>
              <a:t>See  Documents/USER_GUIDE.md  and  Documents/User_Guide.docx  for installation and usage instructions.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  <a:latin typeface="Consolas"/>
              </a:rPr>
              <a:t>JADE VALLEY FLOOD SIMULATION   |   DAVAO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92240"/>
            <a:ext cx="2468880" cy="2743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 b="1" i="0">
                <a:solidFill>
                  <a:srgbClr val="666666"/>
                </a:solidFill>
                <a:latin typeface="Consolas"/>
              </a:rPr>
              <a:t>39 /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4096</Words>
  <Application>Microsoft Office PowerPoint</Application>
  <PresentationFormat>Widescreen</PresentationFormat>
  <Paragraphs>659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Justine Keith Polinar</cp:lastModifiedBy>
  <cp:revision>1</cp:revision>
  <dcterms:created xsi:type="dcterms:W3CDTF">2013-01-27T09:14:16Z</dcterms:created>
  <dcterms:modified xsi:type="dcterms:W3CDTF">2026-05-20T05:50:51Z</dcterms:modified>
  <cp:category/>
</cp:coreProperties>
</file>