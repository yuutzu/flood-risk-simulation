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10896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400800"/>
            <a:ext cx="12191695" cy="45720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365760"/>
            <a:ext cx="73152" cy="23774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502920"/>
            <a:ext cx="10515600" cy="36576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onsolas"/>
              </a:rPr>
              <a:t>FINAL PROJECT  |  SIMULATION SYSTEM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914400"/>
            <a:ext cx="10515600" cy="109728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6600" b="1" i="0">
                <a:solidFill>
                  <a:srgbClr val="FFFFFF"/>
                </a:solidFill>
                <a:latin typeface="Calibri"/>
              </a:rPr>
              <a:t>JADE VALLEY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1783080"/>
            <a:ext cx="10515600" cy="9144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4400" b="1" i="0">
                <a:solidFill>
                  <a:srgbClr val="FFFFFF"/>
                </a:solidFill>
                <a:latin typeface="Calibri"/>
              </a:rPr>
              <a:t>FLOOD SIMULATION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514600"/>
            <a:ext cx="10515600" cy="36576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onsolas"/>
              </a:rPr>
              <a:t>DAVAO CITY, PHILIPPINES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3383280"/>
            <a:ext cx="10515600" cy="4572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800" b="1" i="0">
                <a:solidFill>
                  <a:srgbClr val="000000"/>
                </a:solidFill>
                <a:latin typeface="Calibri"/>
              </a:rPr>
              <a:t>A TERRAIN-AWARE HYDROLOGICAL SIMULATION SYSTEM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794760"/>
            <a:ext cx="10515600" cy="4572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200" b="1" i="0">
                <a:solidFill>
                  <a:srgbClr val="333333"/>
                </a:solidFill>
                <a:latin typeface="Consolas"/>
              </a:rPr>
              <a:t>D8 FLOW ROUTING  |  GREEN-AMPT INFILTRATION  |  BFS RIVER OVERFLOW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4434840"/>
            <a:ext cx="11064240" cy="36576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" y="6263640"/>
            <a:ext cx="11064240" cy="36576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4526280"/>
            <a:ext cx="2286000" cy="2743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000" b="1" i="0">
                <a:solidFill>
                  <a:srgbClr val="000000"/>
                </a:solidFill>
                <a:latin typeface="Consolas"/>
              </a:rPr>
              <a:t>BUILDS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063240" y="4526280"/>
            <a:ext cx="8229600" cy="2743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100" b="0" i="0">
                <a:solidFill>
                  <a:srgbClr val="000000"/>
                </a:solidFill>
                <a:latin typeface="Calibri"/>
              </a:rPr>
              <a:t>25%  |  50%  |  75%  |  100% (master)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800600"/>
            <a:ext cx="2286000" cy="2743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000" b="1" i="0">
                <a:solidFill>
                  <a:srgbClr val="000000"/>
                </a:solidFill>
                <a:latin typeface="Consolas"/>
              </a:rPr>
              <a:t>SCENARIOS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063240" y="4800600"/>
            <a:ext cx="8229600" cy="2743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100" b="0" i="0">
                <a:solidFill>
                  <a:srgbClr val="000000"/>
                </a:solidFill>
                <a:latin typeface="Calibri"/>
              </a:rPr>
              <a:t>6 PAGASA-calibrated storm scenarios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5074920"/>
            <a:ext cx="2286000" cy="2743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000" b="1" i="0">
                <a:solidFill>
                  <a:srgbClr val="000000"/>
                </a:solidFill>
                <a:latin typeface="Consolas"/>
              </a:rPr>
              <a:t>CONFIGS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063240" y="5074920"/>
            <a:ext cx="8229600" cy="2743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100" b="0" i="0">
                <a:solidFill>
                  <a:srgbClr val="000000"/>
                </a:solidFill>
                <a:latin typeface="Calibri"/>
              </a:rPr>
              <a:t>4 prevention configurations (baseline + 3 mitigation levels)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5349240"/>
            <a:ext cx="2286000" cy="2743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000" b="1" i="0">
                <a:solidFill>
                  <a:srgbClr val="000000"/>
                </a:solidFill>
                <a:latin typeface="Consolas"/>
              </a:rPr>
              <a:t>MATRIX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063240" y="5349240"/>
            <a:ext cx="8229600" cy="2743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100" b="0" i="0">
                <a:solidFill>
                  <a:srgbClr val="000000"/>
                </a:solidFill>
                <a:latin typeface="Calibri"/>
              </a:rPr>
              <a:t>24 simulation runs in the master dataset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" y="5623560"/>
            <a:ext cx="2286000" cy="2743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000" b="1" i="0">
                <a:solidFill>
                  <a:srgbClr val="000000"/>
                </a:solidFill>
                <a:latin typeface="Consolas"/>
              </a:rPr>
              <a:t>STUDY AREA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063240" y="5623560"/>
            <a:ext cx="8229600" cy="2743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100" b="0" i="0">
                <a:solidFill>
                  <a:srgbClr val="000000"/>
                </a:solidFill>
                <a:latin typeface="Calibri"/>
              </a:rPr>
              <a:t>326.44 ha  |  57 x 61 grid  |  ~30.6 m / cell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7240" y="5897880"/>
            <a:ext cx="2286000" cy="2743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000" b="1" i="0">
                <a:solidFill>
                  <a:srgbClr val="000000"/>
                </a:solidFill>
                <a:latin typeface="Consolas"/>
              </a:rPr>
              <a:t>DATE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063240" y="5897880"/>
            <a:ext cx="8229600" cy="2743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100" b="0" i="0">
                <a:solidFill>
                  <a:srgbClr val="000000"/>
                </a:solidFill>
                <a:latin typeface="Calibri"/>
              </a:rPr>
              <a:t>May 2026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  <a:latin typeface="Consolas"/>
              </a:rPr>
              <a:t>DOCUMENTATION + RESULTS  |  COMPILED FROM SIMULATION SYSTEM OUTPUTS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44000" y="6492240"/>
            <a:ext cx="2468880" cy="2743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/>
            <a:r>
              <a:rPr sz="800" b="1" i="0">
                <a:solidFill>
                  <a:srgbClr val="FFFFFF"/>
                </a:solidFill>
                <a:latin typeface="Consolas"/>
              </a:rPr>
              <a:t>01 / 39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45720"/>
            <a:ext cx="7315200" cy="36576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00   CONTENTS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0" y="45720"/>
            <a:ext cx="1828800" cy="36576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/>
            <a:r>
              <a:rPr sz="1100" b="1" i="0">
                <a:solidFill>
                  <a:srgbClr val="FFFFFF"/>
                </a:solidFill>
                <a:latin typeface="Consolas"/>
              </a:rPr>
              <a:t>2 / 39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6446520"/>
            <a:ext cx="11094415" cy="9525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800" b="1" i="0">
                <a:solidFill>
                  <a:srgbClr val="666666"/>
                </a:solidFill>
                <a:latin typeface="Consolas"/>
              </a:rPr>
              <a:t>JADE VALLEY FLOOD SIMULATION   |   DAVAO CITY, PHILIPPINES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0" y="6492240"/>
            <a:ext cx="2468880" cy="2743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/>
            <a:r>
              <a:rPr sz="800" b="1" i="0">
                <a:solidFill>
                  <a:srgbClr val="666666"/>
                </a:solidFill>
                <a:latin typeface="Consolas"/>
              </a:rPr>
              <a:t>FINAL BUILD 100%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594360"/>
            <a:ext cx="11094415" cy="54864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2400" b="1" i="0">
                <a:solidFill>
                  <a:srgbClr val="000000"/>
                </a:solidFill>
                <a:latin typeface="Calibri"/>
              </a:rPr>
              <a:t>TABLE OF CONTENTS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1097280"/>
            <a:ext cx="1828800" cy="28575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463040"/>
            <a:ext cx="640080" cy="384048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800" b="1" i="0">
                <a:solidFill>
                  <a:srgbClr val="000000"/>
                </a:solidFill>
                <a:latin typeface="Consolas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25880" y="1463040"/>
            <a:ext cx="4526280" cy="384048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400" b="0" i="0">
                <a:solidFill>
                  <a:srgbClr val="000000"/>
                </a:solidFill>
                <a:latin typeface="Calibri"/>
              </a:rPr>
              <a:t>Introduction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1828800"/>
            <a:ext cx="5212080" cy="9525"/>
          </a:xfrm>
          <a:prstGeom prst="rect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1892808"/>
            <a:ext cx="640080" cy="384048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800" b="1" i="0">
                <a:solidFill>
                  <a:srgbClr val="000000"/>
                </a:solidFill>
                <a:latin typeface="Consolas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25880" y="1892808"/>
            <a:ext cx="4526280" cy="384048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400" b="0" i="0">
                <a:solidFill>
                  <a:srgbClr val="000000"/>
                </a:solidFill>
                <a:latin typeface="Calibri"/>
              </a:rPr>
              <a:t>Problem Definition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2258568"/>
            <a:ext cx="5212080" cy="9525"/>
          </a:xfrm>
          <a:prstGeom prst="rect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8640" y="2322576"/>
            <a:ext cx="640080" cy="384048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800" b="1" i="0">
                <a:solidFill>
                  <a:srgbClr val="000000"/>
                </a:solidFill>
                <a:latin typeface="Consolas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25880" y="2322576"/>
            <a:ext cx="4526280" cy="384048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400" b="0" i="0">
                <a:solidFill>
                  <a:srgbClr val="000000"/>
                </a:solidFill>
                <a:latin typeface="Calibri"/>
              </a:rPr>
              <a:t>Objectives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2688336"/>
            <a:ext cx="5212080" cy="9525"/>
          </a:xfrm>
          <a:prstGeom prst="rect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8640" y="2752344"/>
            <a:ext cx="640080" cy="384048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800" b="1" i="0">
                <a:solidFill>
                  <a:srgbClr val="000000"/>
                </a:solidFill>
                <a:latin typeface="Consolas"/>
              </a:rPr>
              <a:t>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25880" y="2752344"/>
            <a:ext cx="4526280" cy="384048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400" b="0" i="0">
                <a:solidFill>
                  <a:srgbClr val="000000"/>
                </a:solidFill>
                <a:latin typeface="Calibri"/>
              </a:rPr>
              <a:t>System Description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8640" y="3118104"/>
            <a:ext cx="5212080" cy="9525"/>
          </a:xfrm>
          <a:prstGeom prst="rect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48640" y="3182112"/>
            <a:ext cx="640080" cy="384048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800" b="1" i="0">
                <a:solidFill>
                  <a:srgbClr val="000000"/>
                </a:solidFill>
                <a:latin typeface="Consolas"/>
              </a:rPr>
              <a:t>05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25880" y="3182112"/>
            <a:ext cx="4526280" cy="384048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400" b="0" i="0">
                <a:solidFill>
                  <a:srgbClr val="000000"/>
                </a:solidFill>
                <a:latin typeface="Calibri"/>
              </a:rPr>
              <a:t>System Flow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48640" y="3547872"/>
            <a:ext cx="5212080" cy="9525"/>
          </a:xfrm>
          <a:prstGeom prst="rect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00800" y="1463040"/>
            <a:ext cx="640080" cy="384048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800" b="1" i="0">
                <a:solidFill>
                  <a:srgbClr val="000000"/>
                </a:solidFill>
                <a:latin typeface="Consolas"/>
              </a:rPr>
              <a:t>06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78040" y="1463040"/>
            <a:ext cx="4526280" cy="384048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400" b="0" i="0">
                <a:solidFill>
                  <a:srgbClr val="000000"/>
                </a:solidFill>
                <a:latin typeface="Calibri"/>
              </a:rPr>
              <a:t>System Variables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400800" y="1828800"/>
            <a:ext cx="5212080" cy="9525"/>
          </a:xfrm>
          <a:prstGeom prst="rect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00800" y="1892808"/>
            <a:ext cx="640080" cy="384048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800" b="1" i="0">
                <a:solidFill>
                  <a:srgbClr val="000000"/>
                </a:solidFill>
                <a:latin typeface="Consolas"/>
              </a:rPr>
              <a:t>07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178040" y="1892808"/>
            <a:ext cx="4526280" cy="384048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400" b="0" i="0">
                <a:solidFill>
                  <a:srgbClr val="000000"/>
                </a:solidFill>
                <a:latin typeface="Calibri"/>
              </a:rPr>
              <a:t>Assumptions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400800" y="2258568"/>
            <a:ext cx="5212080" cy="9525"/>
          </a:xfrm>
          <a:prstGeom prst="rect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00800" y="2322576"/>
            <a:ext cx="640080" cy="384048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800" b="1" i="0">
                <a:solidFill>
                  <a:srgbClr val="000000"/>
                </a:solidFill>
                <a:latin typeface="Consolas"/>
              </a:rPr>
              <a:t>08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178040" y="2322576"/>
            <a:ext cx="4526280" cy="384048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400" b="0" i="0">
                <a:solidFill>
                  <a:srgbClr val="000000"/>
                </a:solidFill>
                <a:latin typeface="Calibri"/>
              </a:rPr>
              <a:t>Simulation Setup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400800" y="2688336"/>
            <a:ext cx="5212080" cy="9525"/>
          </a:xfrm>
          <a:prstGeom prst="rect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400800" y="2752344"/>
            <a:ext cx="640080" cy="384048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800" b="1" i="0">
                <a:solidFill>
                  <a:srgbClr val="000000"/>
                </a:solidFill>
                <a:latin typeface="Consolas"/>
              </a:rPr>
              <a:t>09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178040" y="2752344"/>
            <a:ext cx="4526280" cy="384048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400" b="0" i="0">
                <a:solidFill>
                  <a:srgbClr val="000000"/>
                </a:solidFill>
                <a:latin typeface="Calibri"/>
              </a:rPr>
              <a:t>Results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400800" y="3118104"/>
            <a:ext cx="5212080" cy="9525"/>
          </a:xfrm>
          <a:prstGeom prst="rect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400800" y="3182112"/>
            <a:ext cx="640080" cy="384048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800" b="1" i="0">
                <a:solidFill>
                  <a:srgbClr val="000000"/>
                </a:solidFill>
                <a:latin typeface="Consolas"/>
              </a:rPr>
              <a:t>10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178040" y="3182112"/>
            <a:ext cx="4526280" cy="384048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400" b="0" i="0">
                <a:solidFill>
                  <a:srgbClr val="000000"/>
                </a:solidFill>
                <a:latin typeface="Calibri"/>
              </a:rPr>
              <a:t>Conclusion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400800" y="3547872"/>
            <a:ext cx="5212080" cy="9525"/>
          </a:xfrm>
          <a:prstGeom prst="rect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931920" cy="685800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914400"/>
            <a:ext cx="3383280" cy="228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4000" b="1" i="0">
                <a:solidFill>
                  <a:srgbClr val="FFFFFF"/>
                </a:solidFill>
                <a:latin typeface="Consolas"/>
              </a:rP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3291840"/>
            <a:ext cx="3383280" cy="4572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onsolas"/>
              </a:rPr>
              <a:t>SECTION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297680" y="1371600"/>
            <a:ext cx="7680960" cy="13716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4200" b="1" i="0">
                <a:solidFill>
                  <a:srgbClr val="000000"/>
                </a:solidFill>
                <a:latin typeface="Calibri"/>
              </a:rPr>
              <a:t>INTRODUCTION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4297680" y="2788920"/>
            <a:ext cx="1828800" cy="28575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297680" y="2926080"/>
            <a:ext cx="7680960" cy="32004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400" b="0" i="0">
                <a:solidFill>
                  <a:srgbClr val="333333"/>
                </a:solidFill>
                <a:latin typeface="Calibri"/>
              </a:rPr>
              <a:t>Project context, geographic setting, and an overview of the three progressive simulation builds plus the 100% master orchestrator.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92240"/>
            <a:ext cx="5486400" cy="2743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800" b="1" i="0">
                <a:solidFill>
                  <a:srgbClr val="666666"/>
                </a:solidFill>
                <a:latin typeface="Consolas"/>
              </a:rPr>
              <a:t>JADE VALLEY FLOOD SIMULATION   |   DAVAO CITY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0" y="6492240"/>
            <a:ext cx="2468880" cy="2743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/>
            <a:r>
              <a:rPr sz="800" b="1" i="0">
                <a:solidFill>
                  <a:srgbClr val="666666"/>
                </a:solidFill>
                <a:latin typeface="Consolas"/>
              </a:rPr>
              <a:t>3 / 39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45720"/>
            <a:ext cx="7315200" cy="36576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01   INTRODUCTION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0" y="45720"/>
            <a:ext cx="1828800" cy="36576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/>
            <a:r>
              <a:rPr sz="1100" b="1" i="0">
                <a:solidFill>
                  <a:srgbClr val="FFFFFF"/>
                </a:solidFill>
                <a:latin typeface="Consolas"/>
              </a:rPr>
              <a:t>4 / 39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6446520"/>
            <a:ext cx="11094415" cy="9525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800" b="1" i="0">
                <a:solidFill>
                  <a:srgbClr val="666666"/>
                </a:solidFill>
                <a:latin typeface="Consolas"/>
              </a:rPr>
              <a:t>JADE VALLEY FLOOD SIMULATION   |   DAVAO CITY, PHILIPPINES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0" y="6492240"/>
            <a:ext cx="2468880" cy="2743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/>
            <a:r>
              <a:rPr sz="800" b="1" i="0">
                <a:solidFill>
                  <a:srgbClr val="666666"/>
                </a:solidFill>
                <a:latin typeface="Consolas"/>
              </a:rPr>
              <a:t>FINAL BUILD 100%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594360"/>
            <a:ext cx="11094415" cy="54864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2400" b="1" i="0">
                <a:solidFill>
                  <a:srgbClr val="000000"/>
                </a:solidFill>
                <a:latin typeface="Calibri"/>
              </a:rPr>
              <a:t>PROJECT CONTEXT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1097280"/>
            <a:ext cx="1828800" cy="28575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325880"/>
            <a:ext cx="11094415" cy="5074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300" b="0" i="0">
                <a:solidFill>
                  <a:srgbClr val="000000"/>
                </a:solidFill>
                <a:latin typeface="Calibri"/>
              </a:rPr>
              <a:t>Jade Valley Subdivision is a residential community in Davao City, Philippines, situated on low-lying terrain that is highly susceptible to flooding during heavy rainfall events and tropical cyclones.</a:t>
            </a:r>
          </a:p>
          <a:p>
            <a:pPr>
              <a:spcAft>
                <a:spcPts val="600"/>
              </a:spcAft>
            </a:pPr>
            <a:r>
              <a:rPr sz="1300" b="0" i="0">
                <a:solidFill>
                  <a:srgbClr val="000000"/>
                </a:solidFill>
                <a:latin typeface="Calibri"/>
              </a:rPr>
              <a:t/>
            </a:r>
          </a:p>
          <a:p>
            <a:pPr>
              <a:spcAft>
                <a:spcPts val="600"/>
              </a:spcAft>
            </a:pPr>
            <a:r>
              <a:rPr sz="1300" b="0" i="0">
                <a:solidFill>
                  <a:srgbClr val="000000"/>
                </a:solidFill>
                <a:latin typeface="Calibri"/>
              </a:rPr>
              <a:t>The study area covers approximately 326.44 hectares with elevations ranging from 2.00 m to 71.75 m above mean sea level, mean elevation of 20.74 m. With 72.3% of the land classified as flat (slope &lt; 5°), surface runoff accumulates rapidly during storms, exposing the subdivision to both pluvial flooding from direct rainfall and fluvial flooding from nearby river overflow.</a:t>
            </a:r>
          </a:p>
          <a:p>
            <a:pPr>
              <a:spcAft>
                <a:spcPts val="600"/>
              </a:spcAft>
            </a:pPr>
            <a:r>
              <a:rPr sz="1300" b="0" i="0">
                <a:solidFill>
                  <a:srgbClr val="000000"/>
                </a:solidFill>
                <a:latin typeface="Calibri"/>
              </a:rPr>
              <a:t/>
            </a:r>
          </a:p>
          <a:p>
            <a:pPr>
              <a:spcAft>
                <a:spcPts val="600"/>
              </a:spcAft>
            </a:pPr>
            <a:r>
              <a:rPr sz="1300" b="0" i="0">
                <a:solidFill>
                  <a:srgbClr val="000000"/>
                </a:solidFill>
                <a:latin typeface="Calibri"/>
              </a:rPr>
              <a:t>This system is an interactive, terrain-aware flood simulation built entirely in Python (rasterio, NumPy, SciPy, Matplotlib) operating on a GeoTIFF Digital Elevation Model (DEM) derived from 3D topographic survey data of the subdivision.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45720"/>
            <a:ext cx="7315200" cy="36576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01   INTRODUCTION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0" y="45720"/>
            <a:ext cx="1828800" cy="36576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/>
            <a:r>
              <a:rPr sz="1100" b="1" i="0">
                <a:solidFill>
                  <a:srgbClr val="FFFFFF"/>
                </a:solidFill>
                <a:latin typeface="Consolas"/>
              </a:rPr>
              <a:t>5 / 39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6446520"/>
            <a:ext cx="11094415" cy="9525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800" b="1" i="0">
                <a:solidFill>
                  <a:srgbClr val="666666"/>
                </a:solidFill>
                <a:latin typeface="Consolas"/>
              </a:rPr>
              <a:t>JADE VALLEY FLOOD SIMULATION   |   DAVAO CITY, PHILIPPINES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0" y="6492240"/>
            <a:ext cx="2468880" cy="2743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/>
            <a:r>
              <a:rPr sz="800" b="1" i="0">
                <a:solidFill>
                  <a:srgbClr val="666666"/>
                </a:solidFill>
                <a:latin typeface="Consolas"/>
              </a:rPr>
              <a:t>FINAL BUILD 100%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594360"/>
            <a:ext cx="11094415" cy="54864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2400" b="1" i="0">
                <a:solidFill>
                  <a:srgbClr val="000000"/>
                </a:solidFill>
                <a:latin typeface="Calibri"/>
              </a:rPr>
              <a:t>THREE PROGRESSIVE BUILDS + MASTER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1097280"/>
            <a:ext cx="1828800" cy="28575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325880"/>
            <a:ext cx="11094415" cy="5074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300" b="1" i="0">
                <a:solidFill>
                  <a:srgbClr val="000000"/>
                </a:solidFill>
                <a:latin typeface="Consolas"/>
              </a:rPr>
              <a:t>25%   </a:t>
            </a:r>
            <a:r>
              <a:rPr sz="1300" b="0" i="0">
                <a:solidFill>
                  <a:srgbClr val="000000"/>
                </a:solidFill>
                <a:latin typeface="Calibri"/>
              </a:rPr>
              <a:t>Baseline simulation. No prevention measures. Establishes the unmitigated flood behaviour as the reference for comparison.</a:t>
            </a:r>
          </a:p>
          <a:p>
            <a:pPr>
              <a:spcAft>
                <a:spcPts val="600"/>
              </a:spcAft>
            </a:pPr>
            <a:r>
              <a:rPr sz="1300" b="1" i="0">
                <a:solidFill>
                  <a:srgbClr val="000000"/>
                </a:solidFill>
                <a:latin typeface="Consolas"/>
              </a:rPr>
              <a:t>50%   </a:t>
            </a:r>
            <a:r>
              <a:rPr sz="1300" b="0" i="0">
                <a:solidFill>
                  <a:srgbClr val="000000"/>
                </a:solidFill>
                <a:latin typeface="Calibri"/>
              </a:rPr>
              <a:t>Adds two prevention measures: Riverbank Floodwall and Drainage Canal Network. Runs an improved and a baseline simulation in parallel and reports the delta.</a:t>
            </a:r>
          </a:p>
          <a:p>
            <a:pPr>
              <a:spcAft>
                <a:spcPts val="600"/>
              </a:spcAft>
            </a:pPr>
            <a:r>
              <a:rPr sz="1300" b="1" i="0">
                <a:solidFill>
                  <a:srgbClr val="000000"/>
                </a:solidFill>
                <a:latin typeface="Consolas"/>
              </a:rPr>
              <a:t>75%   </a:t>
            </a:r>
            <a:r>
              <a:rPr sz="1300" b="0" i="0">
                <a:solidFill>
                  <a:srgbClr val="000000"/>
                </a:solidFill>
                <a:latin typeface="Calibri"/>
              </a:rPr>
              <a:t>Adds two further measures: Retention Basin and Elevated Emergency Road. Renders all four infrastructure overlays on the animated map.</a:t>
            </a:r>
          </a:p>
          <a:p>
            <a:pPr>
              <a:spcAft>
                <a:spcPts val="600"/>
              </a:spcAft>
            </a:pPr>
            <a:r>
              <a:rPr sz="1300" b="1" i="0">
                <a:solidFill>
                  <a:srgbClr val="000000"/>
                </a:solidFill>
                <a:latin typeface="Consolas"/>
              </a:rPr>
              <a:t>100%   </a:t>
            </a:r>
            <a:r>
              <a:rPr sz="1300" b="0" i="0">
                <a:solidFill>
                  <a:srgbClr val="000000"/>
                </a:solidFill>
                <a:latin typeface="Calibri"/>
              </a:rPr>
              <a:t>Complete system. Same GUI as 75% (storm tab + four prevention measures) PLUS a COLLECT ALL DATA button that runs the full 6 × 4 = 24 scenario/config matrix and exports the master data tables that drive this presentation.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931920" cy="685800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914400"/>
            <a:ext cx="3383280" cy="228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4000" b="1" i="0">
                <a:solidFill>
                  <a:srgbClr val="FFFFFF"/>
                </a:solidFill>
                <a:latin typeface="Consolas"/>
              </a:rPr>
              <a:t>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3291840"/>
            <a:ext cx="3383280" cy="4572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onsolas"/>
              </a:rPr>
              <a:t>SECTION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297680" y="1371600"/>
            <a:ext cx="7680960" cy="13716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4200" b="1" i="0">
                <a:solidFill>
                  <a:srgbClr val="000000"/>
                </a:solidFill>
                <a:latin typeface="Calibri"/>
              </a:rPr>
              <a:t>PROBLEM DEFINITION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4297680" y="2788920"/>
            <a:ext cx="1828800" cy="28575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297680" y="2926080"/>
            <a:ext cx="7680960" cy="32004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400" b="0" i="0">
                <a:solidFill>
                  <a:srgbClr val="333333"/>
                </a:solidFill>
                <a:latin typeface="Calibri"/>
              </a:rPr>
              <a:t>Why Jade Valley is flood-prone, the planning gap this system addresses, and the critical questions a terrain-aware model can answer.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92240"/>
            <a:ext cx="5486400" cy="2743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800" b="1" i="0">
                <a:solidFill>
                  <a:srgbClr val="666666"/>
                </a:solidFill>
                <a:latin typeface="Consolas"/>
              </a:rPr>
              <a:t>JADE VALLEY FLOOD SIMULATION   |   DAVAO CITY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0" y="6492240"/>
            <a:ext cx="2468880" cy="2743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/>
            <a:r>
              <a:rPr sz="800" b="1" i="0">
                <a:solidFill>
                  <a:srgbClr val="666666"/>
                </a:solidFill>
                <a:latin typeface="Consolas"/>
              </a:rPr>
              <a:t>6 / 39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45720"/>
            <a:ext cx="7315200" cy="36576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02   PROBLEM DEFINITION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0" y="45720"/>
            <a:ext cx="1828800" cy="36576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/>
            <a:r>
              <a:rPr sz="1100" b="1" i="0">
                <a:solidFill>
                  <a:srgbClr val="FFFFFF"/>
                </a:solidFill>
                <a:latin typeface="Consolas"/>
              </a:rPr>
              <a:t>7 / 39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6446520"/>
            <a:ext cx="11094415" cy="9525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800" b="1" i="0">
                <a:solidFill>
                  <a:srgbClr val="666666"/>
                </a:solidFill>
                <a:latin typeface="Consolas"/>
              </a:rPr>
              <a:t>JADE VALLEY FLOOD SIMULATION   |   DAVAO CITY, PHILIPPINES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0" y="6492240"/>
            <a:ext cx="2468880" cy="2743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/>
            <a:r>
              <a:rPr sz="800" b="1" i="0">
                <a:solidFill>
                  <a:srgbClr val="666666"/>
                </a:solidFill>
                <a:latin typeface="Consolas"/>
              </a:rPr>
              <a:t>FINAL BUILD 100%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594360"/>
            <a:ext cx="11094415" cy="54864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2400" b="1" i="0">
                <a:solidFill>
                  <a:srgbClr val="000000"/>
                </a:solidFill>
                <a:latin typeface="Calibri"/>
              </a:rPr>
              <a:t>WHY JADE VALLEY FLOODS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1097280"/>
            <a:ext cx="1828800" cy="28575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325880"/>
            <a:ext cx="11094415" cy="5074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300" b="0" i="0">
                <a:solidFill>
                  <a:srgbClr val="000000"/>
                </a:solidFill>
                <a:latin typeface="Calibri"/>
              </a:rPr>
              <a:t>Davao City is among the most flood-prone urban centres in the Philippines: proximity to river systems, high annual rainfall, and rapid urbanisation of low-lying areas.</a:t>
            </a:r>
          </a:p>
          <a:p>
            <a:pPr>
              <a:spcAft>
                <a:spcPts val="600"/>
              </a:spcAft>
            </a:pPr>
            <a:r>
              <a:rPr sz="1300" b="0" i="0">
                <a:solidFill>
                  <a:srgbClr val="000000"/>
                </a:solidFill>
                <a:latin typeface="Calibri"/>
              </a:rPr>
              <a:t/>
            </a:r>
          </a:p>
          <a:p>
            <a:pPr>
              <a:spcAft>
                <a:spcPts val="600"/>
              </a:spcAft>
            </a:pPr>
            <a:r>
              <a:rPr sz="1300" b="0" i="0">
                <a:solidFill>
                  <a:srgbClr val="000000"/>
                </a:solidFill>
                <a:latin typeface="Calibri"/>
              </a:rPr>
              <a:t>Jade Valley exemplifies the compounding flood risk in such communities: flat terrain limits natural drainage while proximity to river channels exposes residents to both surface runoff accumulation and fluvial overflow during storm events.</a:t>
            </a:r>
          </a:p>
          <a:p>
            <a:pPr>
              <a:spcAft>
                <a:spcPts val="600"/>
              </a:spcAft>
            </a:pPr>
            <a:r>
              <a:rPr sz="1300" b="0" i="0">
                <a:solidFill>
                  <a:srgbClr val="000000"/>
                </a:solidFill>
                <a:latin typeface="Calibri"/>
              </a:rPr>
              <a:t/>
            </a:r>
          </a:p>
          <a:p>
            <a:pPr>
              <a:spcAft>
                <a:spcPts val="600"/>
              </a:spcAft>
            </a:pPr>
            <a:r>
              <a:rPr sz="1300" b="0" i="0">
                <a:solidFill>
                  <a:srgbClr val="000000"/>
                </a:solidFill>
                <a:latin typeface="Calibri"/>
              </a:rPr>
              <a:t>Despite these conditions, flood risk planning in residential subdivisions often lacks site-specific quantitative modeling — meaning emergency preparedness, infrastructure investments, and land use recommendations are made without direct evidence of how water actually moves across the terrain during real storms.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45720"/>
            <a:ext cx="7315200" cy="36576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02   PROBLEM DEFINITION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0" y="45720"/>
            <a:ext cx="1828800" cy="36576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/>
            <a:r>
              <a:rPr sz="1100" b="1" i="0">
                <a:solidFill>
                  <a:srgbClr val="FFFFFF"/>
                </a:solidFill>
                <a:latin typeface="Consolas"/>
              </a:rPr>
              <a:t>8 / 39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6446520"/>
            <a:ext cx="11094415" cy="9525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800" b="1" i="0">
                <a:solidFill>
                  <a:srgbClr val="666666"/>
                </a:solidFill>
                <a:latin typeface="Consolas"/>
              </a:rPr>
              <a:t>JADE VALLEY FLOOD SIMULATION   |   DAVAO CITY, PHILIPPINES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0" y="6492240"/>
            <a:ext cx="2468880" cy="2743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/>
            <a:r>
              <a:rPr sz="800" b="1" i="0">
                <a:solidFill>
                  <a:srgbClr val="666666"/>
                </a:solidFill>
                <a:latin typeface="Consolas"/>
              </a:rPr>
              <a:t>FINAL BUILD 100%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594360"/>
            <a:ext cx="11094415" cy="54864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2400" b="1" i="0">
                <a:solidFill>
                  <a:srgbClr val="000000"/>
                </a:solidFill>
                <a:latin typeface="Calibri"/>
              </a:rPr>
              <a:t>QUESTIONS THIS SYSTEM ANSWERS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1097280"/>
            <a:ext cx="1828800" cy="28575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325880"/>
            <a:ext cx="11094415" cy="5074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300" b="1" i="0">
                <a:solidFill>
                  <a:srgbClr val="000000"/>
                </a:solidFill>
                <a:latin typeface="Consolas"/>
              </a:rPr>
              <a:t>Q1   </a:t>
            </a:r>
            <a:r>
              <a:rPr sz="1300" b="0" i="0">
                <a:solidFill>
                  <a:srgbClr val="000000"/>
                </a:solidFill>
                <a:latin typeface="Calibri"/>
              </a:rPr>
              <a:t>Which specific zones flood first, and at what rainfall threshold does inundation become critical?</a:t>
            </a:r>
          </a:p>
          <a:p>
            <a:pPr>
              <a:spcAft>
                <a:spcPts val="600"/>
              </a:spcAft>
            </a:pPr>
            <a:r>
              <a:rPr sz="1300" b="1" i="0">
                <a:solidFill>
                  <a:srgbClr val="000000"/>
                </a:solidFill>
                <a:latin typeface="Consolas"/>
              </a:rPr>
              <a:t>Q2   </a:t>
            </a:r>
            <a:r>
              <a:rPr sz="1300" b="0" i="0">
                <a:solidFill>
                  <a:srgbClr val="000000"/>
                </a:solidFill>
                <a:latin typeface="Calibri"/>
              </a:rPr>
              <a:t>How far does river overflow spread across the subdivision during typhoons of varying intensities?</a:t>
            </a:r>
          </a:p>
          <a:p>
            <a:pPr>
              <a:spcAft>
                <a:spcPts val="600"/>
              </a:spcAft>
            </a:pPr>
            <a:r>
              <a:rPr sz="1300" b="1" i="0">
                <a:solidFill>
                  <a:srgbClr val="000000"/>
                </a:solidFill>
                <a:latin typeface="Consolas"/>
              </a:rPr>
              <a:t>Q3   </a:t>
            </a:r>
            <a:r>
              <a:rPr sz="1300" b="0" i="0">
                <a:solidFill>
                  <a:srgbClr val="000000"/>
                </a:solidFill>
                <a:latin typeface="Calibri"/>
              </a:rPr>
              <a:t>How much flood extent and peak depth reduction can be achieved by constructing prevention infrastructure — and which combination provides the best protection?</a:t>
            </a:r>
          </a:p>
          <a:p>
            <a:pPr>
              <a:spcAft>
                <a:spcPts val="600"/>
              </a:spcAft>
            </a:pPr>
            <a:r>
              <a:rPr sz="1300" b="1" i="0">
                <a:solidFill>
                  <a:srgbClr val="000000"/>
                </a:solidFill>
                <a:latin typeface="Consolas"/>
              </a:rPr>
              <a:t>Q4   </a:t>
            </a:r>
            <a:r>
              <a:rPr sz="1300" b="0" i="0">
                <a:solidFill>
                  <a:srgbClr val="000000"/>
                </a:solidFill>
                <a:latin typeface="Calibri"/>
              </a:rPr>
              <a:t>Which areas can safely serve as evacuation zones during a 100-year flood event?</a:t>
            </a:r>
          </a:p>
          <a:p>
            <a:pPr>
              <a:spcAft>
                <a:spcPts val="600"/>
              </a:spcAft>
            </a:pPr>
            <a:r>
              <a:rPr sz="1300" b="0" i="0">
                <a:solidFill>
                  <a:srgbClr val="000000"/>
                </a:solidFill>
                <a:latin typeface="Calibri"/>
              </a:rPr>
              <a:t/>
            </a:r>
          </a:p>
          <a:p>
            <a:pPr>
              <a:spcAft>
                <a:spcPts val="600"/>
              </a:spcAft>
            </a:pPr>
            <a:r>
              <a:rPr sz="1300" b="0" i="0">
                <a:solidFill>
                  <a:srgbClr val="000000"/>
                </a:solidFill>
                <a:latin typeface="Calibri"/>
              </a:rPr>
              <a:t>This simulation system answers each of these questions with a terrain-aware, scenario-driven model grounded in standard hydrological methods.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931920" cy="685800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914400"/>
            <a:ext cx="3383280" cy="228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4000" b="1" i="0">
                <a:solidFill>
                  <a:srgbClr val="FFFFFF"/>
                </a:solidFill>
                <a:latin typeface="Consolas"/>
              </a:rPr>
              <a:t>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3291840"/>
            <a:ext cx="3383280" cy="4572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onsolas"/>
              </a:rPr>
              <a:t>SECTION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297680" y="1371600"/>
            <a:ext cx="7680960" cy="13716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4200" b="1" i="0">
                <a:solidFill>
                  <a:srgbClr val="000000"/>
                </a:solidFill>
                <a:latin typeface="Calibri"/>
              </a:rPr>
              <a:t>OBJECTIVES</a:t>
            </a:r>
          </a:p>
        </p:txBody>
      </p:sp>
      <p:sp>
        <p:nvSpPr>
          <p:cNvPr id="6" name="Rectangle 5"/>
          <p:cNvSpPr/>
          <p:nvPr/>
        </p:nvSpPr>
        <p:spPr>
          <a:xfrm>
            <a:off x="4297680" y="2788920"/>
            <a:ext cx="1828800" cy="28575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297680" y="2926080"/>
            <a:ext cx="7680960" cy="32004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400" b="0" i="0">
                <a:solidFill>
                  <a:srgbClr val="333333"/>
                </a:solidFill>
                <a:latin typeface="Calibri"/>
              </a:rPr>
              <a:t>Six concrete objectives the simulation system is designed to meet.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92240"/>
            <a:ext cx="5486400" cy="2743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800" b="1" i="0">
                <a:solidFill>
                  <a:srgbClr val="666666"/>
                </a:solidFill>
                <a:latin typeface="Consolas"/>
              </a:rPr>
              <a:t>JADE VALLEY FLOOD SIMULATION   |   DAVAO CITY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0" y="6492240"/>
            <a:ext cx="2468880" cy="2743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/>
            <a:r>
              <a:rPr sz="800" b="1" i="0">
                <a:solidFill>
                  <a:srgbClr val="666666"/>
                </a:solidFill>
                <a:latin typeface="Consolas"/>
              </a:rPr>
              <a:t>9 / 39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45720"/>
            <a:ext cx="7315200" cy="36576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03   OBJECTIVES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0" y="45720"/>
            <a:ext cx="1828800" cy="36576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/>
            <a:r>
              <a:rPr sz="1100" b="1" i="0">
                <a:solidFill>
                  <a:srgbClr val="FFFFFF"/>
                </a:solidFill>
                <a:latin typeface="Consolas"/>
              </a:rPr>
              <a:t>10 / 39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6446520"/>
            <a:ext cx="11094415" cy="9525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800" b="1" i="0">
                <a:solidFill>
                  <a:srgbClr val="666666"/>
                </a:solidFill>
                <a:latin typeface="Consolas"/>
              </a:rPr>
              <a:t>JADE VALLEY FLOOD SIMULATION   |   DAVAO CITY, PHILIPPINES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0" y="6492240"/>
            <a:ext cx="2468880" cy="2743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/>
            <a:r>
              <a:rPr sz="800" b="1" i="0">
                <a:solidFill>
                  <a:srgbClr val="666666"/>
                </a:solidFill>
                <a:latin typeface="Consolas"/>
              </a:rPr>
              <a:t>FINAL BUILD 100%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594360"/>
            <a:ext cx="11094415" cy="54864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2400" b="1" i="0">
                <a:solidFill>
                  <a:srgbClr val="000000"/>
                </a:solidFill>
                <a:latin typeface="Calibri"/>
              </a:rPr>
              <a:t>SIX OBJECTIVES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1097280"/>
            <a:ext cx="1828800" cy="28575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325880"/>
            <a:ext cx="11094415" cy="5074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300" b="1" i="0">
                <a:solidFill>
                  <a:srgbClr val="000000"/>
                </a:solidFill>
                <a:latin typeface="Consolas"/>
              </a:rPr>
              <a:t>3.1   </a:t>
            </a:r>
            <a:r>
              <a:rPr sz="1300" b="0" i="0">
                <a:solidFill>
                  <a:srgbClr val="000000"/>
                </a:solidFill>
                <a:latin typeface="Calibri"/>
              </a:rPr>
              <a:t>Terrain-Accurate Flood Inundation Modeling — D8 flow routing, Green-Ampt infiltration, BFS overflow dilation.</a:t>
            </a:r>
          </a:p>
          <a:p>
            <a:pPr>
              <a:spcAft>
                <a:spcPts val="600"/>
              </a:spcAft>
            </a:pPr>
            <a:r>
              <a:rPr sz="1300" b="1" i="0">
                <a:solidFill>
                  <a:srgbClr val="000000"/>
                </a:solidFill>
                <a:latin typeface="Consolas"/>
              </a:rPr>
              <a:t>3.2   </a:t>
            </a:r>
            <a:r>
              <a:rPr sz="1300" b="0" i="0">
                <a:solidFill>
                  <a:srgbClr val="000000"/>
                </a:solidFill>
                <a:latin typeface="Calibri"/>
              </a:rPr>
              <a:t>Multi-Scenario Storm Coverage — PAGASA-calibrated scenarios from Light Rain (15 mm / 2 h) to Typhoon Signal 3 (400 mm / 18 h).</a:t>
            </a:r>
          </a:p>
          <a:p>
            <a:pPr>
              <a:spcAft>
                <a:spcPts val="600"/>
              </a:spcAft>
            </a:pPr>
            <a:r>
              <a:rPr sz="1300" b="1" i="0">
                <a:solidFill>
                  <a:srgbClr val="000000"/>
                </a:solidFill>
                <a:latin typeface="Consolas"/>
              </a:rPr>
              <a:t>3.3   </a:t>
            </a:r>
            <a:r>
              <a:rPr sz="1300" b="0" i="0">
                <a:solidFill>
                  <a:srgbClr val="000000"/>
                </a:solidFill>
                <a:latin typeface="Calibri"/>
              </a:rPr>
              <a:t>Flood Risk Quantification — five-class HAND-based risk zonation (Very High / High / Medium / Low / Safe).</a:t>
            </a:r>
          </a:p>
          <a:p>
            <a:pPr>
              <a:spcAft>
                <a:spcPts val="600"/>
              </a:spcAft>
            </a:pPr>
            <a:r>
              <a:rPr sz="1300" b="1" i="0">
                <a:solidFill>
                  <a:srgbClr val="000000"/>
                </a:solidFill>
                <a:latin typeface="Consolas"/>
              </a:rPr>
              <a:t>3.4   </a:t>
            </a:r>
            <a:r>
              <a:rPr sz="1300" b="0" i="0">
                <a:solidFill>
                  <a:srgbClr val="000000"/>
                </a:solidFill>
                <a:latin typeface="Calibri"/>
              </a:rPr>
              <a:t>Prevention Measure Evaluation — frame-by-frame comparison of baseline vs. improved runs across four mitigation configurations.</a:t>
            </a:r>
          </a:p>
          <a:p>
            <a:pPr>
              <a:spcAft>
                <a:spcPts val="600"/>
              </a:spcAft>
            </a:pPr>
            <a:r>
              <a:rPr sz="1300" b="1" i="0">
                <a:solidFill>
                  <a:srgbClr val="000000"/>
                </a:solidFill>
                <a:latin typeface="Consolas"/>
              </a:rPr>
              <a:t>3.5   </a:t>
            </a:r>
            <a:r>
              <a:rPr sz="1300" b="0" i="0">
                <a:solidFill>
                  <a:srgbClr val="000000"/>
                </a:solidFill>
                <a:latin typeface="Calibri"/>
              </a:rPr>
              <a:t>Interactive Visualisation — animated multi-layer figure with playback controls.</a:t>
            </a:r>
          </a:p>
          <a:p>
            <a:pPr>
              <a:spcAft>
                <a:spcPts val="600"/>
              </a:spcAft>
            </a:pPr>
            <a:r>
              <a:rPr sz="1300" b="1" i="0">
                <a:solidFill>
                  <a:srgbClr val="000000"/>
                </a:solidFill>
                <a:latin typeface="Consolas"/>
              </a:rPr>
              <a:t>3.6   </a:t>
            </a:r>
            <a:r>
              <a:rPr sz="1300" b="0" i="0">
                <a:solidFill>
                  <a:srgbClr val="000000"/>
                </a:solidFill>
                <a:latin typeface="Calibri"/>
              </a:rPr>
              <a:t>Data Export — GIF animations, time-series CSV files, .npy terrain arrays, JSON statistics, and human-readable reports.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931920" cy="685800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914400"/>
            <a:ext cx="3383280" cy="228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4000" b="1" i="0">
                <a:solidFill>
                  <a:srgbClr val="FFFFFF"/>
                </a:solidFill>
                <a:latin typeface="Consolas"/>
              </a:rPr>
              <a:t>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3291840"/>
            <a:ext cx="3383280" cy="4572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onsolas"/>
              </a:rPr>
              <a:t>SECTION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297680" y="1371600"/>
            <a:ext cx="7680960" cy="13716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4200" b="1" i="0">
                <a:solidFill>
                  <a:srgbClr val="000000"/>
                </a:solidFill>
                <a:latin typeface="Calibri"/>
              </a:rPr>
              <a:t>SYSTEM DESCRIPTION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4297680" y="2788920"/>
            <a:ext cx="1828800" cy="28575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297680" y="2926080"/>
            <a:ext cx="7680960" cy="32004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400" b="0" i="0">
                <a:solidFill>
                  <a:srgbClr val="333333"/>
                </a:solidFill>
                <a:latin typeface="Calibri"/>
              </a:rPr>
              <a:t>Architecture, build hierarchy, core components, and data flow.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92240"/>
            <a:ext cx="5486400" cy="2743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800" b="1" i="0">
                <a:solidFill>
                  <a:srgbClr val="666666"/>
                </a:solidFill>
                <a:latin typeface="Consolas"/>
              </a:rPr>
              <a:t>JADE VALLEY FLOOD SIMULATION   |   DAVAO CITY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0" y="6492240"/>
            <a:ext cx="2468880" cy="2743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/>
            <a:r>
              <a:rPr sz="800" b="1" i="0">
                <a:solidFill>
                  <a:srgbClr val="666666"/>
                </a:solidFill>
                <a:latin typeface="Consolas"/>
              </a:rPr>
              <a:t>11 / 39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45720"/>
            <a:ext cx="7315200" cy="36576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04   SYSTEM DESCRIPTION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0" y="45720"/>
            <a:ext cx="1828800" cy="36576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/>
            <a:r>
              <a:rPr sz="1100" b="1" i="0">
                <a:solidFill>
                  <a:srgbClr val="FFFFFF"/>
                </a:solidFill>
                <a:latin typeface="Consolas"/>
              </a:rPr>
              <a:t>12 / 39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6446520"/>
            <a:ext cx="11094415" cy="9525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800" b="1" i="0">
                <a:solidFill>
                  <a:srgbClr val="666666"/>
                </a:solidFill>
                <a:latin typeface="Consolas"/>
              </a:rPr>
              <a:t>JADE VALLEY FLOOD SIMULATION   |   DAVAO CITY, PHILIPPINES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0" y="6492240"/>
            <a:ext cx="2468880" cy="2743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/>
            <a:r>
              <a:rPr sz="800" b="1" i="0">
                <a:solidFill>
                  <a:srgbClr val="666666"/>
                </a:solidFill>
                <a:latin typeface="Consolas"/>
              </a:rPr>
              <a:t>FINAL BUILD 100%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594360"/>
            <a:ext cx="11094415" cy="54864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2400" b="1" i="0">
                <a:solidFill>
                  <a:srgbClr val="000000"/>
                </a:solidFill>
                <a:latin typeface="Calibri"/>
              </a:rPr>
              <a:t>ARCHITECTURE: FIVE LOGICAL LAYERS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1097280"/>
            <a:ext cx="1828800" cy="28575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325880"/>
            <a:ext cx="11094415" cy="5074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300" b="1" i="0">
                <a:solidFill>
                  <a:srgbClr val="000000"/>
                </a:solidFill>
                <a:latin typeface="Consolas"/>
              </a:rPr>
              <a:t>LAYER 1   </a:t>
            </a:r>
            <a:r>
              <a:rPr sz="1300" b="0" i="0">
                <a:solidFill>
                  <a:srgbClr val="000000"/>
                </a:solidFill>
                <a:latin typeface="Calibri"/>
              </a:rPr>
              <a:t>Data Layer  |  Reads the GeoTIFF DEM and JPEG satellite background from disk. All terrain computations derive from the 57 × 61 elevation grid.</a:t>
            </a:r>
          </a:p>
          <a:p>
            <a:pPr>
              <a:spcAft>
                <a:spcPts val="600"/>
              </a:spcAft>
            </a:pPr>
            <a:r>
              <a:rPr sz="1300" b="1" i="0">
                <a:solidFill>
                  <a:srgbClr val="000000"/>
                </a:solidFill>
                <a:latin typeface="Consolas"/>
              </a:rPr>
              <a:t>LAYER 2   </a:t>
            </a:r>
            <a:r>
              <a:rPr sz="1300" b="0" i="0">
                <a:solidFill>
                  <a:srgbClr val="000000"/>
                </a:solidFill>
                <a:latin typeface="Calibri"/>
              </a:rPr>
              <a:t>Input Layer  |  A Tkinter GUI collects storm parameters and prevention settings (the 100% build skips this and runs the matrix headlessly).</a:t>
            </a:r>
          </a:p>
          <a:p>
            <a:pPr>
              <a:spcAft>
                <a:spcPts val="600"/>
              </a:spcAft>
            </a:pPr>
            <a:r>
              <a:rPr sz="1300" b="1" i="0">
                <a:solidFill>
                  <a:srgbClr val="000000"/>
                </a:solidFill>
                <a:latin typeface="Consolas"/>
              </a:rPr>
              <a:t>LAYER 3   </a:t>
            </a:r>
            <a:r>
              <a:rPr sz="1300" b="0" i="0">
                <a:solidFill>
                  <a:srgbClr val="000000"/>
                </a:solidFill>
                <a:latin typeface="Calibri"/>
              </a:rPr>
              <a:t>Preprocessing Layer  |  Applies prevention DEM modifications, then runs the hydrological pipeline: depression fill, D8 flow direction, flow accumulation, slope, runoff coefficient, infiltration capacity, bank elevation map.</a:t>
            </a:r>
          </a:p>
          <a:p>
            <a:pPr>
              <a:spcAft>
                <a:spcPts val="600"/>
              </a:spcAft>
            </a:pPr>
            <a:r>
              <a:rPr sz="1300" b="1" i="0">
                <a:solidFill>
                  <a:srgbClr val="000000"/>
                </a:solidFill>
                <a:latin typeface="Consolas"/>
              </a:rPr>
              <a:t>LAYER 4   </a:t>
            </a:r>
            <a:r>
              <a:rPr sz="1300" b="0" i="0">
                <a:solidFill>
                  <a:srgbClr val="000000"/>
                </a:solidFill>
                <a:latin typeface="Calibri"/>
              </a:rPr>
              <a:t>Simulation Engine  |  Frame-by-frame physics loop: rainfall addition, water routing, river overflow via BFS dilation, infiltration, drainage. Parallel baseline sim runs simultaneously when prevention is active.</a:t>
            </a:r>
          </a:p>
          <a:p>
            <a:pPr>
              <a:spcAft>
                <a:spcPts val="600"/>
              </a:spcAft>
            </a:pPr>
            <a:r>
              <a:rPr sz="1300" b="1" i="0">
                <a:solidFill>
                  <a:srgbClr val="000000"/>
                </a:solidFill>
                <a:latin typeface="Consolas"/>
              </a:rPr>
              <a:t>LAYER 5   </a:t>
            </a:r>
            <a:r>
              <a:rPr sz="1300" b="0" i="0">
                <a:solidFill>
                  <a:srgbClr val="000000"/>
                </a:solidFill>
                <a:latin typeface="Calibri"/>
              </a:rPr>
              <a:t>Output Layer  |  Matplotlib renders the animation; results export as GIF animations and CSV/JSON/.npy artefacts.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45720"/>
            <a:ext cx="7315200" cy="36576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04   SYSTEM DESCRIPTION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0" y="45720"/>
            <a:ext cx="1828800" cy="36576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/>
            <a:r>
              <a:rPr sz="1100" b="1" i="0">
                <a:solidFill>
                  <a:srgbClr val="FFFFFF"/>
                </a:solidFill>
                <a:latin typeface="Consolas"/>
              </a:rPr>
              <a:t>13 / 39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6446520"/>
            <a:ext cx="11094415" cy="9525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800" b="1" i="0">
                <a:solidFill>
                  <a:srgbClr val="666666"/>
                </a:solidFill>
                <a:latin typeface="Consolas"/>
              </a:rPr>
              <a:t>JADE VALLEY FLOOD SIMULATION   |   DAVAO CITY, PHILIPPINES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0" y="6492240"/>
            <a:ext cx="2468880" cy="2743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/>
            <a:r>
              <a:rPr sz="800" b="1" i="0">
                <a:solidFill>
                  <a:srgbClr val="666666"/>
                </a:solidFill>
                <a:latin typeface="Consolas"/>
              </a:rPr>
              <a:t>FINAL BUILD 100%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594360"/>
            <a:ext cx="11094415" cy="54864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2400" b="1" i="0">
                <a:solidFill>
                  <a:srgbClr val="000000"/>
                </a:solidFill>
                <a:latin typeface="Calibri"/>
              </a:rPr>
              <a:t>BUILD HIERARCHY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1097280"/>
            <a:ext cx="1828800" cy="28575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325880"/>
            <a:ext cx="11094415" cy="5074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300" b="0" i="0">
                <a:solidFill>
                  <a:srgbClr val="000000"/>
                </a:solidFill>
                <a:latin typeface="Consolas"/>
              </a:rPr>
              <a:t>BUILD          SCRIPT                          PREVENTION MEASURES</a:t>
            </a:r>
          </a:p>
          <a:p>
            <a:pPr>
              <a:spcAft>
                <a:spcPts val="600"/>
              </a:spcAft>
            </a:pPr>
            <a:r>
              <a:rPr sz="1300" b="0" i="0">
                <a:solidFill>
                  <a:srgbClr val="000000"/>
                </a:solidFill>
                <a:latin typeface="Consolas"/>
              </a:rPr>
              <a:t>--------------------------------------------------------------------------------</a:t>
            </a:r>
          </a:p>
          <a:p>
            <a:pPr>
              <a:spcAft>
                <a:spcPts val="600"/>
              </a:spcAft>
            </a:pPr>
            <a:r>
              <a:rPr sz="1300" b="0" i="0">
                <a:solidFill>
                  <a:srgbClr val="000000"/>
                </a:solidFill>
                <a:latin typeface="Consolas"/>
              </a:rPr>
              <a:t>25%  Baseline  flood_simulation_25%.py          None</a:t>
            </a:r>
          </a:p>
          <a:p>
            <a:pPr>
              <a:spcAft>
                <a:spcPts val="600"/>
              </a:spcAft>
            </a:pPr>
            <a:r>
              <a:rPr sz="1300" b="0" i="0">
                <a:solidFill>
                  <a:srgbClr val="000000"/>
                </a:solidFill>
                <a:latin typeface="Consolas"/>
              </a:rPr>
              <a:t>50%  Two-meas. flood_simulation_50%.py          Floodwall + Drainage Canal</a:t>
            </a:r>
          </a:p>
          <a:p>
            <a:pPr>
              <a:spcAft>
                <a:spcPts val="600"/>
              </a:spcAft>
            </a:pPr>
            <a:r>
              <a:rPr sz="1300" b="0" i="0">
                <a:solidFill>
                  <a:srgbClr val="000000"/>
                </a:solidFill>
                <a:latin typeface="Consolas"/>
              </a:rPr>
              <a:t>75%  Four-meas flood_simulation_75%.py          Floodwall + Canal +</a:t>
            </a:r>
          </a:p>
          <a:p>
            <a:pPr>
              <a:spcAft>
                <a:spcPts val="600"/>
              </a:spcAft>
            </a:pPr>
            <a:r>
              <a:rPr sz="1300" b="0" i="0">
                <a:solidFill>
                  <a:srgbClr val="000000"/>
                </a:solidFill>
                <a:latin typeface="Consolas"/>
              </a:rPr>
              <a:t>                                                Retention Basin + Elevated Road</a:t>
            </a:r>
          </a:p>
          <a:p>
            <a:pPr>
              <a:spcAft>
                <a:spcPts val="600"/>
              </a:spcAft>
            </a:pPr>
            <a:r>
              <a:rPr sz="1300" b="0" i="0">
                <a:solidFill>
                  <a:srgbClr val="000000"/>
                </a:solidFill>
                <a:latin typeface="Consolas"/>
              </a:rPr>
              <a:t>100% Master    flood_simulation_100%.py         Headless 6 × 4 matrix runner</a:t>
            </a:r>
          </a:p>
          <a:p>
            <a:pPr>
              <a:spcAft>
                <a:spcPts val="600"/>
              </a:spcAft>
            </a:pPr>
            <a:r>
              <a:rPr sz="1300" b="0" i="0">
                <a:solidFill>
                  <a:srgbClr val="000000"/>
                </a:solidFill>
                <a:latin typeface="Consolas"/>
              </a:rPr>
              <a:t>                                                + HAND/risk-zone analysis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45720"/>
            <a:ext cx="7315200" cy="36576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04   SYSTEM DESCRIPTION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0" y="45720"/>
            <a:ext cx="1828800" cy="36576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/>
            <a:r>
              <a:rPr sz="1100" b="1" i="0">
                <a:solidFill>
                  <a:srgbClr val="FFFFFF"/>
                </a:solidFill>
                <a:latin typeface="Consolas"/>
              </a:rPr>
              <a:t>14 / 39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6446520"/>
            <a:ext cx="11094415" cy="9525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800" b="1" i="0">
                <a:solidFill>
                  <a:srgbClr val="666666"/>
                </a:solidFill>
                <a:latin typeface="Consolas"/>
              </a:rPr>
              <a:t>JADE VALLEY FLOOD SIMULATION   |   DAVAO CITY, PHILIPPINES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0" y="6492240"/>
            <a:ext cx="2468880" cy="2743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/>
            <a:r>
              <a:rPr sz="800" b="1" i="0">
                <a:solidFill>
                  <a:srgbClr val="666666"/>
                </a:solidFill>
                <a:latin typeface="Consolas"/>
              </a:rPr>
              <a:t>FINAL BUILD 100%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594360"/>
            <a:ext cx="11094415" cy="54864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2400" b="1" i="0">
                <a:solidFill>
                  <a:srgbClr val="000000"/>
                </a:solidFill>
                <a:latin typeface="Calibri"/>
              </a:rPr>
              <a:t>CORE COMPONENTS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1097280"/>
            <a:ext cx="1828800" cy="28575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325880"/>
            <a:ext cx="11094415" cy="5074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300" b="0" i="0">
                <a:solidFill>
                  <a:srgbClr val="000000"/>
                </a:solidFill>
                <a:latin typeface="Consolas"/>
              </a:rPr>
              <a:t>load_dem()                  Reads GeoTIFF; fills NoData; returns (dem, cellsize)</a:t>
            </a:r>
          </a:p>
          <a:p>
            <a:pPr>
              <a:spcAft>
                <a:spcPts val="600"/>
              </a:spcAft>
            </a:pPr>
            <a:r>
              <a:rPr sz="1300" b="0" i="0">
                <a:solidFill>
                  <a:srgbClr val="000000"/>
                </a:solidFill>
                <a:latin typeface="Consolas"/>
              </a:rPr>
              <a:t>_fill_depressions()         Priority-Flood sink removal</a:t>
            </a:r>
          </a:p>
          <a:p>
            <a:pPr>
              <a:spcAft>
                <a:spcPts val="600"/>
              </a:spcAft>
            </a:pPr>
            <a:r>
              <a:rPr sz="1300" b="0" i="0">
                <a:solidFill>
                  <a:srgbClr val="000000"/>
                </a:solidFill>
                <a:latin typeface="Consolas"/>
              </a:rPr>
              <a:t>_d8_flow_direction()        Steepest-descent D8 routing</a:t>
            </a:r>
          </a:p>
          <a:p>
            <a:pPr>
              <a:spcAft>
                <a:spcPts val="600"/>
              </a:spcAft>
            </a:pPr>
            <a:r>
              <a:rPr sz="1300" b="0" i="0">
                <a:solidFill>
                  <a:srgbClr val="000000"/>
                </a:solidFill>
                <a:latin typeface="Consolas"/>
              </a:rPr>
              <a:t>_flow_accumulation()        Topological-sort upstream count</a:t>
            </a:r>
          </a:p>
          <a:p>
            <a:pPr>
              <a:spcAft>
                <a:spcPts val="600"/>
              </a:spcAft>
            </a:pPr>
            <a:r>
              <a:rPr sz="1300" b="0" i="0">
                <a:solidFill>
                  <a:srgbClr val="000000"/>
                </a:solidFill>
                <a:latin typeface="Consolas"/>
              </a:rPr>
              <a:t>build_stream_mask()         Top-8% accumulation = river channel</a:t>
            </a:r>
          </a:p>
          <a:p>
            <a:pPr>
              <a:spcAft>
                <a:spcPts val="600"/>
              </a:spcAft>
            </a:pPr>
            <a:r>
              <a:rPr sz="1300" b="0" i="0">
                <a:solidFill>
                  <a:srgbClr val="000000"/>
                </a:solidFill>
                <a:latin typeface="Consolas"/>
              </a:rPr>
              <a:t>apply_floodwall()           DEM modification: raises western bank cells</a:t>
            </a:r>
          </a:p>
          <a:p>
            <a:pPr>
              <a:spcAft>
                <a:spcPts val="600"/>
              </a:spcAft>
            </a:pPr>
            <a:r>
              <a:rPr sz="1300" b="0" i="0">
                <a:solidFill>
                  <a:srgbClr val="000000"/>
                </a:solidFill>
                <a:latin typeface="Consolas"/>
              </a:rPr>
              <a:t>apply_drainage_canal()      DEM modification: lowers east/south corridors</a:t>
            </a:r>
          </a:p>
          <a:p>
            <a:pPr>
              <a:spcAft>
                <a:spcPts val="600"/>
              </a:spcAft>
            </a:pPr>
            <a:r>
              <a:rPr sz="1300" b="0" i="0">
                <a:solidFill>
                  <a:srgbClr val="000000"/>
                </a:solidFill>
                <a:latin typeface="Consolas"/>
              </a:rPr>
              <a:t>apply_retention_basin()     DEM modification: excavates basin depression [75%]</a:t>
            </a:r>
          </a:p>
          <a:p>
            <a:pPr>
              <a:spcAft>
                <a:spcPts val="600"/>
              </a:spcAft>
            </a:pPr>
            <a:r>
              <a:rPr sz="1300" b="0" i="0">
                <a:solidFill>
                  <a:srgbClr val="000000"/>
                </a:solidFill>
                <a:latin typeface="Consolas"/>
              </a:rPr>
              <a:t>apply_elevated_road()       DEM modification: raises emergency road berm [75%]</a:t>
            </a:r>
          </a:p>
          <a:p>
            <a:pPr>
              <a:spcAft>
                <a:spcPts val="600"/>
              </a:spcAft>
            </a:pPr>
            <a:r>
              <a:rPr sz="1300" b="0" i="0">
                <a:solidFill>
                  <a:srgbClr val="000000"/>
                </a:solidFill>
                <a:latin typeface="Consolas"/>
              </a:rPr>
              <a:t>apply_prevention_measures() Combines active measures into one modified DEM</a:t>
            </a:r>
          </a:p>
          <a:p>
            <a:pPr>
              <a:spcAft>
                <a:spcPts val="600"/>
              </a:spcAft>
            </a:pPr>
            <a:r>
              <a:rPr sz="1300" b="0" i="0">
                <a:solidFill>
                  <a:srgbClr val="000000"/>
                </a:solidFill>
                <a:latin typeface="Consolas"/>
              </a:rPr>
              <a:t>FloodSimulation             Class — holds state; runs physics per timestep</a:t>
            </a:r>
          </a:p>
          <a:p>
            <a:pPr>
              <a:spcAft>
                <a:spcPts val="600"/>
              </a:spcAft>
            </a:pPr>
            <a:r>
              <a:rPr sz="1300" b="0" i="0">
                <a:solidFill>
                  <a:srgbClr val="000000"/>
                </a:solidFill>
                <a:latin typeface="Consolas"/>
              </a:rPr>
              <a:t>    .add_rainfall()         Runoff-weighted rainfall onto grid</a:t>
            </a:r>
          </a:p>
          <a:p>
            <a:pPr>
              <a:spcAft>
                <a:spcPts val="600"/>
              </a:spcAft>
            </a:pPr>
            <a:r>
              <a:rPr sz="1300" b="0" i="0">
                <a:solidFill>
                  <a:srgbClr val="000000"/>
                </a:solidFill>
                <a:latin typeface="Consolas"/>
              </a:rPr>
              <a:t>    .route_water()          D8 surface-water diffusion (12 sub-iters)</a:t>
            </a:r>
          </a:p>
          <a:p>
            <a:pPr>
              <a:spcAft>
                <a:spcPts val="600"/>
              </a:spcAft>
            </a:pPr>
            <a:r>
              <a:rPr sz="1300" b="0" i="0">
                <a:solidFill>
                  <a:srgbClr val="000000"/>
                </a:solidFill>
                <a:latin typeface="Consolas"/>
              </a:rPr>
              <a:t>    .apply_river_overflow() BFS dilation of flood front from channel</a:t>
            </a:r>
          </a:p>
          <a:p>
            <a:pPr>
              <a:spcAft>
                <a:spcPts val="600"/>
              </a:spcAft>
            </a:pPr>
            <a:r>
              <a:rPr sz="1300" b="0" i="0">
                <a:solidFill>
                  <a:srgbClr val="000000"/>
                </a:solidFill>
                <a:latin typeface="Consolas"/>
              </a:rPr>
              <a:t>    .apply_infiltration()   Green-Ampt inspired soil absorption</a:t>
            </a:r>
          </a:p>
          <a:p>
            <a:pPr>
              <a:spcAft>
                <a:spcPts val="600"/>
              </a:spcAft>
            </a:pPr>
            <a:r>
              <a:rPr sz="1300" b="0" i="0">
                <a:solidFill>
                  <a:srgbClr val="000000"/>
                </a:solidFill>
                <a:latin typeface="Consolas"/>
              </a:rPr>
              <a:t>    .apply_drainage()       Channel + canal drainage removal</a:t>
            </a:r>
          </a:p>
          <a:p>
            <a:pPr>
              <a:spcAft>
                <a:spcPts val="600"/>
              </a:spcAft>
            </a:pPr>
            <a:r>
              <a:rPr sz="1300" b="0" i="0">
                <a:solidFill>
                  <a:srgbClr val="000000"/>
                </a:solidFill>
                <a:latin typeface="Consolas"/>
              </a:rPr>
              <a:t>    .step()                 Calls all five methods for one timestep</a:t>
            </a:r>
          </a:p>
          <a:p>
            <a:pPr>
              <a:spcAft>
                <a:spcPts val="600"/>
              </a:spcAft>
            </a:pPr>
            <a:r>
              <a:rPr sz="1300" b="0" i="0">
                <a:solidFill>
                  <a:srgbClr val="000000"/>
                </a:solidFill>
                <a:latin typeface="Consolas"/>
              </a:rPr>
              <a:t>wind_rainfall_map()         Wind-modified spatial rainfall weights</a:t>
            </a:r>
          </a:p>
          <a:p>
            <a:pPr>
              <a:spcAft>
                <a:spcPts val="600"/>
              </a:spcAft>
            </a:pPr>
            <a:r>
              <a:rPr sz="1300" b="0" i="0">
                <a:solidFill>
                  <a:srgbClr val="000000"/>
                </a:solidFill>
                <a:latin typeface="Consolas"/>
              </a:rPr>
              <a:t>run_simulation()            Orchestrates preprocessing, loop, rendering</a:t>
            </a:r>
          </a:p>
          <a:p>
            <a:pPr>
              <a:spcAft>
                <a:spcPts val="600"/>
              </a:spcAft>
            </a:pPr>
            <a:r>
              <a:rPr sz="1300" b="0" i="0">
                <a:solidFill>
                  <a:srgbClr val="000000"/>
                </a:solidFill>
                <a:latin typeface="Consolas"/>
              </a:rPr>
              <a:t>SimulationGUI               Tkinter two-tab GUI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45720"/>
            <a:ext cx="7315200" cy="36576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04   SYSTEM DESCRIPTION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0" y="45720"/>
            <a:ext cx="1828800" cy="36576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/>
            <a:r>
              <a:rPr sz="1100" b="1" i="0">
                <a:solidFill>
                  <a:srgbClr val="FFFFFF"/>
                </a:solidFill>
                <a:latin typeface="Consolas"/>
              </a:rPr>
              <a:t>15 / 39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6446520"/>
            <a:ext cx="11094415" cy="9525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800" b="1" i="0">
                <a:solidFill>
                  <a:srgbClr val="666666"/>
                </a:solidFill>
                <a:latin typeface="Consolas"/>
              </a:rPr>
              <a:t>JADE VALLEY FLOOD SIMULATION   |   DAVAO CITY, PHILIPPINES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0" y="6492240"/>
            <a:ext cx="2468880" cy="2743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/>
            <a:r>
              <a:rPr sz="800" b="1" i="0">
                <a:solidFill>
                  <a:srgbClr val="666666"/>
                </a:solidFill>
                <a:latin typeface="Consolas"/>
              </a:rPr>
              <a:t>FINAL BUILD 100%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594360"/>
            <a:ext cx="11094415" cy="54864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2400" b="1" i="0">
                <a:solidFill>
                  <a:srgbClr val="000000"/>
                </a:solidFill>
                <a:latin typeface="Calibri"/>
              </a:rPr>
              <a:t>DATA FLOW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1097280"/>
            <a:ext cx="1828800" cy="28575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325880"/>
            <a:ext cx="11094415" cy="5074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300" b="0" i="0">
                <a:solidFill>
                  <a:srgbClr val="000000"/>
                </a:solidFill>
                <a:latin typeface="Consolas"/>
              </a:rPr>
              <a:t>GeoTIFF DEM</a:t>
            </a:r>
          </a:p>
          <a:p>
            <a:pPr>
              <a:spcAft>
                <a:spcPts val="600"/>
              </a:spcAft>
            </a:pPr>
            <a:r>
              <a:rPr sz="1300" b="0" i="0">
                <a:solidFill>
                  <a:srgbClr val="000000"/>
                </a:solidFill>
                <a:latin typeface="Consolas"/>
              </a:rPr>
              <a:t>    |</a:t>
            </a:r>
          </a:p>
          <a:p>
            <a:pPr>
              <a:spcAft>
                <a:spcPts val="600"/>
              </a:spcAft>
            </a:pPr>
            <a:r>
              <a:rPr sz="1300" b="0" i="0">
                <a:solidFill>
                  <a:srgbClr val="000000"/>
                </a:solidFill>
                <a:latin typeface="Consolas"/>
              </a:rPr>
              <a:t>    +-- Prevention DEM modifications (if enabled)</a:t>
            </a:r>
          </a:p>
          <a:p>
            <a:pPr>
              <a:spcAft>
                <a:spcPts val="600"/>
              </a:spcAft>
            </a:pPr>
            <a:r>
              <a:rPr sz="1300" b="0" i="0">
                <a:solidFill>
                  <a:srgbClr val="000000"/>
                </a:solidFill>
                <a:latin typeface="Consolas"/>
              </a:rPr>
              <a:t>    |</a:t>
            </a:r>
          </a:p>
          <a:p>
            <a:pPr>
              <a:spcAft>
                <a:spcPts val="600"/>
              </a:spcAft>
            </a:pPr>
            <a:r>
              <a:rPr sz="1300" b="0" i="0">
                <a:solidFill>
                  <a:srgbClr val="000000"/>
                </a:solidFill>
                <a:latin typeface="Consolas"/>
              </a:rPr>
              <a:t>    +-- Hydrological preprocessing  --&gt;  fdir, accum, river_mask,</a:t>
            </a:r>
          </a:p>
          <a:p>
            <a:pPr>
              <a:spcAft>
                <a:spcPts val="600"/>
              </a:spcAft>
            </a:pPr>
            <a:r>
              <a:rPr sz="1300" b="0" i="0">
                <a:solidFill>
                  <a:srgbClr val="000000"/>
                </a:solidFill>
                <a:latin typeface="Consolas"/>
              </a:rPr>
              <a:t>    |                                    slope, runoff_coeff,</a:t>
            </a:r>
          </a:p>
          <a:p>
            <a:pPr>
              <a:spcAft>
                <a:spcPts val="600"/>
              </a:spcAft>
            </a:pPr>
            <a:r>
              <a:rPr sz="1300" b="0" i="0">
                <a:solidFill>
                  <a:srgbClr val="000000"/>
                </a:solidFill>
                <a:latin typeface="Consolas"/>
              </a:rPr>
              <a:t>    |                                    max_inf, bank_elev</a:t>
            </a:r>
          </a:p>
          <a:p>
            <a:pPr>
              <a:spcAft>
                <a:spcPts val="600"/>
              </a:spcAft>
            </a:pPr>
            <a:r>
              <a:rPr sz="1300" b="0" i="0">
                <a:solidFill>
                  <a:srgbClr val="000000"/>
                </a:solidFill>
                <a:latin typeface="Consolas"/>
              </a:rPr>
              <a:t>    |</a:t>
            </a:r>
          </a:p>
          <a:p>
            <a:pPr>
              <a:spcAft>
                <a:spcPts val="600"/>
              </a:spcAft>
            </a:pPr>
            <a:r>
              <a:rPr sz="1300" b="0" i="0">
                <a:solidFill>
                  <a:srgbClr val="000000"/>
                </a:solidFill>
                <a:latin typeface="Consolas"/>
              </a:rPr>
              <a:t>    +-- [Improved Sim]  FloodSimulation(modified_dem)  -+</a:t>
            </a:r>
          </a:p>
          <a:p>
            <a:pPr>
              <a:spcAft>
                <a:spcPts val="600"/>
              </a:spcAft>
            </a:pPr>
            <a:r>
              <a:rPr sz="1300" b="0" i="0">
                <a:solidFill>
                  <a:srgbClr val="000000"/>
                </a:solidFill>
                <a:latin typeface="Consolas"/>
              </a:rPr>
              <a:t>    |                   frame loop x num_frames         +-- Animation</a:t>
            </a:r>
          </a:p>
          <a:p>
            <a:pPr>
              <a:spcAft>
                <a:spcPts val="600"/>
              </a:spcAft>
            </a:pPr>
            <a:r>
              <a:rPr sz="1300" b="0" i="0">
                <a:solidFill>
                  <a:srgbClr val="000000"/>
                </a:solidFill>
                <a:latin typeface="Consolas"/>
              </a:rPr>
              <a:t>    +-- [Baseline Sim]  FloodSimulation(original_dem)  -+   + CSV Export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931920" cy="685800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914400"/>
            <a:ext cx="3383280" cy="228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4000" b="1" i="0">
                <a:solidFill>
                  <a:srgbClr val="FFFFFF"/>
                </a:solidFill>
                <a:latin typeface="Consolas"/>
              </a:rPr>
              <a:t>05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3291840"/>
            <a:ext cx="3383280" cy="4572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onsolas"/>
              </a:rPr>
              <a:t>SECTION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297680" y="1371600"/>
            <a:ext cx="7680960" cy="13716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4200" b="1" i="0">
                <a:solidFill>
                  <a:srgbClr val="000000"/>
                </a:solidFill>
                <a:latin typeface="Calibri"/>
              </a:rPr>
              <a:t>SYSTEM FLOW</a:t>
            </a:r>
          </a:p>
        </p:txBody>
      </p:sp>
      <p:sp>
        <p:nvSpPr>
          <p:cNvPr id="6" name="Rectangle 5"/>
          <p:cNvSpPr/>
          <p:nvPr/>
        </p:nvSpPr>
        <p:spPr>
          <a:xfrm>
            <a:off x="4297680" y="2788920"/>
            <a:ext cx="1828800" cy="28575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297680" y="2926080"/>
            <a:ext cx="7680960" cy="32004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400" b="0" i="0">
                <a:solidFill>
                  <a:srgbClr val="333333"/>
                </a:solidFill>
                <a:latin typeface="Calibri"/>
              </a:rPr>
              <a:t>The eight stages from terrain loading through to output export.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92240"/>
            <a:ext cx="5486400" cy="2743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800" b="1" i="0">
                <a:solidFill>
                  <a:srgbClr val="666666"/>
                </a:solidFill>
                <a:latin typeface="Consolas"/>
              </a:rPr>
              <a:t>JADE VALLEY FLOOD SIMULATION   |   DAVAO CITY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0" y="6492240"/>
            <a:ext cx="2468880" cy="2743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/>
            <a:r>
              <a:rPr sz="800" b="1" i="0">
                <a:solidFill>
                  <a:srgbClr val="666666"/>
                </a:solidFill>
                <a:latin typeface="Consolas"/>
              </a:rPr>
              <a:t>16 / 39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45720"/>
            <a:ext cx="7315200" cy="36576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05   SYSTEM 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0" y="45720"/>
            <a:ext cx="1828800" cy="36576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/>
            <a:r>
              <a:rPr sz="1100" b="1" i="0">
                <a:solidFill>
                  <a:srgbClr val="FFFFFF"/>
                </a:solidFill>
                <a:latin typeface="Consolas"/>
              </a:rPr>
              <a:t>17 / 39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6446520"/>
            <a:ext cx="11094415" cy="9525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800" b="1" i="0">
                <a:solidFill>
                  <a:srgbClr val="666666"/>
                </a:solidFill>
                <a:latin typeface="Consolas"/>
              </a:rPr>
              <a:t>JADE VALLEY FLOOD SIMULATION   |   DAVAO CITY, PHILIPPINES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0" y="6492240"/>
            <a:ext cx="2468880" cy="2743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/>
            <a:r>
              <a:rPr sz="800" b="1" i="0">
                <a:solidFill>
                  <a:srgbClr val="666666"/>
                </a:solidFill>
                <a:latin typeface="Consolas"/>
              </a:rPr>
              <a:t>FINAL BUILD 100%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594360"/>
            <a:ext cx="11094415" cy="54864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2400" b="1" i="0">
                <a:solidFill>
                  <a:srgbClr val="000000"/>
                </a:solidFill>
                <a:latin typeface="Calibri"/>
              </a:rPr>
              <a:t>STAGES 1–4: LOAD, INPUT, PREVENTION, PREPROCESS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1097280"/>
            <a:ext cx="1828800" cy="28575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325880"/>
            <a:ext cx="11094415" cy="5074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300" b="1" i="0">
                <a:solidFill>
                  <a:srgbClr val="000000"/>
                </a:solidFill>
                <a:latin typeface="Consolas"/>
              </a:rPr>
              <a:t>STAGE 1   </a:t>
            </a:r>
            <a:r>
              <a:rPr sz="1300" b="0" i="0">
                <a:solidFill>
                  <a:srgbClr val="000000"/>
                </a:solidFill>
                <a:latin typeface="Calibri"/>
              </a:rPr>
              <a:t>Data Loading  |  Read GeoTIFF DEM (rasterio) and JPEG background (Pillow). Resize JPEG to ≤ 2048 px on longest side. Cell size corrected via cosine-latitude scaling.</a:t>
            </a:r>
          </a:p>
          <a:p>
            <a:pPr>
              <a:spcAft>
                <a:spcPts val="600"/>
              </a:spcAft>
            </a:pPr>
            <a:r>
              <a:rPr sz="1300" b="1" i="0">
                <a:solidFill>
                  <a:srgbClr val="000000"/>
                </a:solidFill>
                <a:latin typeface="Consolas"/>
              </a:rPr>
              <a:t>STAGE 2   </a:t>
            </a:r>
            <a:r>
              <a:rPr sz="1300" b="0" i="0">
                <a:solidFill>
                  <a:srgbClr val="000000"/>
                </a:solidFill>
                <a:latin typeface="Calibri"/>
              </a:rPr>
              <a:t>User Input  |  Two-tab Tkinter GUI gathers storm parameters and prevention settings. 100% build skips this stage and uses CLI flags / defaults.</a:t>
            </a:r>
          </a:p>
          <a:p>
            <a:pPr>
              <a:spcAft>
                <a:spcPts val="600"/>
              </a:spcAft>
            </a:pPr>
            <a:r>
              <a:rPr sz="1300" b="1" i="0">
                <a:solidFill>
                  <a:srgbClr val="000000"/>
                </a:solidFill>
                <a:latin typeface="Consolas"/>
              </a:rPr>
              <a:t>STAGE 3   </a:t>
            </a:r>
            <a:r>
              <a:rPr sz="1300" b="0" i="0">
                <a:solidFill>
                  <a:srgbClr val="000000"/>
                </a:solidFill>
                <a:latin typeface="Calibri"/>
              </a:rPr>
              <a:t>DEM Modification  |  For each active measure, modify elevations on target cells: raise floodwall, lower canals, excavate retention basin, raise emergency road.</a:t>
            </a:r>
          </a:p>
          <a:p>
            <a:pPr>
              <a:spcAft>
                <a:spcPts val="600"/>
              </a:spcAft>
            </a:pPr>
            <a:r>
              <a:rPr sz="1300" b="1" i="0">
                <a:solidFill>
                  <a:srgbClr val="000000"/>
                </a:solidFill>
                <a:latin typeface="Consolas"/>
              </a:rPr>
              <a:t>STAGE 4   </a:t>
            </a:r>
            <a:r>
              <a:rPr sz="1300" b="0" i="0">
                <a:solidFill>
                  <a:srgbClr val="000000"/>
                </a:solidFill>
                <a:latin typeface="Calibri"/>
              </a:rPr>
              <a:t>Hydrological Preprocessing  |  Priority-Flood fill, D8 flow direction, flow accumulation, stream mask, slope, runoff coefficient, infiltration capacity, bank-elevation map.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45720"/>
            <a:ext cx="7315200" cy="36576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05   SYSTEM 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0" y="45720"/>
            <a:ext cx="1828800" cy="36576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/>
            <a:r>
              <a:rPr sz="1100" b="1" i="0">
                <a:solidFill>
                  <a:srgbClr val="FFFFFF"/>
                </a:solidFill>
                <a:latin typeface="Consolas"/>
              </a:rPr>
              <a:t>18 / 39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6446520"/>
            <a:ext cx="11094415" cy="9525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800" b="1" i="0">
                <a:solidFill>
                  <a:srgbClr val="666666"/>
                </a:solidFill>
                <a:latin typeface="Consolas"/>
              </a:rPr>
              <a:t>JADE VALLEY FLOOD SIMULATION   |   DAVAO CITY, PHILIPPINES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0" y="6492240"/>
            <a:ext cx="2468880" cy="2743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/>
            <a:r>
              <a:rPr sz="800" b="1" i="0">
                <a:solidFill>
                  <a:srgbClr val="666666"/>
                </a:solidFill>
                <a:latin typeface="Consolas"/>
              </a:rPr>
              <a:t>FINAL BUILD 100%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594360"/>
            <a:ext cx="11094415" cy="54864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2400" b="1" i="0">
                <a:solidFill>
                  <a:srgbClr val="000000"/>
                </a:solidFill>
                <a:latin typeface="Calibri"/>
              </a:rPr>
              <a:t>STAGE 5: PER-TIMESTEP LOOP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1097280"/>
            <a:ext cx="1828800" cy="28575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325880"/>
            <a:ext cx="11094415" cy="5074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300" b="0" i="0">
                <a:solidFill>
                  <a:srgbClr val="000000"/>
                </a:solidFill>
                <a:latin typeface="Calibri"/>
              </a:rPr>
              <a:t>The simulation loop runs num_frames = ceil(duration_h / timestep_h) iterations. At each timestep, six physics operations execute in order:</a:t>
            </a:r>
          </a:p>
          <a:p>
            <a:pPr>
              <a:spcAft>
                <a:spcPts val="600"/>
              </a:spcAft>
            </a:pPr>
            <a:r>
              <a:rPr sz="1300" b="0" i="0">
                <a:solidFill>
                  <a:srgbClr val="000000"/>
                </a:solidFill>
                <a:latin typeface="Calibri"/>
              </a:rPr>
              <a:t/>
            </a:r>
          </a:p>
          <a:p>
            <a:pPr>
              <a:spcAft>
                <a:spcPts val="600"/>
              </a:spcAft>
            </a:pPr>
            <a:r>
              <a:rPr sz="1300" b="1" i="0">
                <a:solidFill>
                  <a:srgbClr val="000000"/>
                </a:solidFill>
                <a:latin typeface="Consolas"/>
              </a:rPr>
              <a:t>STEP 1   </a:t>
            </a:r>
            <a:r>
              <a:rPr sz="1300" b="0" i="0">
                <a:solidFill>
                  <a:srgbClr val="000000"/>
                </a:solidFill>
                <a:latin typeface="Calibri"/>
              </a:rPr>
              <a:t>Rainfall intensity factor scales rate by storm pattern (uniform / progressive / burst / decreasing).</a:t>
            </a:r>
          </a:p>
          <a:p>
            <a:pPr>
              <a:spcAft>
                <a:spcPts val="600"/>
              </a:spcAft>
            </a:pPr>
            <a:r>
              <a:rPr sz="1300" b="1" i="0">
                <a:solidFill>
                  <a:srgbClr val="000000"/>
                </a:solidFill>
                <a:latin typeface="Consolas"/>
              </a:rPr>
              <a:t>STEP 2   </a:t>
            </a:r>
            <a:r>
              <a:rPr sz="1300" b="0" i="0">
                <a:solidFill>
                  <a:srgbClr val="000000"/>
                </a:solidFill>
                <a:latin typeface="Calibri"/>
              </a:rPr>
              <a:t>add_rainfall(): rain × intensity × dt × runoff_coeff × wind_map.</a:t>
            </a:r>
          </a:p>
          <a:p>
            <a:pPr>
              <a:spcAft>
                <a:spcPts val="600"/>
              </a:spcAft>
            </a:pPr>
            <a:r>
              <a:rPr sz="1300" b="1" i="0">
                <a:solidFill>
                  <a:srgbClr val="000000"/>
                </a:solidFill>
                <a:latin typeface="Consolas"/>
              </a:rPr>
              <a:t>STEP 3   </a:t>
            </a:r>
            <a:r>
              <a:rPr sz="1300" b="0" i="0">
                <a:solidFill>
                  <a:srgbClr val="000000"/>
                </a:solidFill>
                <a:latin typeface="Calibri"/>
              </a:rPr>
              <a:t>route_water(): D8 surface diffusion, 12 sub-iterations.</a:t>
            </a:r>
          </a:p>
          <a:p>
            <a:pPr>
              <a:spcAft>
                <a:spcPts val="600"/>
              </a:spcAft>
            </a:pPr>
            <a:r>
              <a:rPr sz="1300" b="1" i="0">
                <a:solidFill>
                  <a:srgbClr val="000000"/>
                </a:solidFill>
                <a:latin typeface="Consolas"/>
              </a:rPr>
              <a:t>STEP 4   </a:t>
            </a:r>
            <a:r>
              <a:rPr sz="1300" b="0" i="0">
                <a:solidFill>
                  <a:srgbClr val="000000"/>
                </a:solidFill>
                <a:latin typeface="Calibri"/>
              </a:rPr>
              <a:t>apply_river_overflow(): rises river level; BFS dilation expands flood front; floodwall blocks overflow until overtopped; canal cells receive 40% less river water.</a:t>
            </a:r>
          </a:p>
          <a:p>
            <a:pPr>
              <a:spcAft>
                <a:spcPts val="600"/>
              </a:spcAft>
            </a:pPr>
            <a:r>
              <a:rPr sz="1300" b="1" i="0">
                <a:solidFill>
                  <a:srgbClr val="000000"/>
                </a:solidFill>
                <a:latin typeface="Consolas"/>
              </a:rPr>
              <a:t>STEP 5   </a:t>
            </a:r>
            <a:r>
              <a:rPr sz="1300" b="0" i="0">
                <a:solidFill>
                  <a:srgbClr val="000000"/>
                </a:solidFill>
                <a:latin typeface="Calibri"/>
              </a:rPr>
              <a:t>apply_infiltration(): saturation grows; infiltration removes water (Green-Ampt inspired).</a:t>
            </a:r>
          </a:p>
          <a:p>
            <a:pPr>
              <a:spcAft>
                <a:spcPts val="600"/>
              </a:spcAft>
            </a:pPr>
            <a:r>
              <a:rPr sz="1300" b="1" i="0">
                <a:solidFill>
                  <a:srgbClr val="000000"/>
                </a:solidFill>
                <a:latin typeface="Consolas"/>
              </a:rPr>
              <a:t>STEP 6   </a:t>
            </a:r>
            <a:r>
              <a:rPr sz="1300" b="0" i="0">
                <a:solidFill>
                  <a:srgbClr val="000000"/>
                </a:solidFill>
                <a:latin typeface="Calibri"/>
              </a:rPr>
              <a:t>apply_drainage(): base + channel + canal drainage; shallow water decays.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45720"/>
            <a:ext cx="7315200" cy="36576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05   SYSTEM 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0" y="45720"/>
            <a:ext cx="1828800" cy="36576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/>
            <a:r>
              <a:rPr sz="1100" b="1" i="0">
                <a:solidFill>
                  <a:srgbClr val="FFFFFF"/>
                </a:solidFill>
                <a:latin typeface="Consolas"/>
              </a:rPr>
              <a:t>19 / 39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6446520"/>
            <a:ext cx="11094415" cy="9525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800" b="1" i="0">
                <a:solidFill>
                  <a:srgbClr val="666666"/>
                </a:solidFill>
                <a:latin typeface="Consolas"/>
              </a:rPr>
              <a:t>JADE VALLEY FLOOD SIMULATION   |   DAVAO CITY, PHILIPPINES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0" y="6492240"/>
            <a:ext cx="2468880" cy="2743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/>
            <a:r>
              <a:rPr sz="800" b="1" i="0">
                <a:solidFill>
                  <a:srgbClr val="666666"/>
                </a:solidFill>
                <a:latin typeface="Consolas"/>
              </a:rPr>
              <a:t>FINAL BUILD 100%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594360"/>
            <a:ext cx="11094415" cy="54864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2400" b="1" i="0">
                <a:solidFill>
                  <a:srgbClr val="000000"/>
                </a:solidFill>
                <a:latin typeface="Calibri"/>
              </a:rPr>
              <a:t>STAGES 6–8: BASELINE, RENDER, EXPORT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1097280"/>
            <a:ext cx="1828800" cy="28575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325880"/>
            <a:ext cx="11094415" cy="5074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300" b="1" i="0">
                <a:solidFill>
                  <a:srgbClr val="000000"/>
                </a:solidFill>
                <a:latin typeface="Consolas"/>
              </a:rPr>
              <a:t>STAGE 6   </a:t>
            </a:r>
            <a:r>
              <a:rPr sz="1300" b="0" i="0">
                <a:solidFill>
                  <a:srgbClr val="000000"/>
                </a:solidFill>
                <a:latin typeface="Calibri"/>
              </a:rPr>
              <a:t>Parallel Baseline Run  |  When prevention is enabled, an identical sim runs on the unmodified DEM with no measures; deltas feed the live stats panel.</a:t>
            </a:r>
          </a:p>
          <a:p>
            <a:pPr>
              <a:spcAft>
                <a:spcPts val="600"/>
              </a:spcAft>
            </a:pPr>
            <a:r>
              <a:rPr sz="1300" b="1" i="0">
                <a:solidFill>
                  <a:srgbClr val="000000"/>
                </a:solidFill>
                <a:latin typeface="Consolas"/>
              </a:rPr>
              <a:t>STAGE 7   </a:t>
            </a:r>
            <a:r>
              <a:rPr sz="1300" b="0" i="0">
                <a:solidFill>
                  <a:srgbClr val="000000"/>
                </a:solidFill>
                <a:latin typeface="Calibri"/>
              </a:rPr>
              <a:t>Animation Rendering  |  Five composited Matplotlib layers: satellite background, river channel band, rain depth, river overflow, prevention overlays.</a:t>
            </a:r>
          </a:p>
          <a:p>
            <a:pPr>
              <a:spcAft>
                <a:spcPts val="600"/>
              </a:spcAft>
            </a:pPr>
            <a:r>
              <a:rPr sz="1300" b="1" i="0">
                <a:solidFill>
                  <a:srgbClr val="000000"/>
                </a:solidFill>
                <a:latin typeface="Consolas"/>
              </a:rPr>
              <a:t>STAGE 8   </a:t>
            </a:r>
            <a:r>
              <a:rPr sz="1300" b="0" i="0">
                <a:solidFill>
                  <a:srgbClr val="000000"/>
                </a:solidFill>
                <a:latin typeface="Calibri"/>
              </a:rPr>
              <a:t>Output Export  |  GIF animation, time-series CSVs, and (via the 100% build) master_results_table.csv/.json, master_results_summary.txt, master_reduction_table.txt, plus the HAND/risk-zone artefacts.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931920" cy="685800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914400"/>
            <a:ext cx="3383280" cy="228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4000" b="1" i="0">
                <a:solidFill>
                  <a:srgbClr val="FFFFFF"/>
                </a:solidFill>
                <a:latin typeface="Consolas"/>
              </a:rPr>
              <a:t>06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3291840"/>
            <a:ext cx="3383280" cy="4572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onsolas"/>
              </a:rPr>
              <a:t>SECTION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297680" y="1371600"/>
            <a:ext cx="7680960" cy="13716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4200" b="1" i="0">
                <a:solidFill>
                  <a:srgbClr val="000000"/>
                </a:solidFill>
                <a:latin typeface="Calibri"/>
              </a:rPr>
              <a:t>SYSTEM VARIABLES</a:t>
            </a:r>
          </a:p>
        </p:txBody>
      </p:sp>
      <p:sp>
        <p:nvSpPr>
          <p:cNvPr id="6" name="Rectangle 5"/>
          <p:cNvSpPr/>
          <p:nvPr/>
        </p:nvSpPr>
        <p:spPr>
          <a:xfrm>
            <a:off x="4297680" y="2788920"/>
            <a:ext cx="1828800" cy="28575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297680" y="2926080"/>
            <a:ext cx="7680960" cy="32004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400" b="0" i="0">
                <a:solidFill>
                  <a:srgbClr val="333333"/>
                </a:solidFill>
                <a:latin typeface="Calibri"/>
              </a:rPr>
              <a:t>Inputs, prevention parameters, terrain arrays, and storm presets.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92240"/>
            <a:ext cx="5486400" cy="2743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800" b="1" i="0">
                <a:solidFill>
                  <a:srgbClr val="666666"/>
                </a:solidFill>
                <a:latin typeface="Consolas"/>
              </a:rPr>
              <a:t>JADE VALLEY FLOOD SIMULATION   |   DAVAO CITY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0" y="6492240"/>
            <a:ext cx="2468880" cy="2743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/>
            <a:r>
              <a:rPr sz="800" b="1" i="0">
                <a:solidFill>
                  <a:srgbClr val="666666"/>
                </a:solidFill>
                <a:latin typeface="Consolas"/>
              </a:rPr>
              <a:t>20 / 39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45720"/>
            <a:ext cx="7315200" cy="36576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06   SYSTEM VARIABLES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0" y="45720"/>
            <a:ext cx="1828800" cy="36576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/>
            <a:r>
              <a:rPr sz="1100" b="1" i="0">
                <a:solidFill>
                  <a:srgbClr val="FFFFFF"/>
                </a:solidFill>
                <a:latin typeface="Consolas"/>
              </a:rPr>
              <a:t>21 / 39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6446520"/>
            <a:ext cx="11094415" cy="9525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800" b="1" i="0">
                <a:solidFill>
                  <a:srgbClr val="666666"/>
                </a:solidFill>
                <a:latin typeface="Consolas"/>
              </a:rPr>
              <a:t>JADE VALLEY FLOOD SIMULATION   |   DAVAO CITY, PHILIPPINES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0" y="6492240"/>
            <a:ext cx="2468880" cy="2743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/>
            <a:r>
              <a:rPr sz="800" b="1" i="0">
                <a:solidFill>
                  <a:srgbClr val="666666"/>
                </a:solidFill>
                <a:latin typeface="Consolas"/>
              </a:rPr>
              <a:t>FINAL BUILD 100%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594360"/>
            <a:ext cx="11094415" cy="54864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2400" b="1" i="0">
                <a:solidFill>
                  <a:srgbClr val="000000"/>
                </a:solidFill>
                <a:latin typeface="Calibri"/>
              </a:rPr>
              <a:t>USER INPUT VARIABLES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1097280"/>
            <a:ext cx="1828800" cy="28575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325880"/>
            <a:ext cx="11094415" cy="5074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300" b="1" i="0">
                <a:solidFill>
                  <a:srgbClr val="000000"/>
                </a:solidFill>
                <a:latin typeface="Consolas"/>
              </a:rPr>
              <a:t>rainfall_mm   </a:t>
            </a:r>
            <a:r>
              <a:rPr sz="1300" b="0" i="0">
                <a:solidFill>
                  <a:srgbClr val="000000"/>
                </a:solidFill>
                <a:latin typeface="Calibri"/>
              </a:rPr>
              <a:t>0–600 mm     |  Total storm rainfall.</a:t>
            </a:r>
          </a:p>
          <a:p>
            <a:pPr>
              <a:spcAft>
                <a:spcPts val="600"/>
              </a:spcAft>
            </a:pPr>
            <a:r>
              <a:rPr sz="1300" b="1" i="0">
                <a:solidFill>
                  <a:srgbClr val="000000"/>
                </a:solidFill>
                <a:latin typeface="Consolas"/>
              </a:rPr>
              <a:t>duration_h   </a:t>
            </a:r>
            <a:r>
              <a:rPr sz="1300" b="0" i="0">
                <a:solidFill>
                  <a:srgbClr val="000000"/>
                </a:solidFill>
                <a:latin typeface="Calibri"/>
              </a:rPr>
              <a:t>0.5–24.0 h   |  Storm duration.</a:t>
            </a:r>
          </a:p>
          <a:p>
            <a:pPr>
              <a:spcAft>
                <a:spcPts val="600"/>
              </a:spcAft>
            </a:pPr>
            <a:r>
              <a:rPr sz="1300" b="1" i="0">
                <a:solidFill>
                  <a:srgbClr val="000000"/>
                </a:solidFill>
                <a:latin typeface="Consolas"/>
              </a:rPr>
              <a:t>timestep_min   </a:t>
            </a:r>
            <a:r>
              <a:rPr sz="1300" b="0" i="0">
                <a:solidFill>
                  <a:srgbClr val="000000"/>
                </a:solidFill>
                <a:latin typeface="Calibri"/>
              </a:rPr>
              <a:t>1–60 min     |  Simulation timestep.</a:t>
            </a:r>
          </a:p>
          <a:p>
            <a:pPr>
              <a:spcAft>
                <a:spcPts val="600"/>
              </a:spcAft>
            </a:pPr>
            <a:r>
              <a:rPr sz="1300" b="1" i="0">
                <a:solidFill>
                  <a:srgbClr val="000000"/>
                </a:solidFill>
                <a:latin typeface="Consolas"/>
              </a:rPr>
              <a:t>wind_speed   </a:t>
            </a:r>
            <a:r>
              <a:rPr sz="1300" b="0" i="0">
                <a:solidFill>
                  <a:srgbClr val="000000"/>
                </a:solidFill>
                <a:latin typeface="Calibri"/>
              </a:rPr>
              <a:t>0–200 km/h   |  Wind speed.</a:t>
            </a:r>
          </a:p>
          <a:p>
            <a:pPr>
              <a:spcAft>
                <a:spcPts val="600"/>
              </a:spcAft>
            </a:pPr>
            <a:r>
              <a:rPr sz="1300" b="1" i="0">
                <a:solidFill>
                  <a:srgbClr val="000000"/>
                </a:solidFill>
                <a:latin typeface="Consolas"/>
              </a:rPr>
              <a:t>wind_dir   </a:t>
            </a:r>
            <a:r>
              <a:rPr sz="1300" b="0" i="0">
                <a:solidFill>
                  <a:srgbClr val="000000"/>
                </a:solidFill>
                <a:latin typeface="Calibri"/>
              </a:rPr>
              <a:t>0–360°       |  Wind direction.</a:t>
            </a:r>
          </a:p>
          <a:p>
            <a:pPr>
              <a:spcAft>
                <a:spcPts val="600"/>
              </a:spcAft>
            </a:pPr>
            <a:r>
              <a:rPr sz="1300" b="1" i="0">
                <a:solidFill>
                  <a:srgbClr val="000000"/>
                </a:solidFill>
                <a:latin typeface="Consolas"/>
              </a:rPr>
              <a:t>soil_sat_pct   </a:t>
            </a:r>
            <a:r>
              <a:rPr sz="1300" b="0" i="0">
                <a:solidFill>
                  <a:srgbClr val="000000"/>
                </a:solidFill>
                <a:latin typeface="Calibri"/>
              </a:rPr>
              <a:t>0–100 %      |  Initial soil saturation.</a:t>
            </a:r>
          </a:p>
          <a:p>
            <a:pPr>
              <a:spcAft>
                <a:spcPts val="600"/>
              </a:spcAft>
            </a:pPr>
            <a:r>
              <a:rPr sz="1300" b="1" i="0">
                <a:solidFill>
                  <a:srgbClr val="000000"/>
                </a:solidFill>
                <a:latin typeface="Consolas"/>
              </a:rPr>
              <a:t>drain_cap   </a:t>
            </a:r>
            <a:r>
              <a:rPr sz="1300" b="0" i="0">
                <a:solidFill>
                  <a:srgbClr val="000000"/>
                </a:solidFill>
                <a:latin typeface="Calibri"/>
              </a:rPr>
              <a:t>0–30 mm/hr   |  Baseline drainage capacity.</a:t>
            </a:r>
          </a:p>
          <a:p>
            <a:pPr>
              <a:spcAft>
                <a:spcPts val="600"/>
              </a:spcAft>
            </a:pPr>
            <a:r>
              <a:rPr sz="1300" b="1" i="0">
                <a:solidFill>
                  <a:srgbClr val="000000"/>
                </a:solidFill>
                <a:latin typeface="Consolas"/>
              </a:rPr>
              <a:t>pattern   </a:t>
            </a:r>
            <a:r>
              <a:rPr sz="1300" b="0" i="0">
                <a:solidFill>
                  <a:srgbClr val="000000"/>
                </a:solidFill>
                <a:latin typeface="Calibri"/>
              </a:rPr>
              <a:t>uniform / progressive / burst / decreasing</a:t>
            </a:r>
          </a:p>
          <a:p>
            <a:pPr>
              <a:spcAft>
                <a:spcPts val="600"/>
              </a:spcAft>
            </a:pPr>
            <a:r>
              <a:rPr sz="1300" b="1" i="0">
                <a:solidFill>
                  <a:srgbClr val="000000"/>
                </a:solidFill>
                <a:latin typeface="Consolas"/>
              </a:rPr>
              <a:t>start_time   </a:t>
            </a:r>
            <a:r>
              <a:rPr sz="1300" b="0" i="0">
                <a:solidFill>
                  <a:srgbClr val="000000"/>
                </a:solidFill>
                <a:latin typeface="Calibri"/>
              </a:rPr>
              <a:t>HH:MM        |  Clock time at frame 0.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45720"/>
            <a:ext cx="7315200" cy="36576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06   SYSTEM VARIABLES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0" y="45720"/>
            <a:ext cx="1828800" cy="36576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/>
            <a:r>
              <a:rPr sz="1100" b="1" i="0">
                <a:solidFill>
                  <a:srgbClr val="FFFFFF"/>
                </a:solidFill>
                <a:latin typeface="Consolas"/>
              </a:rPr>
              <a:t>22 / 39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6446520"/>
            <a:ext cx="11094415" cy="9525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800" b="1" i="0">
                <a:solidFill>
                  <a:srgbClr val="666666"/>
                </a:solidFill>
                <a:latin typeface="Consolas"/>
              </a:rPr>
              <a:t>JADE VALLEY FLOOD SIMULATION   |   DAVAO CITY, PHILIPPINES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0" y="6492240"/>
            <a:ext cx="2468880" cy="2743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/>
            <a:r>
              <a:rPr sz="800" b="1" i="0">
                <a:solidFill>
                  <a:srgbClr val="666666"/>
                </a:solidFill>
                <a:latin typeface="Consolas"/>
              </a:rPr>
              <a:t>FINAL BUILD 100%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594360"/>
            <a:ext cx="11094415" cy="54864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2400" b="1" i="0">
                <a:solidFill>
                  <a:srgbClr val="000000"/>
                </a:solidFill>
                <a:latin typeface="Calibri"/>
              </a:rPr>
              <a:t>PREVENTION MEASURE VARIABLES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1097280"/>
            <a:ext cx="1828800" cy="28575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325880"/>
            <a:ext cx="11094415" cy="5074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300" b="1" i="0">
                <a:solidFill>
                  <a:srgbClr val="000000"/>
                </a:solidFill>
                <a:latin typeface="Consolas"/>
              </a:rPr>
              <a:t>use_floodwall / wall_height_m   </a:t>
            </a:r>
            <a:r>
              <a:rPr sz="1300" b="0" i="0">
                <a:solidFill>
                  <a:srgbClr val="000000"/>
                </a:solidFill>
                <a:latin typeface="Calibri"/>
              </a:rPr>
              <a:t>Riverbank Floodwall, crest 0.5–5.0 m (default 1.5 m).</a:t>
            </a:r>
          </a:p>
          <a:p>
            <a:pPr>
              <a:spcAft>
                <a:spcPts val="600"/>
              </a:spcAft>
            </a:pPr>
            <a:r>
              <a:rPr sz="1300" b="1" i="0">
                <a:solidFill>
                  <a:srgbClr val="000000"/>
                </a:solidFill>
                <a:latin typeface="Consolas"/>
              </a:rPr>
              <a:t>use_canal / canal_depth_m   </a:t>
            </a:r>
            <a:r>
              <a:rPr sz="1300" b="0" i="0">
                <a:solidFill>
                  <a:srgbClr val="000000"/>
                </a:solidFill>
                <a:latin typeface="Calibri"/>
              </a:rPr>
              <a:t>Drainage Canal Network, depth 0.5–5.0 m (default 2.0 m).</a:t>
            </a:r>
          </a:p>
          <a:p>
            <a:pPr>
              <a:spcAft>
                <a:spcPts val="600"/>
              </a:spcAft>
            </a:pPr>
            <a:r>
              <a:rPr sz="1300" b="1" i="0">
                <a:solidFill>
                  <a:srgbClr val="000000"/>
                </a:solidFill>
                <a:latin typeface="Consolas"/>
              </a:rPr>
              <a:t>use_basin / basin_depth_m   [75% / 100%]   </a:t>
            </a:r>
            <a:r>
              <a:rPr sz="1300" b="0" i="0">
                <a:solidFill>
                  <a:srgbClr val="000000"/>
                </a:solidFill>
                <a:latin typeface="Calibri"/>
              </a:rPr>
              <a:t>Retention Basin, depth 2.0–10.0 m (default 6.0 m).</a:t>
            </a:r>
          </a:p>
          <a:p>
            <a:pPr>
              <a:spcAft>
                <a:spcPts val="600"/>
              </a:spcAft>
            </a:pPr>
            <a:r>
              <a:rPr sz="1300" b="1" i="0">
                <a:solidFill>
                  <a:srgbClr val="000000"/>
                </a:solidFill>
                <a:latin typeface="Consolas"/>
              </a:rPr>
              <a:t>use_road / road_height_m   [75% / 100%]   </a:t>
            </a:r>
            <a:r>
              <a:rPr sz="1300" b="0" i="0">
                <a:solidFill>
                  <a:srgbClr val="000000"/>
                </a:solidFill>
                <a:latin typeface="Calibri"/>
              </a:rPr>
              <a:t>Elevated Emergency Road, raise 0.5–3.0 m (default 1.5 m).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45720"/>
            <a:ext cx="7315200" cy="36576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06   SYSTEM VARIABLES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0" y="45720"/>
            <a:ext cx="1828800" cy="36576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/>
            <a:r>
              <a:rPr sz="1100" b="1" i="0">
                <a:solidFill>
                  <a:srgbClr val="FFFFFF"/>
                </a:solidFill>
                <a:latin typeface="Consolas"/>
              </a:rPr>
              <a:t>23 / 39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6446520"/>
            <a:ext cx="11094415" cy="9525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800" b="1" i="0">
                <a:solidFill>
                  <a:srgbClr val="666666"/>
                </a:solidFill>
                <a:latin typeface="Consolas"/>
              </a:rPr>
              <a:t>JADE VALLEY FLOOD SIMULATION   |   DAVAO CITY, PHILIPPINES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0" y="6492240"/>
            <a:ext cx="2468880" cy="2743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/>
            <a:r>
              <a:rPr sz="800" b="1" i="0">
                <a:solidFill>
                  <a:srgbClr val="666666"/>
                </a:solidFill>
                <a:latin typeface="Consolas"/>
              </a:rPr>
              <a:t>FINAL BUILD 100%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594360"/>
            <a:ext cx="11094415" cy="54864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2400" b="1" i="0">
                <a:solidFill>
                  <a:srgbClr val="000000"/>
                </a:solidFill>
                <a:latin typeface="Calibri"/>
              </a:rPr>
              <a:t>STORM SCENARIO PRESETS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1097280"/>
            <a:ext cx="1828800" cy="28575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325880"/>
            <a:ext cx="11094415" cy="5074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300" b="0" i="0">
                <a:solidFill>
                  <a:srgbClr val="000000"/>
                </a:solidFill>
                <a:latin typeface="Consolas"/>
              </a:rPr>
              <a:t>ID  NAME                                  RAINFALL   DURATION  PATTERN</a:t>
            </a:r>
          </a:p>
          <a:p>
            <a:pPr>
              <a:spcAft>
                <a:spcPts val="600"/>
              </a:spcAft>
            </a:pPr>
            <a:r>
              <a:rPr sz="1300" b="0" i="0">
                <a:solidFill>
                  <a:srgbClr val="000000"/>
                </a:solidFill>
                <a:latin typeface="Consolas"/>
              </a:rPr>
              <a:t>--------------------------------------------------------------------------------</a:t>
            </a:r>
          </a:p>
          <a:p>
            <a:pPr>
              <a:spcAft>
                <a:spcPts val="600"/>
              </a:spcAft>
            </a:pPr>
            <a:r>
              <a:rPr sz="1300" b="0" i="0">
                <a:solidFill>
                  <a:srgbClr val="000000"/>
                </a:solidFill>
                <a:latin typeface="Consolas"/>
              </a:rPr>
              <a:t> 1  Light Rain                              15 mm       2.0 h  uniform</a:t>
            </a:r>
          </a:p>
          <a:p>
            <a:pPr>
              <a:spcAft>
                <a:spcPts val="600"/>
              </a:spcAft>
            </a:pPr>
            <a:r>
              <a:rPr sz="1300" b="0" i="0">
                <a:solidFill>
                  <a:srgbClr val="000000"/>
                </a:solidFill>
                <a:latin typeface="Consolas"/>
              </a:rPr>
              <a:t> 2  Moderate Rain                           36 mm       3.0 h  progressive</a:t>
            </a:r>
          </a:p>
          <a:p>
            <a:pPr>
              <a:spcAft>
                <a:spcPts val="600"/>
              </a:spcAft>
            </a:pPr>
            <a:r>
              <a:rPr sz="1300" b="0" i="0">
                <a:solidFill>
                  <a:srgbClr val="000000"/>
                </a:solidFill>
                <a:latin typeface="Consolas"/>
              </a:rPr>
              <a:t> 3  Heavy Rain                              90 mm       4.0 h  progressive</a:t>
            </a:r>
          </a:p>
          <a:p>
            <a:pPr>
              <a:spcAft>
                <a:spcPts val="600"/>
              </a:spcAft>
            </a:pPr>
            <a:r>
              <a:rPr sz="1300" b="0" i="0">
                <a:solidFill>
                  <a:srgbClr val="000000"/>
                </a:solidFill>
                <a:latin typeface="Consolas"/>
              </a:rPr>
              <a:t> 4  Typhoon Signal 1 (Tropical Depression) 150 mm       8.0 h  progressive</a:t>
            </a:r>
          </a:p>
          <a:p>
            <a:pPr>
              <a:spcAft>
                <a:spcPts val="600"/>
              </a:spcAft>
            </a:pPr>
            <a:r>
              <a:rPr sz="1300" b="0" i="0">
                <a:solidFill>
                  <a:srgbClr val="000000"/>
                </a:solidFill>
                <a:latin typeface="Consolas"/>
              </a:rPr>
              <a:t> 5  Typhoon Signal 2 (Tropical Storm)      250 mm      12.0 h  burst</a:t>
            </a:r>
          </a:p>
          <a:p>
            <a:pPr>
              <a:spcAft>
                <a:spcPts val="600"/>
              </a:spcAft>
            </a:pPr>
            <a:r>
              <a:rPr sz="1300" b="0" i="0">
                <a:solidFill>
                  <a:srgbClr val="000000"/>
                </a:solidFill>
                <a:latin typeface="Consolas"/>
              </a:rPr>
              <a:t> 6  Typhoon Signal 3 (Severe Typhoon)      400 mm      18.0 h  burst</a:t>
            </a:r>
          </a:p>
          <a:p>
            <a:pPr>
              <a:spcAft>
                <a:spcPts val="600"/>
              </a:spcAft>
            </a:pPr>
            <a:r>
              <a:rPr sz="1300" b="0" i="0">
                <a:solidFill>
                  <a:srgbClr val="000000"/>
                </a:solidFill>
                <a:latin typeface="Consolas"/>
              </a:rPr>
              <a:t> 7  Custom                                 user def   user def  user def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931920" cy="685800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914400"/>
            <a:ext cx="3383280" cy="228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4000" b="1" i="0">
                <a:solidFill>
                  <a:srgbClr val="FFFFFF"/>
                </a:solidFill>
                <a:latin typeface="Consolas"/>
              </a:rPr>
              <a:t>07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3291840"/>
            <a:ext cx="3383280" cy="4572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onsolas"/>
              </a:rPr>
              <a:t>SECTION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297680" y="1371600"/>
            <a:ext cx="7680960" cy="13716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4200" b="1" i="0">
                <a:solidFill>
                  <a:srgbClr val="000000"/>
                </a:solidFill>
                <a:latin typeface="Calibri"/>
              </a:rPr>
              <a:t>ASSUMPTIONS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4297680" y="2788920"/>
            <a:ext cx="1828800" cy="28575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297680" y="2926080"/>
            <a:ext cx="7680960" cy="32004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400" b="0" i="0">
                <a:solidFill>
                  <a:srgbClr val="333333"/>
                </a:solidFill>
                <a:latin typeface="Calibri"/>
              </a:rPr>
              <a:t>Modeling simplifications, scope limitations, and what is not simulated.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92240"/>
            <a:ext cx="5486400" cy="2743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800" b="1" i="0">
                <a:solidFill>
                  <a:srgbClr val="666666"/>
                </a:solidFill>
                <a:latin typeface="Consolas"/>
              </a:rPr>
              <a:t>JADE VALLEY FLOOD SIMULATION   |   DAVAO CITY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0" y="6492240"/>
            <a:ext cx="2468880" cy="2743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/>
            <a:r>
              <a:rPr sz="800" b="1" i="0">
                <a:solidFill>
                  <a:srgbClr val="666666"/>
                </a:solidFill>
                <a:latin typeface="Consolas"/>
              </a:rPr>
              <a:t>24 / 39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45720"/>
            <a:ext cx="7315200" cy="36576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07   ASSUMPTIONS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0" y="45720"/>
            <a:ext cx="1828800" cy="36576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/>
            <a:r>
              <a:rPr sz="1100" b="1" i="0">
                <a:solidFill>
                  <a:srgbClr val="FFFFFF"/>
                </a:solidFill>
                <a:latin typeface="Consolas"/>
              </a:rPr>
              <a:t>25 / 39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6446520"/>
            <a:ext cx="11094415" cy="9525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800" b="1" i="0">
                <a:solidFill>
                  <a:srgbClr val="666666"/>
                </a:solidFill>
                <a:latin typeface="Consolas"/>
              </a:rPr>
              <a:t>JADE VALLEY FLOOD SIMULATION   |   DAVAO CITY, PHILIPPINES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0" y="6492240"/>
            <a:ext cx="2468880" cy="2743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/>
            <a:r>
              <a:rPr sz="800" b="1" i="0">
                <a:solidFill>
                  <a:srgbClr val="666666"/>
                </a:solidFill>
                <a:latin typeface="Consolas"/>
              </a:rPr>
              <a:t>FINAL BUILD 100%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594360"/>
            <a:ext cx="11094415" cy="54864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2400" b="1" i="0">
                <a:solidFill>
                  <a:srgbClr val="000000"/>
                </a:solidFill>
                <a:latin typeface="Calibri"/>
              </a:rPr>
              <a:t>MODELING ASSUMPTIONS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1097280"/>
            <a:ext cx="1828800" cy="28575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325880"/>
            <a:ext cx="11094415" cy="5074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300" b="1" i="0">
                <a:solidFill>
                  <a:srgbClr val="000000"/>
                </a:solidFill>
                <a:latin typeface="Consolas"/>
              </a:rPr>
              <a:t>5.1   </a:t>
            </a:r>
            <a:r>
              <a:rPr sz="1300" b="0" i="0">
                <a:solidFill>
                  <a:srgbClr val="000000"/>
                </a:solidFill>
                <a:latin typeface="Calibri"/>
              </a:rPr>
              <a:t>Single-Direction Flow — D8: each cell routes to one of 8 neighbours (steepest descent).</a:t>
            </a:r>
          </a:p>
          <a:p>
            <a:pPr>
              <a:spcAft>
                <a:spcPts val="600"/>
              </a:spcAft>
            </a:pPr>
            <a:r>
              <a:rPr sz="1300" b="1" i="0">
                <a:solidFill>
                  <a:srgbClr val="000000"/>
                </a:solidFill>
                <a:latin typeface="Consolas"/>
              </a:rPr>
              <a:t>5.2   </a:t>
            </a:r>
            <a:r>
              <a:rPr sz="1300" b="0" i="0">
                <a:solidFill>
                  <a:srgbClr val="000000"/>
                </a:solidFill>
                <a:latin typeface="Calibri"/>
              </a:rPr>
              <a:t>Static DEM — no erosion/sedimentation; prevention measures are applied once before t=0.</a:t>
            </a:r>
          </a:p>
          <a:p>
            <a:pPr>
              <a:spcAft>
                <a:spcPts val="600"/>
              </a:spcAft>
            </a:pPr>
            <a:r>
              <a:rPr sz="1300" b="1" i="0">
                <a:solidFill>
                  <a:srgbClr val="000000"/>
                </a:solidFill>
                <a:latin typeface="Consolas"/>
              </a:rPr>
              <a:t>5.3   </a:t>
            </a:r>
            <a:r>
              <a:rPr sz="1300" b="0" i="0">
                <a:solidFill>
                  <a:srgbClr val="000000"/>
                </a:solidFill>
                <a:latin typeface="Calibri"/>
              </a:rPr>
              <a:t>Uniform Initial Soil Saturation — spatially uniform; infiltration capacity uses elevation as proxy.</a:t>
            </a:r>
          </a:p>
          <a:p>
            <a:pPr>
              <a:spcAft>
                <a:spcPts val="600"/>
              </a:spcAft>
            </a:pPr>
            <a:r>
              <a:rPr sz="1300" b="1" i="0">
                <a:solidFill>
                  <a:srgbClr val="000000"/>
                </a:solidFill>
                <a:latin typeface="Consolas"/>
              </a:rPr>
              <a:t>5.4   </a:t>
            </a:r>
            <a:r>
              <a:rPr sz="1300" b="0" i="0">
                <a:solidFill>
                  <a:srgbClr val="000000"/>
                </a:solidFill>
                <a:latin typeface="Calibri"/>
              </a:rPr>
              <a:t>Simplified Green-Ampt Infiltration — scalar approximation; no explicit wetting front.</a:t>
            </a:r>
          </a:p>
          <a:p>
            <a:pPr>
              <a:spcAft>
                <a:spcPts val="600"/>
              </a:spcAft>
            </a:pPr>
            <a:r>
              <a:rPr sz="1300" b="1" i="0">
                <a:solidFill>
                  <a:srgbClr val="000000"/>
                </a:solidFill>
                <a:latin typeface="Consolas"/>
              </a:rPr>
              <a:t>5.5   </a:t>
            </a:r>
            <a:r>
              <a:rPr sz="1300" b="0" i="0">
                <a:solidFill>
                  <a:srgbClr val="000000"/>
                </a:solidFill>
                <a:latin typeface="Calibri"/>
              </a:rPr>
              <a:t>BFS River Overflow — efficient dilation; not a full shallow-water equation solver.</a:t>
            </a:r>
          </a:p>
          <a:p>
            <a:pPr>
              <a:spcAft>
                <a:spcPts val="600"/>
              </a:spcAft>
            </a:pPr>
            <a:r>
              <a:rPr sz="1300" b="1" i="0">
                <a:solidFill>
                  <a:srgbClr val="000000"/>
                </a:solidFill>
                <a:latin typeface="Consolas"/>
              </a:rPr>
              <a:t>5.6   </a:t>
            </a:r>
            <a:r>
              <a:rPr sz="1300" b="0" i="0">
                <a:solidFill>
                  <a:srgbClr val="000000"/>
                </a:solidFill>
                <a:latin typeface="Calibri"/>
              </a:rPr>
              <a:t>Instantaneous Prevention Deployment — measures are fully effective from t=0.</a:t>
            </a:r>
          </a:p>
          <a:p>
            <a:pPr>
              <a:spcAft>
                <a:spcPts val="600"/>
              </a:spcAft>
            </a:pPr>
            <a:r>
              <a:rPr sz="1300" b="1" i="0">
                <a:solidFill>
                  <a:srgbClr val="000000"/>
                </a:solidFill>
                <a:latin typeface="Consolas"/>
              </a:rPr>
              <a:t>5.7   </a:t>
            </a:r>
            <a:r>
              <a:rPr sz="1300" b="0" i="0">
                <a:solidFill>
                  <a:srgbClr val="000000"/>
                </a:solidFill>
                <a:latin typeface="Calibri"/>
              </a:rPr>
              <a:t>No Groundwater Interaction — surface hydrology only.</a:t>
            </a:r>
          </a:p>
          <a:p>
            <a:pPr>
              <a:spcAft>
                <a:spcPts val="600"/>
              </a:spcAft>
            </a:pPr>
            <a:r>
              <a:rPr sz="1300" b="1" i="0">
                <a:solidFill>
                  <a:srgbClr val="000000"/>
                </a:solidFill>
                <a:latin typeface="Consolas"/>
              </a:rPr>
              <a:t>5.8   </a:t>
            </a:r>
            <a:r>
              <a:rPr sz="1300" b="0" i="0">
                <a:solidFill>
                  <a:srgbClr val="000000"/>
                </a:solidFill>
                <a:latin typeface="Calibri"/>
              </a:rPr>
              <a:t>Wind Uniformity — constant throughout the storm.</a:t>
            </a:r>
          </a:p>
          <a:p>
            <a:pPr>
              <a:spcAft>
                <a:spcPts val="600"/>
              </a:spcAft>
            </a:pPr>
            <a:r>
              <a:rPr sz="1300" b="1" i="0">
                <a:solidFill>
                  <a:srgbClr val="000000"/>
                </a:solidFill>
                <a:latin typeface="Consolas"/>
              </a:rPr>
              <a:t>5.9   </a:t>
            </a:r>
            <a:r>
              <a:rPr sz="1300" b="0" i="0">
                <a:solidFill>
                  <a:srgbClr val="000000"/>
                </a:solidFill>
                <a:latin typeface="Calibri"/>
              </a:rPr>
              <a:t>PAGASA-Calibrated Scenarios — Mindanao / Davao classification.</a:t>
            </a:r>
          </a:p>
          <a:p>
            <a:pPr>
              <a:spcAft>
                <a:spcPts val="600"/>
              </a:spcAft>
            </a:pPr>
            <a:r>
              <a:rPr sz="1300" b="1" i="0">
                <a:solidFill>
                  <a:srgbClr val="000000"/>
                </a:solidFill>
                <a:latin typeface="Consolas"/>
              </a:rPr>
              <a:t>5.10   </a:t>
            </a:r>
            <a:r>
              <a:rPr sz="1300" b="0" i="0">
                <a:solidFill>
                  <a:srgbClr val="000000"/>
                </a:solidFill>
                <a:latin typeface="Calibri"/>
              </a:rPr>
              <a:t>Retention Basin — instantaneous fill, no inlet/spillway model.</a:t>
            </a:r>
          </a:p>
          <a:p>
            <a:pPr>
              <a:spcAft>
                <a:spcPts val="600"/>
              </a:spcAft>
            </a:pPr>
            <a:r>
              <a:rPr sz="1300" b="1" i="0">
                <a:solidFill>
                  <a:srgbClr val="000000"/>
                </a:solidFill>
                <a:latin typeface="Consolas"/>
              </a:rPr>
              <a:t>5.11   </a:t>
            </a:r>
            <a:r>
              <a:rPr sz="1300" b="0" i="0">
                <a:solidFill>
                  <a:srgbClr val="000000"/>
                </a:solidFill>
                <a:latin typeface="Calibri"/>
              </a:rPr>
              <a:t>Grid Resolution — ~30.64 m / cell; sub-grid features approximated via runoff coefficient and drainage capacity.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931920" cy="685800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914400"/>
            <a:ext cx="3383280" cy="228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4000" b="1" i="0">
                <a:solidFill>
                  <a:srgbClr val="FFFFFF"/>
                </a:solidFill>
                <a:latin typeface="Consolas"/>
              </a:rPr>
              <a:t>08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3291840"/>
            <a:ext cx="3383280" cy="4572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onsolas"/>
              </a:rPr>
              <a:t>SECTION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297680" y="1371600"/>
            <a:ext cx="7680960" cy="13716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4200" b="1" i="0">
                <a:solidFill>
                  <a:srgbClr val="000000"/>
                </a:solidFill>
                <a:latin typeface="Calibri"/>
              </a:rPr>
              <a:t>SIMULATION SETUP</a:t>
            </a:r>
          </a:p>
        </p:txBody>
      </p:sp>
      <p:sp>
        <p:nvSpPr>
          <p:cNvPr id="6" name="Rectangle 5"/>
          <p:cNvSpPr/>
          <p:nvPr/>
        </p:nvSpPr>
        <p:spPr>
          <a:xfrm>
            <a:off x="4297680" y="2788920"/>
            <a:ext cx="1828800" cy="28575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297680" y="2926080"/>
            <a:ext cx="7680960" cy="32004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400" b="0" i="0">
                <a:solidFill>
                  <a:srgbClr val="333333"/>
                </a:solidFill>
                <a:latin typeface="Calibri"/>
              </a:rPr>
              <a:t>Software requirements, inputs, run procedures, and numerical config.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92240"/>
            <a:ext cx="5486400" cy="2743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800" b="1" i="0">
                <a:solidFill>
                  <a:srgbClr val="666666"/>
                </a:solidFill>
                <a:latin typeface="Consolas"/>
              </a:rPr>
              <a:t>JADE VALLEY FLOOD SIMULATION   |   DAVAO CITY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0" y="6492240"/>
            <a:ext cx="2468880" cy="2743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/>
            <a:r>
              <a:rPr sz="800" b="1" i="0">
                <a:solidFill>
                  <a:srgbClr val="666666"/>
                </a:solidFill>
                <a:latin typeface="Consolas"/>
              </a:rPr>
              <a:t>26 / 39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45720"/>
            <a:ext cx="7315200" cy="36576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08   SIMULATION SETUP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0" y="45720"/>
            <a:ext cx="1828800" cy="36576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/>
            <a:r>
              <a:rPr sz="1100" b="1" i="0">
                <a:solidFill>
                  <a:srgbClr val="FFFFFF"/>
                </a:solidFill>
                <a:latin typeface="Consolas"/>
              </a:rPr>
              <a:t>27 / 39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6446520"/>
            <a:ext cx="11094415" cy="9525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800" b="1" i="0">
                <a:solidFill>
                  <a:srgbClr val="666666"/>
                </a:solidFill>
                <a:latin typeface="Consolas"/>
              </a:rPr>
              <a:t>JADE VALLEY FLOOD SIMULATION   |   DAVAO CITY, PHILIPPINES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0" y="6492240"/>
            <a:ext cx="2468880" cy="2743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/>
            <a:r>
              <a:rPr sz="800" b="1" i="0">
                <a:solidFill>
                  <a:srgbClr val="666666"/>
                </a:solidFill>
                <a:latin typeface="Consolas"/>
              </a:rPr>
              <a:t>FINAL BUILD 100%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594360"/>
            <a:ext cx="11094415" cy="54864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2400" b="1" i="0">
                <a:solidFill>
                  <a:srgbClr val="000000"/>
                </a:solidFill>
                <a:latin typeface="Calibri"/>
              </a:rPr>
              <a:t>SOFTWARE + INPUTS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1097280"/>
            <a:ext cx="1828800" cy="28575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325880"/>
            <a:ext cx="11094415" cy="5074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300" b="1" i="0">
                <a:solidFill>
                  <a:srgbClr val="000000"/>
                </a:solidFill>
                <a:latin typeface="Consolas"/>
              </a:rPr>
              <a:t>Python   </a:t>
            </a:r>
            <a:r>
              <a:rPr sz="1300" b="0" i="0">
                <a:solidFill>
                  <a:srgbClr val="000000"/>
                </a:solidFill>
                <a:latin typeface="Calibri"/>
              </a:rPr>
              <a:t>3.10 or higher</a:t>
            </a:r>
          </a:p>
          <a:p>
            <a:pPr>
              <a:spcAft>
                <a:spcPts val="600"/>
              </a:spcAft>
            </a:pPr>
            <a:r>
              <a:rPr sz="1300" b="1" i="0">
                <a:solidFill>
                  <a:srgbClr val="000000"/>
                </a:solidFill>
                <a:latin typeface="Consolas"/>
              </a:rPr>
              <a:t>Virtual env   </a:t>
            </a:r>
            <a:r>
              <a:rPr sz="1300" b="0" i="0">
                <a:solidFill>
                  <a:srgbClr val="000000"/>
                </a:solidFill>
                <a:latin typeface="Calibri"/>
              </a:rPr>
              <a:t>.venv (project root)</a:t>
            </a:r>
          </a:p>
          <a:p>
            <a:pPr>
              <a:spcAft>
                <a:spcPts val="600"/>
              </a:spcAft>
            </a:pPr>
            <a:r>
              <a:rPr sz="1300" b="1" i="0">
                <a:solidFill>
                  <a:srgbClr val="000000"/>
                </a:solidFill>
                <a:latin typeface="Consolas"/>
              </a:rPr>
              <a:t>Required pkgs   </a:t>
            </a:r>
            <a:r>
              <a:rPr sz="1300" b="0" i="0">
                <a:solidFill>
                  <a:srgbClr val="000000"/>
                </a:solidFill>
                <a:latin typeface="Calibri"/>
              </a:rPr>
              <a:t>numpy  scipy  matplotlib  rasterio  Pillow  ezdxf  pysheds  pandas  python-pptx  python-docx</a:t>
            </a:r>
          </a:p>
          <a:p>
            <a:pPr>
              <a:spcAft>
                <a:spcPts val="600"/>
              </a:spcAft>
            </a:pPr>
            <a:r>
              <a:rPr sz="1300" b="0" i="0">
                <a:solidFill>
                  <a:srgbClr val="000000"/>
                </a:solidFill>
                <a:latin typeface="Calibri"/>
              </a:rPr>
              <a:t/>
            </a:r>
          </a:p>
          <a:p>
            <a:pPr>
              <a:spcAft>
                <a:spcPts val="600"/>
              </a:spcAft>
            </a:pPr>
            <a:r>
              <a:rPr sz="1300" b="1" i="0">
                <a:solidFill>
                  <a:srgbClr val="000000"/>
                </a:solidFill>
                <a:latin typeface="Consolas"/>
              </a:rPr>
              <a:t>Required   </a:t>
            </a:r>
            <a:r>
              <a:rPr sz="1300" b="0" i="0">
                <a:solidFill>
                  <a:srgbClr val="000000"/>
                </a:solidFill>
                <a:latin typeface="Calibri"/>
              </a:rPr>
              <a:t>Map Topography/3D/JVS_Simulation.tif    (GeoTIFF DEM)</a:t>
            </a:r>
          </a:p>
          <a:p>
            <a:pPr>
              <a:spcAft>
                <a:spcPts val="600"/>
              </a:spcAft>
            </a:pPr>
            <a:r>
              <a:rPr sz="1300" b="1" i="0">
                <a:solidFill>
                  <a:srgbClr val="000000"/>
                </a:solidFill>
                <a:latin typeface="Consolas"/>
              </a:rPr>
              <a:t>Required   </a:t>
            </a:r>
            <a:r>
              <a:rPr sz="1300" b="0" i="0">
                <a:solidFill>
                  <a:srgbClr val="000000"/>
                </a:solidFill>
                <a:latin typeface="Calibri"/>
              </a:rPr>
              <a:t>Map Topography/2D/JVS_2D.jpg            (background)</a:t>
            </a:r>
          </a:p>
          <a:p>
            <a:pPr>
              <a:spcAft>
                <a:spcPts val="600"/>
              </a:spcAft>
            </a:pPr>
            <a:r>
              <a:rPr sz="1300" b="1" i="0">
                <a:solidFill>
                  <a:srgbClr val="000000"/>
                </a:solidFill>
                <a:latin typeface="Consolas"/>
              </a:rPr>
              <a:t>Optional   </a:t>
            </a:r>
            <a:r>
              <a:rPr sz="1300" b="0" i="0">
                <a:solidFill>
                  <a:srgbClr val="000000"/>
                </a:solidFill>
                <a:latin typeface="Calibri"/>
              </a:rPr>
              <a:t>Map Topography/2D/...2D_vectorial.dxf   (vector overlay)</a:t>
            </a:r>
          </a:p>
          <a:p>
            <a:pPr>
              <a:spcAft>
                <a:spcPts val="600"/>
              </a:spcAft>
            </a:pPr>
            <a:r>
              <a:rPr sz="1300" b="1" i="0">
                <a:solidFill>
                  <a:srgbClr val="000000"/>
                </a:solidFill>
                <a:latin typeface="Consolas"/>
              </a:rPr>
              <a:t>Optional   </a:t>
            </a:r>
            <a:r>
              <a:rPr sz="1300" b="0" i="0">
                <a:solidFill>
                  <a:srgbClr val="000000"/>
                </a:solidFill>
                <a:latin typeface="Calibri"/>
              </a:rPr>
              <a:t>Map Topography/3D/...3D_modeling.dxf    (3D reference)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45720"/>
            <a:ext cx="7315200" cy="36576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08   SIMULATION SETUP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0" y="45720"/>
            <a:ext cx="1828800" cy="36576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/>
            <a:r>
              <a:rPr sz="1100" b="1" i="0">
                <a:solidFill>
                  <a:srgbClr val="FFFFFF"/>
                </a:solidFill>
                <a:latin typeface="Consolas"/>
              </a:rPr>
              <a:t>28 / 39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6446520"/>
            <a:ext cx="11094415" cy="9525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800" b="1" i="0">
                <a:solidFill>
                  <a:srgbClr val="666666"/>
                </a:solidFill>
                <a:latin typeface="Consolas"/>
              </a:rPr>
              <a:t>JADE VALLEY FLOOD SIMULATION   |   DAVAO CITY, PHILIPPINES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0" y="6492240"/>
            <a:ext cx="2468880" cy="2743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/>
            <a:r>
              <a:rPr sz="800" b="1" i="0">
                <a:solidFill>
                  <a:srgbClr val="666666"/>
                </a:solidFill>
                <a:latin typeface="Consolas"/>
              </a:rPr>
              <a:t>FINAL BUILD 100%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594360"/>
            <a:ext cx="11094415" cy="54864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2400" b="1" i="0">
                <a:solidFill>
                  <a:srgbClr val="000000"/>
                </a:solidFill>
                <a:latin typeface="Calibri"/>
              </a:rPr>
              <a:t>RUNNING THE SYSTEM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1097280"/>
            <a:ext cx="1828800" cy="28575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325880"/>
            <a:ext cx="11094415" cy="5074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300" b="1" i="0">
                <a:solidFill>
                  <a:srgbClr val="000000"/>
                </a:solidFill>
                <a:latin typeface="Consolas"/>
              </a:rPr>
              <a:t>25% (GUI)   </a:t>
            </a:r>
            <a:r>
              <a:rPr sz="1300" b="0" i="0">
                <a:solidFill>
                  <a:srgbClr val="000000"/>
                </a:solidFill>
                <a:latin typeface="Calibri"/>
              </a:rPr>
              <a:t>python "Main/flood_simulation_25%.py"             # baseline only</a:t>
            </a:r>
          </a:p>
          <a:p>
            <a:pPr>
              <a:spcAft>
                <a:spcPts val="600"/>
              </a:spcAft>
            </a:pPr>
            <a:r>
              <a:rPr sz="1300" b="1" i="0">
                <a:solidFill>
                  <a:srgbClr val="000000"/>
                </a:solidFill>
                <a:latin typeface="Consolas"/>
              </a:rPr>
              <a:t>50% (GUI)   </a:t>
            </a:r>
            <a:r>
              <a:rPr sz="1300" b="0" i="0">
                <a:solidFill>
                  <a:srgbClr val="000000"/>
                </a:solidFill>
                <a:latin typeface="Calibri"/>
              </a:rPr>
              <a:t>python "Main/flood_simulation_50%.py"             # + Wall + Canal</a:t>
            </a:r>
          </a:p>
          <a:p>
            <a:pPr>
              <a:spcAft>
                <a:spcPts val="600"/>
              </a:spcAft>
            </a:pPr>
            <a:r>
              <a:rPr sz="1300" b="1" i="0">
                <a:solidFill>
                  <a:srgbClr val="000000"/>
                </a:solidFill>
                <a:latin typeface="Consolas"/>
              </a:rPr>
              <a:t>75% (GUI)   </a:t>
            </a:r>
            <a:r>
              <a:rPr sz="1300" b="0" i="0">
                <a:solidFill>
                  <a:srgbClr val="000000"/>
                </a:solidFill>
                <a:latin typeface="Calibri"/>
              </a:rPr>
              <a:t>python "Main/flood_simulation_75%.py"             # + Basin + Road</a:t>
            </a:r>
          </a:p>
          <a:p>
            <a:pPr>
              <a:spcAft>
                <a:spcPts val="600"/>
              </a:spcAft>
            </a:pPr>
            <a:r>
              <a:rPr sz="1300" b="1" i="0">
                <a:solidFill>
                  <a:srgbClr val="000000"/>
                </a:solidFill>
                <a:latin typeface="Consolas"/>
              </a:rPr>
              <a:t>100% (GUI+matrix)   </a:t>
            </a:r>
            <a:r>
              <a:rPr sz="1300" b="0" i="0">
                <a:solidFill>
                  <a:srgbClr val="000000"/>
                </a:solidFill>
                <a:latin typeface="Calibri"/>
              </a:rPr>
              <a:t>python "Main/flood_simulation_100%.py"            # full system</a:t>
            </a:r>
          </a:p>
          <a:p>
            <a:pPr>
              <a:spcAft>
                <a:spcPts val="600"/>
              </a:spcAft>
            </a:pPr>
            <a:r>
              <a:rPr sz="1300" b="1" i="0">
                <a:solidFill>
                  <a:srgbClr val="000000"/>
                </a:solidFill>
                <a:latin typeface="Consolas"/>
              </a:rPr>
              <a:t>100% headless   </a:t>
            </a:r>
            <a:r>
              <a:rPr sz="1300" b="0" i="0">
                <a:solidFill>
                  <a:srgbClr val="000000"/>
                </a:solidFill>
                <a:latin typeface="Calibri"/>
              </a:rPr>
              <a:t>python "Main/flood_simulation_100%.py" --matrix-only</a:t>
            </a:r>
          </a:p>
          <a:p>
            <a:pPr>
              <a:spcAft>
                <a:spcPts val="600"/>
              </a:spcAft>
            </a:pPr>
            <a:r>
              <a:rPr sz="1300" b="1" i="0">
                <a:solidFill>
                  <a:srgbClr val="000000"/>
                </a:solidFill>
                <a:latin typeface="Consolas"/>
              </a:rPr>
              <a:t>HAND analysis   </a:t>
            </a:r>
            <a:r>
              <a:rPr sz="1300" b="0" i="0">
                <a:solidFill>
                  <a:srgbClr val="000000"/>
                </a:solidFill>
                <a:latin typeface="Calibri"/>
              </a:rPr>
              <a:t>python "Main/hand_risk_analysis.py"               # idempotent</a:t>
            </a:r>
          </a:p>
          <a:p>
            <a:pPr>
              <a:spcAft>
                <a:spcPts val="600"/>
              </a:spcAft>
            </a:pPr>
            <a:r>
              <a:rPr sz="1300" b="1" i="0">
                <a:solidFill>
                  <a:srgbClr val="000000"/>
                </a:solidFill>
                <a:latin typeface="Consolas"/>
              </a:rPr>
              <a:t>Reality check   </a:t>
            </a:r>
            <a:r>
              <a:rPr sz="1300" b="0" i="0">
                <a:solidFill>
                  <a:srgbClr val="000000"/>
                </a:solidFill>
                <a:latin typeface="Calibri"/>
              </a:rPr>
              <a:t>python "Main/run_validation.py"                   # vs historical events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45720"/>
            <a:ext cx="7315200" cy="36576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08   SIMULATION SETUP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0" y="45720"/>
            <a:ext cx="1828800" cy="36576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/>
            <a:r>
              <a:rPr sz="1100" b="1" i="0">
                <a:solidFill>
                  <a:srgbClr val="FFFFFF"/>
                </a:solidFill>
                <a:latin typeface="Consolas"/>
              </a:rPr>
              <a:t>29 / 39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6446520"/>
            <a:ext cx="11094415" cy="9525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800" b="1" i="0">
                <a:solidFill>
                  <a:srgbClr val="666666"/>
                </a:solidFill>
                <a:latin typeface="Consolas"/>
              </a:rPr>
              <a:t>JADE VALLEY FLOOD SIMULATION   |   DAVAO CITY, PHILIPPINES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0" y="6492240"/>
            <a:ext cx="2468880" cy="2743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/>
            <a:r>
              <a:rPr sz="800" b="1" i="0">
                <a:solidFill>
                  <a:srgbClr val="666666"/>
                </a:solidFill>
                <a:latin typeface="Consolas"/>
              </a:rPr>
              <a:t>FINAL BUILD 100%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594360"/>
            <a:ext cx="11094415" cy="54864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2400" b="1" i="0">
                <a:solidFill>
                  <a:srgbClr val="000000"/>
                </a:solidFill>
                <a:latin typeface="Calibri"/>
              </a:rPr>
              <a:t>NUMERICAL CONFIGURATION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1097280"/>
            <a:ext cx="1828800" cy="28575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325880"/>
            <a:ext cx="11094415" cy="5074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300" b="0" i="0">
                <a:solidFill>
                  <a:srgbClr val="000000"/>
                </a:solidFill>
                <a:latin typeface="Consolas"/>
              </a:rPr>
              <a:t>DEM Grid                  : 57 rows × 61 cols</a:t>
            </a:r>
          </a:p>
          <a:p>
            <a:pPr>
              <a:spcAft>
                <a:spcPts val="600"/>
              </a:spcAft>
            </a:pPr>
            <a:r>
              <a:rPr sz="1300" b="0" i="0">
                <a:solidFill>
                  <a:srgbClr val="000000"/>
                </a:solidFill>
                <a:latin typeface="Consolas"/>
              </a:rPr>
              <a:t>Cell Size                 : 30.64 m</a:t>
            </a:r>
          </a:p>
          <a:p>
            <a:pPr>
              <a:spcAft>
                <a:spcPts val="600"/>
              </a:spcAft>
            </a:pPr>
            <a:r>
              <a:rPr sz="1300" b="0" i="0">
                <a:solidFill>
                  <a:srgbClr val="000000"/>
                </a:solidFill>
                <a:latin typeface="Consolas"/>
              </a:rPr>
              <a:t>Total Study Area          : 326.44 ha</a:t>
            </a:r>
          </a:p>
          <a:p>
            <a:pPr>
              <a:spcAft>
                <a:spcPts val="600"/>
              </a:spcAft>
            </a:pPr>
            <a:r>
              <a:rPr sz="1300" b="0" i="0">
                <a:solidFill>
                  <a:srgbClr val="000000"/>
                </a:solidFill>
                <a:latin typeface="Consolas"/>
              </a:rPr>
              <a:t>Elevation Range           : 2.00 m – 71.75 m</a:t>
            </a:r>
          </a:p>
          <a:p>
            <a:pPr>
              <a:spcAft>
                <a:spcPts val="600"/>
              </a:spcAft>
            </a:pPr>
            <a:r>
              <a:rPr sz="1300" b="0" i="0">
                <a:solidFill>
                  <a:srgbClr val="000000"/>
                </a:solidFill>
                <a:latin typeface="Consolas"/>
              </a:rPr>
              <a:t>Mean Elevation            : 20.74 m</a:t>
            </a:r>
          </a:p>
          <a:p>
            <a:pPr>
              <a:spcAft>
                <a:spcPts val="600"/>
              </a:spcAft>
            </a:pPr>
            <a:r>
              <a:rPr sz="1300" b="0" i="0">
                <a:solidFill>
                  <a:srgbClr val="000000"/>
                </a:solidFill>
                <a:latin typeface="Consolas"/>
              </a:rPr>
              <a:t>Mean Slope                : 4.3°</a:t>
            </a:r>
          </a:p>
          <a:p>
            <a:pPr>
              <a:spcAft>
                <a:spcPts val="600"/>
              </a:spcAft>
            </a:pPr>
            <a:r>
              <a:rPr sz="1300" b="0" i="0">
                <a:solidFill>
                  <a:srgbClr val="000000"/>
                </a:solidFill>
                <a:latin typeface="Consolas"/>
              </a:rPr>
              <a:t>Stream Threshold          : Top 8% of flow accumulation (92nd pctile)</a:t>
            </a:r>
          </a:p>
          <a:p>
            <a:pPr>
              <a:spcAft>
                <a:spcPts val="600"/>
              </a:spcAft>
            </a:pPr>
            <a:r>
              <a:rPr sz="1300" b="0" i="0">
                <a:solidFill>
                  <a:srgbClr val="000000"/>
                </a:solidFill>
                <a:latin typeface="Consolas"/>
              </a:rPr>
              <a:t>HAND Smooth Sigma         : 0.5</a:t>
            </a:r>
          </a:p>
          <a:p>
            <a:pPr>
              <a:spcAft>
                <a:spcPts val="600"/>
              </a:spcAft>
            </a:pPr>
            <a:r>
              <a:rPr sz="1300" b="0" i="0">
                <a:solidFill>
                  <a:srgbClr val="000000"/>
                </a:solidFill>
                <a:latin typeface="Consolas"/>
              </a:rPr>
              <a:t>Curve Number              : 85  (urban mix reference)</a:t>
            </a:r>
          </a:p>
          <a:p>
            <a:pPr>
              <a:spcAft>
                <a:spcPts val="600"/>
              </a:spcAft>
            </a:pPr>
            <a:r>
              <a:rPr sz="1300" b="0" i="0">
                <a:solidFill>
                  <a:srgbClr val="000000"/>
                </a:solidFill>
                <a:latin typeface="Consolas"/>
              </a:rPr>
              <a:t>Routing Sub-steps         : 12 D8 iterations per timestep</a:t>
            </a:r>
          </a:p>
          <a:p>
            <a:pPr>
              <a:spcAft>
                <a:spcPts val="600"/>
              </a:spcAft>
            </a:pPr>
            <a:r>
              <a:rPr sz="1300" b="0" i="0">
                <a:solidFill>
                  <a:srgbClr val="000000"/>
                </a:solidFill>
                <a:latin typeface="Consolas"/>
              </a:rPr>
              <a:t>River Overflow BFS Hops   : 1 (light) to 4-6 (typhoon)</a:t>
            </a:r>
          </a:p>
          <a:p>
            <a:pPr>
              <a:spcAft>
                <a:spcPts val="600"/>
              </a:spcAft>
            </a:pPr>
            <a:r>
              <a:rPr sz="1300" b="0" i="0">
                <a:solidFill>
                  <a:srgbClr val="000000"/>
                </a:solidFill>
                <a:latin typeface="Consolas"/>
              </a:rPr>
              <a:t>Matrix Timestep           : 20 min  (100% build default)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931920" cy="685800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914400"/>
            <a:ext cx="3383280" cy="228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4000" b="1" i="0">
                <a:solidFill>
                  <a:srgbClr val="FFFFFF"/>
                </a:solidFill>
                <a:latin typeface="Consolas"/>
              </a:rPr>
              <a:t>09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3291840"/>
            <a:ext cx="3383280" cy="4572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onsolas"/>
              </a:rPr>
              <a:t>SECTION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297680" y="1371600"/>
            <a:ext cx="7680960" cy="13716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4200" b="1" i="0">
                <a:solidFill>
                  <a:srgbClr val="000000"/>
                </a:solidFill>
                <a:latin typeface="Calibri"/>
              </a:rPr>
              <a:t>RESULTS</a:t>
            </a:r>
          </a:p>
        </p:txBody>
      </p:sp>
      <p:sp>
        <p:nvSpPr>
          <p:cNvPr id="6" name="Rectangle 5"/>
          <p:cNvSpPr/>
          <p:nvPr/>
        </p:nvSpPr>
        <p:spPr>
          <a:xfrm>
            <a:off x="4297680" y="2788920"/>
            <a:ext cx="1828800" cy="28575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297680" y="2926080"/>
            <a:ext cx="7680960" cy="32004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400" b="0" i="0">
                <a:solidFill>
                  <a:srgbClr val="333333"/>
                </a:solidFill>
                <a:latin typeface="Calibri"/>
              </a:rPr>
              <a:t>Risk zonation, return-period analysis, and the 24-cell master dataset.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92240"/>
            <a:ext cx="5486400" cy="2743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800" b="1" i="0">
                <a:solidFill>
                  <a:srgbClr val="666666"/>
                </a:solidFill>
                <a:latin typeface="Consolas"/>
              </a:rPr>
              <a:t>JADE VALLEY FLOOD SIMULATION   |   DAVAO CITY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0" y="6492240"/>
            <a:ext cx="2468880" cy="2743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/>
            <a:r>
              <a:rPr sz="800" b="1" i="0">
                <a:solidFill>
                  <a:srgbClr val="666666"/>
                </a:solidFill>
                <a:latin typeface="Consolas"/>
              </a:rPr>
              <a:t>30 / 39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45720"/>
            <a:ext cx="7315200" cy="36576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09   RESULTS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0" y="45720"/>
            <a:ext cx="1828800" cy="36576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/>
            <a:r>
              <a:rPr sz="1100" b="1" i="0">
                <a:solidFill>
                  <a:srgbClr val="FFFFFF"/>
                </a:solidFill>
                <a:latin typeface="Consolas"/>
              </a:rPr>
              <a:t>31 / 39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6446520"/>
            <a:ext cx="11094415" cy="9525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800" b="1" i="0">
                <a:solidFill>
                  <a:srgbClr val="666666"/>
                </a:solidFill>
                <a:latin typeface="Consolas"/>
              </a:rPr>
              <a:t>JADE VALLEY FLOOD SIMULATION   |   DAVAO CITY, PHILIPPINES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0" y="6492240"/>
            <a:ext cx="2468880" cy="2743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/>
            <a:r>
              <a:rPr sz="800" b="1" i="0">
                <a:solidFill>
                  <a:srgbClr val="666666"/>
                </a:solidFill>
                <a:latin typeface="Consolas"/>
              </a:rPr>
              <a:t>FINAL BUILD 100%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594360"/>
            <a:ext cx="11094415" cy="54864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2400" b="1" i="0">
                <a:solidFill>
                  <a:srgbClr val="000000"/>
                </a:solidFill>
                <a:latin typeface="Calibri"/>
              </a:rPr>
              <a:t>HAND RISK ZONES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1097280"/>
            <a:ext cx="1828800" cy="28575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325880"/>
            <a:ext cx="11094415" cy="5074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300" b="0" i="0">
                <a:solidFill>
                  <a:srgbClr val="000000"/>
                </a:solidFill>
                <a:latin typeface="Calibri"/>
              </a:rPr>
              <a:t>The HAND (Height Above Nearest Drainage) model classifies every terrain cell into one of five risk zones:</a:t>
            </a:r>
          </a:p>
          <a:p>
            <a:pPr>
              <a:spcAft>
                <a:spcPts val="600"/>
              </a:spcAft>
            </a:pPr>
            <a:r>
              <a:rPr sz="1300" b="0" i="0">
                <a:solidFill>
                  <a:srgbClr val="000000"/>
                </a:solidFill>
                <a:latin typeface="Calibri"/>
              </a:rPr>
              <a:t/>
            </a:r>
          </a:p>
          <a:p>
            <a:pPr>
              <a:spcAft>
                <a:spcPts val="600"/>
              </a:spcAft>
            </a:pPr>
            <a:r>
              <a:rPr sz="1300" b="1" i="0">
                <a:solidFill>
                  <a:srgbClr val="000000"/>
                </a:solidFill>
                <a:latin typeface="Consolas"/>
              </a:rPr>
              <a:t>VERY HIGH   </a:t>
            </a:r>
            <a:r>
              <a:rPr sz="1300" b="0" i="0">
                <a:solidFill>
                  <a:srgbClr val="000000"/>
                </a:solidFill>
                <a:latin typeface="Calibri"/>
              </a:rPr>
              <a:t>26.66 ha (8.2%)   — Floods in Heavy Rain ≥ 90 mm. Mandatory evacuation during typhoons.</a:t>
            </a:r>
          </a:p>
          <a:p>
            <a:pPr>
              <a:spcAft>
                <a:spcPts val="600"/>
              </a:spcAft>
            </a:pPr>
            <a:r>
              <a:rPr sz="1300" b="1" i="0">
                <a:solidFill>
                  <a:srgbClr val="000000"/>
                </a:solidFill>
                <a:latin typeface="Consolas"/>
              </a:rPr>
              <a:t>HIGH   </a:t>
            </a:r>
            <a:r>
              <a:rPr sz="1300" b="0" i="0">
                <a:solidFill>
                  <a:srgbClr val="000000"/>
                </a:solidFill>
                <a:latin typeface="Calibri"/>
              </a:rPr>
              <a:t>31.83 ha (9.7%)   — Floods in Typhoon Signal 1 ≥ 150 mm. Pre-evacuation alert.</a:t>
            </a:r>
          </a:p>
          <a:p>
            <a:pPr>
              <a:spcAft>
                <a:spcPts val="600"/>
              </a:spcAft>
            </a:pPr>
            <a:r>
              <a:rPr sz="1300" b="1" i="0">
                <a:solidFill>
                  <a:srgbClr val="000000"/>
                </a:solidFill>
                <a:latin typeface="Consolas"/>
              </a:rPr>
              <a:t>MEDIUM   </a:t>
            </a:r>
            <a:r>
              <a:rPr sz="1300" b="0" i="0">
                <a:solidFill>
                  <a:srgbClr val="000000"/>
                </a:solidFill>
                <a:latin typeface="Calibri"/>
              </a:rPr>
              <a:t>32.30 ha (9.9%)   — Floods in Typhoon Signal 2 ≥ 250 mm. Monitor advisories.</a:t>
            </a:r>
          </a:p>
          <a:p>
            <a:pPr>
              <a:spcAft>
                <a:spcPts val="600"/>
              </a:spcAft>
            </a:pPr>
            <a:r>
              <a:rPr sz="1300" b="1" i="0">
                <a:solidFill>
                  <a:srgbClr val="000000"/>
                </a:solidFill>
                <a:latin typeface="Consolas"/>
              </a:rPr>
              <a:t>LOW   </a:t>
            </a:r>
            <a:r>
              <a:rPr sz="1300" b="0" i="0">
                <a:solidFill>
                  <a:srgbClr val="000000"/>
                </a:solidFill>
                <a:latin typeface="Calibri"/>
              </a:rPr>
              <a:t>35.86 ha (11.0%)  — Floods only in extreme events (Sig 3 / ≥ 400 mm). Standby.</a:t>
            </a:r>
          </a:p>
          <a:p>
            <a:pPr>
              <a:spcAft>
                <a:spcPts val="600"/>
              </a:spcAft>
            </a:pPr>
            <a:r>
              <a:rPr sz="1300" b="1" i="0">
                <a:solidFill>
                  <a:srgbClr val="000000"/>
                </a:solidFill>
                <a:latin typeface="Consolas"/>
              </a:rPr>
              <a:t>SAFE   </a:t>
            </a:r>
            <a:r>
              <a:rPr sz="1300" b="0" i="0">
                <a:solidFill>
                  <a:srgbClr val="000000"/>
                </a:solidFill>
                <a:latin typeface="Calibri"/>
              </a:rPr>
              <a:t>174.81 ha (53.6%) — Above 100-yr flood level. Suitable as evacuation destination.</a:t>
            </a:r>
          </a:p>
          <a:p>
            <a:pPr>
              <a:spcAft>
                <a:spcPts val="600"/>
              </a:spcAft>
            </a:pPr>
            <a:r>
              <a:rPr sz="1300" b="0" i="0">
                <a:solidFill>
                  <a:srgbClr val="000000"/>
                </a:solidFill>
                <a:latin typeface="Calibri"/>
              </a:rPr>
              <a:t/>
            </a:r>
          </a:p>
          <a:p>
            <a:pPr>
              <a:spcAft>
                <a:spcPts val="600"/>
              </a:spcAft>
            </a:pPr>
            <a:r>
              <a:rPr sz="1300" b="0" i="0">
                <a:solidFill>
                  <a:srgbClr val="000000"/>
                </a:solidFill>
                <a:latin typeface="Calibri"/>
              </a:rPr>
              <a:t>Reference: Nobre et al. (2011), Journal of Hydrology 404:13–29.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45720"/>
            <a:ext cx="7315200" cy="36576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09   RESULTS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0" y="45720"/>
            <a:ext cx="1828800" cy="36576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/>
            <a:r>
              <a:rPr sz="1100" b="1" i="0">
                <a:solidFill>
                  <a:srgbClr val="FFFFFF"/>
                </a:solidFill>
                <a:latin typeface="Consolas"/>
              </a:rPr>
              <a:t>32 / 39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6446520"/>
            <a:ext cx="11094415" cy="9525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800" b="1" i="0">
                <a:solidFill>
                  <a:srgbClr val="666666"/>
                </a:solidFill>
                <a:latin typeface="Consolas"/>
              </a:rPr>
              <a:t>JADE VALLEY FLOOD SIMULATION   |   DAVAO CITY, PHILIPPINES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0" y="6492240"/>
            <a:ext cx="2468880" cy="2743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/>
            <a:r>
              <a:rPr sz="800" b="1" i="0">
                <a:solidFill>
                  <a:srgbClr val="666666"/>
                </a:solidFill>
                <a:latin typeface="Consolas"/>
              </a:rPr>
              <a:t>FINAL BUILD 100%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594360"/>
            <a:ext cx="11094415" cy="54864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2400" b="1" i="0">
                <a:solidFill>
                  <a:srgbClr val="000000"/>
                </a:solidFill>
                <a:latin typeface="Calibri"/>
              </a:rPr>
              <a:t>RETURN PERIOD ANALYSIS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1097280"/>
            <a:ext cx="1828800" cy="28575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325880"/>
            <a:ext cx="11094415" cy="5074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300" b="1" i="0">
                <a:solidFill>
                  <a:srgbClr val="000000"/>
                </a:solidFill>
                <a:latin typeface="Consolas"/>
              </a:rPr>
              <a:t>5-YEAR   </a:t>
            </a:r>
            <a:r>
              <a:rPr sz="1300" b="0" i="0">
                <a:solidFill>
                  <a:srgbClr val="000000"/>
                </a:solidFill>
                <a:latin typeface="Calibri"/>
              </a:rPr>
              <a:t>HAND threshold 1.0 m  —  51.64 ha (15.8%) flooded  —  mean depth 0.73 m.</a:t>
            </a:r>
          </a:p>
          <a:p>
            <a:pPr>
              <a:spcAft>
                <a:spcPts val="600"/>
              </a:spcAft>
            </a:pPr>
            <a:r>
              <a:rPr sz="1300" b="1" i="0">
                <a:solidFill>
                  <a:srgbClr val="000000"/>
                </a:solidFill>
                <a:latin typeface="Consolas"/>
              </a:rPr>
              <a:t>10-YEAR   </a:t>
            </a:r>
            <a:r>
              <a:rPr sz="1300" b="0" i="0">
                <a:solidFill>
                  <a:srgbClr val="000000"/>
                </a:solidFill>
                <a:latin typeface="Calibri"/>
              </a:rPr>
              <a:t>HAND threshold 2.0 m  —  70.04 ha (21.5%) flooded  —  mean depth 1.41 m.</a:t>
            </a:r>
          </a:p>
          <a:p>
            <a:pPr>
              <a:spcAft>
                <a:spcPts val="600"/>
              </a:spcAft>
            </a:pPr>
            <a:r>
              <a:rPr sz="1300" b="1" i="0">
                <a:solidFill>
                  <a:srgbClr val="000000"/>
                </a:solidFill>
                <a:latin typeface="Consolas"/>
              </a:rPr>
              <a:t>25-YEAR   </a:t>
            </a:r>
            <a:r>
              <a:rPr sz="1300" b="0" i="0">
                <a:solidFill>
                  <a:srgbClr val="000000"/>
                </a:solidFill>
                <a:latin typeface="Calibri"/>
              </a:rPr>
              <a:t>HAND threshold 3.5 m  —  90.03 ha (27.6%) flooded  —  mean depth 2.43 m.</a:t>
            </a:r>
          </a:p>
          <a:p>
            <a:pPr>
              <a:spcAft>
                <a:spcPts val="600"/>
              </a:spcAft>
            </a:pPr>
            <a:r>
              <a:rPr sz="1300" b="1" i="0">
                <a:solidFill>
                  <a:srgbClr val="000000"/>
                </a:solidFill>
                <a:latin typeface="Consolas"/>
              </a:rPr>
              <a:t>100-YEAR   </a:t>
            </a:r>
            <a:r>
              <a:rPr sz="1300" b="0" i="0">
                <a:solidFill>
                  <a:srgbClr val="000000"/>
                </a:solidFill>
                <a:latin typeface="Calibri"/>
              </a:rPr>
              <a:t>HAND threshold 6.0 m  —  115.76 ha (35.5%) flooded  —  mean depth 4.12 m.</a:t>
            </a:r>
          </a:p>
          <a:p>
            <a:pPr>
              <a:spcAft>
                <a:spcPts val="600"/>
              </a:spcAft>
            </a:pPr>
            <a:r>
              <a:rPr sz="1300" b="0" i="0">
                <a:solidFill>
                  <a:srgbClr val="000000"/>
                </a:solidFill>
                <a:latin typeface="Calibri"/>
              </a:rPr>
              <a:t/>
            </a:r>
          </a:p>
          <a:p>
            <a:pPr>
              <a:spcAft>
                <a:spcPts val="600"/>
              </a:spcAft>
            </a:pPr>
            <a:r>
              <a:rPr sz="1300" b="0" i="0">
                <a:solidFill>
                  <a:srgbClr val="000000"/>
                </a:solidFill>
                <a:latin typeface="Calibri"/>
              </a:rPr>
              <a:t>These results underline the severity of the 100-year design event (35.5% of the subdivision inundated) and the rationale for the layered prevention strategy evaluated by the simulation matrix.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45720"/>
            <a:ext cx="7315200" cy="36576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09   RESULTS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0" y="45720"/>
            <a:ext cx="1828800" cy="36576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/>
            <a:r>
              <a:rPr sz="1100" b="1" i="0">
                <a:solidFill>
                  <a:srgbClr val="FFFFFF"/>
                </a:solidFill>
                <a:latin typeface="Consolas"/>
              </a:rPr>
              <a:t>33 / 39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6446520"/>
            <a:ext cx="11094415" cy="9525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800" b="1" i="0">
                <a:solidFill>
                  <a:srgbClr val="666666"/>
                </a:solidFill>
                <a:latin typeface="Consolas"/>
              </a:rPr>
              <a:t>JADE VALLEY FLOOD SIMULATION   |   DAVAO CITY, PHILIPPINES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0" y="6492240"/>
            <a:ext cx="2468880" cy="2743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/>
            <a:r>
              <a:rPr sz="800" b="1" i="0">
                <a:solidFill>
                  <a:srgbClr val="666666"/>
                </a:solidFill>
                <a:latin typeface="Consolas"/>
              </a:rPr>
              <a:t>FINAL BUILD 100%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594360"/>
            <a:ext cx="11094415" cy="54864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2400" b="1" i="0">
                <a:solidFill>
                  <a:srgbClr val="000000"/>
                </a:solidFill>
                <a:latin typeface="Calibri"/>
              </a:rPr>
              <a:t>MASTER RESULTS: ALL 24 RUNS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1097280"/>
            <a:ext cx="1828800" cy="28575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48640" y="1325880"/>
          <a:ext cx="10058400" cy="48463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68880"/>
                <a:gridCol w="1737360"/>
                <a:gridCol w="1005840"/>
                <a:gridCol w="1097280"/>
                <a:gridCol w="1463040"/>
                <a:gridCol w="1005840"/>
                <a:gridCol w="1280160"/>
              </a:tblGrid>
              <a:tr h="193852">
                <a:tc>
                  <a:txBody>
                    <a:bodyPr lIns="36000" rIns="36000" tIns="18000" bIns="18000"/>
                    <a:lstStyle/>
                    <a:p>
                      <a:pPr algn="l"/>
                      <a:r>
                        <a:rPr sz="1000" b="1" i="0">
                          <a:solidFill>
                            <a:srgbClr val="FFFFFF"/>
                          </a:solidFill>
                          <a:latin typeface="Consolas"/>
                        </a:rPr>
                        <a:t>Scenario</a:t>
                      </a:r>
                    </a:p>
                  </a:txBody>
                  <a:tcPr>
                    <a:solidFill>
                      <a:srgbClr val="000000"/>
                    </a:solidFill>
                  </a:tcPr>
                </a:tc>
                <a:tc>
                  <a:txBody>
                    <a:bodyPr lIns="36000" rIns="36000" tIns="18000" bIns="18000"/>
                    <a:lstStyle/>
                    <a:p>
                      <a:pPr algn="l"/>
                      <a:r>
                        <a:rPr sz="1000" b="1" i="0">
                          <a:solidFill>
                            <a:srgbClr val="FFFFFF"/>
                          </a:solidFill>
                          <a:latin typeface="Consolas"/>
                        </a:rPr>
                        <a:t>Config</a:t>
                      </a:r>
                    </a:p>
                  </a:txBody>
                  <a:tcPr>
                    <a:solidFill>
                      <a:srgbClr val="000000"/>
                    </a:solidFill>
                  </a:tcPr>
                </a:tc>
                <a:tc>
                  <a:txBody>
                    <a:bodyPr lIns="36000" rIns="36000" tIns="18000" bIns="18000"/>
                    <a:lstStyle/>
                    <a:p>
                      <a:pPr algn="l"/>
                      <a:r>
                        <a:rPr sz="1000" b="1" i="0">
                          <a:solidFill>
                            <a:srgbClr val="FFFFFF"/>
                          </a:solidFill>
                          <a:latin typeface="Consolas"/>
                        </a:rPr>
                        <a:t>Peak %</a:t>
                      </a:r>
                    </a:p>
                  </a:txBody>
                  <a:tcPr>
                    <a:solidFill>
                      <a:srgbClr val="000000"/>
                    </a:solidFill>
                  </a:tcPr>
                </a:tc>
                <a:tc>
                  <a:txBody>
                    <a:bodyPr lIns="36000" rIns="36000" tIns="18000" bIns="18000"/>
                    <a:lstStyle/>
                    <a:p>
                      <a:pPr algn="l"/>
                      <a:r>
                        <a:rPr sz="1000" b="1" i="0">
                          <a:solidFill>
                            <a:srgbClr val="FFFFFF"/>
                          </a:solidFill>
                          <a:latin typeface="Consolas"/>
                        </a:rPr>
                        <a:t>Peak ha</a:t>
                      </a:r>
                    </a:p>
                  </a:txBody>
                  <a:tcPr>
                    <a:solidFill>
                      <a:srgbClr val="000000"/>
                    </a:solidFill>
                  </a:tcPr>
                </a:tc>
                <a:tc>
                  <a:txBody>
                    <a:bodyPr lIns="36000" rIns="36000" tIns="18000" bIns="18000"/>
                    <a:lstStyle/>
                    <a:p>
                      <a:pPr algn="l"/>
                      <a:r>
                        <a:rPr sz="1000" b="1" i="0">
                          <a:solidFill>
                            <a:srgbClr val="FFFFFF"/>
                          </a:solidFill>
                          <a:latin typeface="Consolas"/>
                        </a:rPr>
                        <a:t>Max Depth mm</a:t>
                      </a:r>
                    </a:p>
                  </a:txBody>
                  <a:tcPr>
                    <a:solidFill>
                      <a:srgbClr val="000000"/>
                    </a:solidFill>
                  </a:tcPr>
                </a:tc>
                <a:tc>
                  <a:txBody>
                    <a:bodyPr lIns="36000" rIns="36000" tIns="18000" bIns="18000"/>
                    <a:lstStyle/>
                    <a:p>
                      <a:pPr algn="l"/>
                      <a:r>
                        <a:rPr sz="1000" b="1" i="0">
                          <a:solidFill>
                            <a:srgbClr val="FFFFFF"/>
                          </a:solidFill>
                          <a:latin typeface="Consolas"/>
                        </a:rPr>
                        <a:t>River %</a:t>
                      </a:r>
                    </a:p>
                  </a:txBody>
                  <a:tcPr>
                    <a:solidFill>
                      <a:srgbClr val="000000"/>
                    </a:solidFill>
                  </a:tcPr>
                </a:tc>
                <a:tc>
                  <a:txBody>
                    <a:bodyPr lIns="36000" rIns="36000" tIns="18000" bIns="18000"/>
                    <a:lstStyle/>
                    <a:p>
                      <a:pPr algn="l"/>
                      <a:r>
                        <a:rPr sz="1000" b="1" i="0">
                          <a:solidFill>
                            <a:srgbClr val="FFFFFF"/>
                          </a:solidFill>
                          <a:latin typeface="Consolas"/>
                        </a:rPr>
                        <a:t>Onset min</a:t>
                      </a:r>
                    </a:p>
                  </a:txBody>
                  <a:tcPr>
                    <a:solidFill>
                      <a:srgbClr val="000000"/>
                    </a:solidFill>
                  </a:tcPr>
                </a:tc>
              </a:tr>
              <a:tr h="193852">
                <a:tc>
                  <a:txBody>
                    <a:bodyPr lIns="36000" rIns="36000" tIns="14000" bIns="14000"/>
                    <a:lstStyle/>
                    <a:p>
                      <a:pPr algn="l"/>
                      <a:r>
                        <a:rPr sz="850" b="0" i="0">
                          <a:solidFill>
                            <a:srgbClr val="000000"/>
                          </a:solidFill>
                          <a:latin typeface="Consolas"/>
                        </a:rPr>
                        <a:t>Light Rain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36000" rIns="36000" tIns="14000" bIns="14000"/>
                    <a:lstStyle/>
                    <a:p>
                      <a:pPr algn="l"/>
                      <a:r>
                        <a:rPr sz="850" b="0" i="0">
                          <a:solidFill>
                            <a:srgbClr val="000000"/>
                          </a:solidFill>
                          <a:latin typeface="Consolas"/>
                        </a:rPr>
                        <a:t>Baseline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36000" rIns="36000" tIns="14000" bIns="14000"/>
                    <a:lstStyle/>
                    <a:p>
                      <a:pPr algn="l"/>
                      <a:r>
                        <a:rPr sz="850" b="0" i="0">
                          <a:solidFill>
                            <a:srgbClr val="000000"/>
                          </a:solidFill>
                          <a:latin typeface="Consolas"/>
                        </a:rPr>
                        <a:t>0.0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36000" rIns="36000" tIns="14000" bIns="14000"/>
                    <a:lstStyle/>
                    <a:p>
                      <a:pPr algn="l"/>
                      <a:r>
                        <a:rPr sz="850" b="0" i="0">
                          <a:solidFill>
                            <a:srgbClr val="000000"/>
                          </a:solidFill>
                          <a:latin typeface="Consolas"/>
                        </a:rPr>
                        <a:t>0.0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36000" rIns="36000" tIns="14000" bIns="14000"/>
                    <a:lstStyle/>
                    <a:p>
                      <a:pPr algn="l"/>
                      <a:r>
                        <a:rPr sz="850" b="0" i="0">
                          <a:solidFill>
                            <a:srgbClr val="000000"/>
                          </a:solidFill>
                          <a:latin typeface="Consolas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36000" rIns="36000" tIns="14000" bIns="14000"/>
                    <a:lstStyle/>
                    <a:p>
                      <a:pPr algn="l"/>
                      <a:r>
                        <a:rPr sz="850" b="0" i="0">
                          <a:solidFill>
                            <a:srgbClr val="000000"/>
                          </a:solidFill>
                          <a:latin typeface="Consolas"/>
                        </a:rPr>
                        <a:t>0.0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36000" rIns="36000" tIns="14000" bIns="14000"/>
                    <a:lstStyle/>
                    <a:p>
                      <a:pPr algn="l"/>
                      <a:r>
                        <a:rPr sz="850" b="0" i="0">
                          <a:solidFill>
                            <a:srgbClr val="000000"/>
                          </a:solidFill>
                          <a:latin typeface="Consolas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93852">
                <a:tc>
                  <a:txBody>
                    <a:bodyPr lIns="36000" rIns="36000" tIns="14000" bIns="14000"/>
                    <a:lstStyle/>
                    <a:p>
                      <a:pPr algn="l"/>
                      <a:r>
                        <a:rPr sz="850" b="0" i="0">
                          <a:solidFill>
                            <a:srgbClr val="000000"/>
                          </a:solidFill>
                          <a:latin typeface="Consolas"/>
                        </a:rPr>
                        <a:t>Light Rain</a:t>
                      </a:r>
                    </a:p>
                  </a:txBody>
                  <a:tcPr>
                    <a:solidFill>
                      <a:srgbClr val="EEEEEE"/>
                    </a:solidFill>
                  </a:tcPr>
                </a:tc>
                <a:tc>
                  <a:txBody>
                    <a:bodyPr lIns="36000" rIns="36000" tIns="14000" bIns="14000"/>
                    <a:lstStyle/>
                    <a:p>
                      <a:pPr algn="l"/>
                      <a:r>
                        <a:rPr sz="850" b="0" i="0">
                          <a:solidFill>
                            <a:srgbClr val="000000"/>
                          </a:solidFill>
                          <a:latin typeface="Consolas"/>
                        </a:rPr>
                        <a:t>Wall+Canal</a:t>
                      </a:r>
                    </a:p>
                  </a:txBody>
                  <a:tcPr>
                    <a:solidFill>
                      <a:srgbClr val="EEEEEE"/>
                    </a:solidFill>
                  </a:tcPr>
                </a:tc>
                <a:tc>
                  <a:txBody>
                    <a:bodyPr lIns="36000" rIns="36000" tIns="14000" bIns="14000"/>
                    <a:lstStyle/>
                    <a:p>
                      <a:pPr algn="l"/>
                      <a:r>
                        <a:rPr sz="850" b="0" i="0">
                          <a:solidFill>
                            <a:srgbClr val="000000"/>
                          </a:solidFill>
                          <a:latin typeface="Consolas"/>
                        </a:rPr>
                        <a:t>0.0</a:t>
                      </a:r>
                    </a:p>
                  </a:txBody>
                  <a:tcPr>
                    <a:solidFill>
                      <a:srgbClr val="EEEEEE"/>
                    </a:solidFill>
                  </a:tcPr>
                </a:tc>
                <a:tc>
                  <a:txBody>
                    <a:bodyPr lIns="36000" rIns="36000" tIns="14000" bIns="14000"/>
                    <a:lstStyle/>
                    <a:p>
                      <a:pPr algn="l"/>
                      <a:r>
                        <a:rPr sz="850" b="0" i="0">
                          <a:solidFill>
                            <a:srgbClr val="000000"/>
                          </a:solidFill>
                          <a:latin typeface="Consolas"/>
                        </a:rPr>
                        <a:t>0.0</a:t>
                      </a:r>
                    </a:p>
                  </a:txBody>
                  <a:tcPr>
                    <a:solidFill>
                      <a:srgbClr val="EEEEEE"/>
                    </a:solidFill>
                  </a:tcPr>
                </a:tc>
                <a:tc>
                  <a:txBody>
                    <a:bodyPr lIns="36000" rIns="36000" tIns="14000" bIns="14000"/>
                    <a:lstStyle/>
                    <a:p>
                      <a:pPr algn="l"/>
                      <a:r>
                        <a:rPr sz="850" b="0" i="0">
                          <a:solidFill>
                            <a:srgbClr val="000000"/>
                          </a:solidFill>
                          <a:latin typeface="Consolas"/>
                        </a:rPr>
                        <a:t>0</a:t>
                      </a:r>
                    </a:p>
                  </a:txBody>
                  <a:tcPr>
                    <a:solidFill>
                      <a:srgbClr val="EEEEEE"/>
                    </a:solidFill>
                  </a:tcPr>
                </a:tc>
                <a:tc>
                  <a:txBody>
                    <a:bodyPr lIns="36000" rIns="36000" tIns="14000" bIns="14000"/>
                    <a:lstStyle/>
                    <a:p>
                      <a:pPr algn="l"/>
                      <a:r>
                        <a:rPr sz="850" b="0" i="0">
                          <a:solidFill>
                            <a:srgbClr val="000000"/>
                          </a:solidFill>
                          <a:latin typeface="Consolas"/>
                        </a:rPr>
                        <a:t>0.0</a:t>
                      </a:r>
                    </a:p>
                  </a:txBody>
                  <a:tcPr>
                    <a:solidFill>
                      <a:srgbClr val="EEEEEE"/>
                    </a:solidFill>
                  </a:tcPr>
                </a:tc>
                <a:tc>
                  <a:txBody>
                    <a:bodyPr lIns="36000" rIns="36000" tIns="14000" bIns="14000"/>
                    <a:lstStyle/>
                    <a:p>
                      <a:pPr algn="l"/>
                      <a:r>
                        <a:rPr sz="850" b="0" i="0">
                          <a:solidFill>
                            <a:srgbClr val="000000"/>
                          </a:solidFill>
                          <a:latin typeface="Consolas"/>
                        </a:rPr>
                        <a:t>—</a:t>
                      </a:r>
                    </a:p>
                  </a:txBody>
                  <a:tcPr>
                    <a:solidFill>
                      <a:srgbClr val="EEEEEE"/>
                    </a:solidFill>
                  </a:tcPr>
                </a:tc>
              </a:tr>
              <a:tr h="193852">
                <a:tc>
                  <a:txBody>
                    <a:bodyPr lIns="36000" rIns="36000" tIns="14000" bIns="14000"/>
                    <a:lstStyle/>
                    <a:p>
                      <a:pPr algn="l"/>
                      <a:r>
                        <a:rPr sz="850" b="0" i="0">
                          <a:solidFill>
                            <a:srgbClr val="000000"/>
                          </a:solidFill>
                          <a:latin typeface="Consolas"/>
                        </a:rPr>
                        <a:t>Light Rain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36000" rIns="36000" tIns="14000" bIns="14000"/>
                    <a:lstStyle/>
                    <a:p>
                      <a:pPr algn="l"/>
                      <a:r>
                        <a:rPr sz="850" b="0" i="0">
                          <a:solidFill>
                            <a:srgbClr val="000000"/>
                          </a:solidFill>
                          <a:latin typeface="Consolas"/>
                        </a:rPr>
                        <a:t>Full Prevention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36000" rIns="36000" tIns="14000" bIns="14000"/>
                    <a:lstStyle/>
                    <a:p>
                      <a:pPr algn="l"/>
                      <a:r>
                        <a:rPr sz="850" b="0" i="0">
                          <a:solidFill>
                            <a:srgbClr val="000000"/>
                          </a:solidFill>
                          <a:latin typeface="Consolas"/>
                        </a:rPr>
                        <a:t>0.0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36000" rIns="36000" tIns="14000" bIns="14000"/>
                    <a:lstStyle/>
                    <a:p>
                      <a:pPr algn="l"/>
                      <a:r>
                        <a:rPr sz="850" b="0" i="0">
                          <a:solidFill>
                            <a:srgbClr val="000000"/>
                          </a:solidFill>
                          <a:latin typeface="Consolas"/>
                        </a:rPr>
                        <a:t>0.0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36000" rIns="36000" tIns="14000" bIns="14000"/>
                    <a:lstStyle/>
                    <a:p>
                      <a:pPr algn="l"/>
                      <a:r>
                        <a:rPr sz="850" b="0" i="0">
                          <a:solidFill>
                            <a:srgbClr val="000000"/>
                          </a:solidFill>
                          <a:latin typeface="Consolas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36000" rIns="36000" tIns="14000" bIns="14000"/>
                    <a:lstStyle/>
                    <a:p>
                      <a:pPr algn="l"/>
                      <a:r>
                        <a:rPr sz="850" b="0" i="0">
                          <a:solidFill>
                            <a:srgbClr val="000000"/>
                          </a:solidFill>
                          <a:latin typeface="Consolas"/>
                        </a:rPr>
                        <a:t>0.0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36000" rIns="36000" tIns="14000" bIns="14000"/>
                    <a:lstStyle/>
                    <a:p>
                      <a:pPr algn="l"/>
                      <a:r>
                        <a:rPr sz="850" b="0" i="0">
                          <a:solidFill>
                            <a:srgbClr val="000000"/>
                          </a:solidFill>
                          <a:latin typeface="Consolas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93852">
                <a:tc>
                  <a:txBody>
                    <a:bodyPr lIns="36000" rIns="36000" tIns="14000" bIns="14000"/>
                    <a:lstStyle/>
                    <a:p>
                      <a:pPr algn="l"/>
                      <a:r>
                        <a:rPr sz="850" b="0" i="0">
                          <a:solidFill>
                            <a:srgbClr val="000000"/>
                          </a:solidFill>
                          <a:latin typeface="Consolas"/>
                        </a:rPr>
                        <a:t>Light Rain</a:t>
                      </a:r>
                    </a:p>
                  </a:txBody>
                  <a:tcPr>
                    <a:solidFill>
                      <a:srgbClr val="EEEEEE"/>
                    </a:solidFill>
                  </a:tcPr>
                </a:tc>
                <a:tc>
                  <a:txBody>
                    <a:bodyPr lIns="36000" rIns="36000" tIns="14000" bIns="14000"/>
                    <a:lstStyle/>
                    <a:p>
                      <a:pPr algn="l"/>
                      <a:r>
                        <a:rPr sz="850" b="0" i="0">
                          <a:solidFill>
                            <a:srgbClr val="000000"/>
                          </a:solidFill>
                          <a:latin typeface="Consolas"/>
                        </a:rPr>
                        <a:t>Large Prevention</a:t>
                      </a:r>
                    </a:p>
                  </a:txBody>
                  <a:tcPr>
                    <a:solidFill>
                      <a:srgbClr val="EEEEEE"/>
                    </a:solidFill>
                  </a:tcPr>
                </a:tc>
                <a:tc>
                  <a:txBody>
                    <a:bodyPr lIns="36000" rIns="36000" tIns="14000" bIns="14000"/>
                    <a:lstStyle/>
                    <a:p>
                      <a:pPr algn="l"/>
                      <a:r>
                        <a:rPr sz="850" b="0" i="0">
                          <a:solidFill>
                            <a:srgbClr val="000000"/>
                          </a:solidFill>
                          <a:latin typeface="Consolas"/>
                        </a:rPr>
                        <a:t>0.0</a:t>
                      </a:r>
                    </a:p>
                  </a:txBody>
                  <a:tcPr>
                    <a:solidFill>
                      <a:srgbClr val="EEEEEE"/>
                    </a:solidFill>
                  </a:tcPr>
                </a:tc>
                <a:tc>
                  <a:txBody>
                    <a:bodyPr lIns="36000" rIns="36000" tIns="14000" bIns="14000"/>
                    <a:lstStyle/>
                    <a:p>
                      <a:pPr algn="l"/>
                      <a:r>
                        <a:rPr sz="850" b="0" i="0">
                          <a:solidFill>
                            <a:srgbClr val="000000"/>
                          </a:solidFill>
                          <a:latin typeface="Consolas"/>
                        </a:rPr>
                        <a:t>0.0</a:t>
                      </a:r>
                    </a:p>
                  </a:txBody>
                  <a:tcPr>
                    <a:solidFill>
                      <a:srgbClr val="EEEEEE"/>
                    </a:solidFill>
                  </a:tcPr>
                </a:tc>
                <a:tc>
                  <a:txBody>
                    <a:bodyPr lIns="36000" rIns="36000" tIns="14000" bIns="14000"/>
                    <a:lstStyle/>
                    <a:p>
                      <a:pPr algn="l"/>
                      <a:r>
                        <a:rPr sz="850" b="0" i="0">
                          <a:solidFill>
                            <a:srgbClr val="000000"/>
                          </a:solidFill>
                          <a:latin typeface="Consolas"/>
                        </a:rPr>
                        <a:t>0</a:t>
                      </a:r>
                    </a:p>
                  </a:txBody>
                  <a:tcPr>
                    <a:solidFill>
                      <a:srgbClr val="EEEEEE"/>
                    </a:solidFill>
                  </a:tcPr>
                </a:tc>
                <a:tc>
                  <a:txBody>
                    <a:bodyPr lIns="36000" rIns="36000" tIns="14000" bIns="14000"/>
                    <a:lstStyle/>
                    <a:p>
                      <a:pPr algn="l"/>
                      <a:r>
                        <a:rPr sz="850" b="0" i="0">
                          <a:solidFill>
                            <a:srgbClr val="000000"/>
                          </a:solidFill>
                          <a:latin typeface="Consolas"/>
                        </a:rPr>
                        <a:t>0.0</a:t>
                      </a:r>
                    </a:p>
                  </a:txBody>
                  <a:tcPr>
                    <a:solidFill>
                      <a:srgbClr val="EEEEEE"/>
                    </a:solidFill>
                  </a:tcPr>
                </a:tc>
                <a:tc>
                  <a:txBody>
                    <a:bodyPr lIns="36000" rIns="36000" tIns="14000" bIns="14000"/>
                    <a:lstStyle/>
                    <a:p>
                      <a:pPr algn="l"/>
                      <a:r>
                        <a:rPr sz="850" b="0" i="0">
                          <a:solidFill>
                            <a:srgbClr val="000000"/>
                          </a:solidFill>
                          <a:latin typeface="Consolas"/>
                        </a:rPr>
                        <a:t>—</a:t>
                      </a:r>
                    </a:p>
                  </a:txBody>
                  <a:tcPr>
                    <a:solidFill>
                      <a:srgbClr val="EEEEEE"/>
                    </a:solidFill>
                  </a:tcPr>
                </a:tc>
              </a:tr>
              <a:tr h="193852">
                <a:tc>
                  <a:txBody>
                    <a:bodyPr lIns="36000" rIns="36000" tIns="14000" bIns="14000"/>
                    <a:lstStyle/>
                    <a:p>
                      <a:pPr algn="l"/>
                      <a:r>
                        <a:rPr sz="850" b="0" i="0">
                          <a:solidFill>
                            <a:srgbClr val="000000"/>
                          </a:solidFill>
                          <a:latin typeface="Consolas"/>
                        </a:rPr>
                        <a:t>Moderate Rain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36000" rIns="36000" tIns="14000" bIns="14000"/>
                    <a:lstStyle/>
                    <a:p>
                      <a:pPr algn="l"/>
                      <a:r>
                        <a:rPr sz="850" b="0" i="0">
                          <a:solidFill>
                            <a:srgbClr val="000000"/>
                          </a:solidFill>
                          <a:latin typeface="Consolas"/>
                        </a:rPr>
                        <a:t>Baseline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36000" rIns="36000" tIns="14000" bIns="14000"/>
                    <a:lstStyle/>
                    <a:p>
                      <a:pPr algn="l"/>
                      <a:r>
                        <a:rPr sz="850" b="0" i="0">
                          <a:solidFill>
                            <a:srgbClr val="000000"/>
                          </a:solidFill>
                          <a:latin typeface="Consolas"/>
                        </a:rPr>
                        <a:t>21.43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36000" rIns="36000" tIns="14000" bIns="14000"/>
                    <a:lstStyle/>
                    <a:p>
                      <a:pPr algn="l"/>
                      <a:r>
                        <a:rPr sz="850" b="0" i="0">
                          <a:solidFill>
                            <a:srgbClr val="000000"/>
                          </a:solidFill>
                          <a:latin typeface="Consolas"/>
                        </a:rPr>
                        <a:t>69.94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36000" rIns="36000" tIns="14000" bIns="14000"/>
                    <a:lstStyle/>
                    <a:p>
                      <a:pPr algn="l"/>
                      <a:r>
                        <a:rPr sz="850" b="0" i="0">
                          <a:solidFill>
                            <a:srgbClr val="000000"/>
                          </a:solidFill>
                          <a:latin typeface="Consolas"/>
                        </a:rPr>
                        <a:t>214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36000" rIns="36000" tIns="14000" bIns="14000"/>
                    <a:lstStyle/>
                    <a:p>
                      <a:pPr algn="l"/>
                      <a:r>
                        <a:rPr sz="850" b="0" i="0">
                          <a:solidFill>
                            <a:srgbClr val="000000"/>
                          </a:solidFill>
                          <a:latin typeface="Consolas"/>
                        </a:rPr>
                        <a:t>21.17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36000" rIns="36000" tIns="14000" bIns="14000"/>
                    <a:lstStyle/>
                    <a:p>
                      <a:pPr algn="l"/>
                      <a:r>
                        <a:rPr sz="850" b="0" i="0">
                          <a:solidFill>
                            <a:srgbClr val="000000"/>
                          </a:solidFill>
                          <a:latin typeface="Consolas"/>
                        </a:rPr>
                        <a:t>160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93852">
                <a:tc>
                  <a:txBody>
                    <a:bodyPr lIns="36000" rIns="36000" tIns="14000" bIns="14000"/>
                    <a:lstStyle/>
                    <a:p>
                      <a:pPr algn="l"/>
                      <a:r>
                        <a:rPr sz="850" b="0" i="0">
                          <a:solidFill>
                            <a:srgbClr val="000000"/>
                          </a:solidFill>
                          <a:latin typeface="Consolas"/>
                        </a:rPr>
                        <a:t>Moderate Rain</a:t>
                      </a:r>
                    </a:p>
                  </a:txBody>
                  <a:tcPr>
                    <a:solidFill>
                      <a:srgbClr val="EEEEEE"/>
                    </a:solidFill>
                  </a:tcPr>
                </a:tc>
                <a:tc>
                  <a:txBody>
                    <a:bodyPr lIns="36000" rIns="36000" tIns="14000" bIns="14000"/>
                    <a:lstStyle/>
                    <a:p>
                      <a:pPr algn="l"/>
                      <a:r>
                        <a:rPr sz="850" b="0" i="0">
                          <a:solidFill>
                            <a:srgbClr val="000000"/>
                          </a:solidFill>
                          <a:latin typeface="Consolas"/>
                        </a:rPr>
                        <a:t>Wall+Canal</a:t>
                      </a:r>
                    </a:p>
                  </a:txBody>
                  <a:tcPr>
                    <a:solidFill>
                      <a:srgbClr val="EEEEEE"/>
                    </a:solidFill>
                  </a:tcPr>
                </a:tc>
                <a:tc>
                  <a:txBody>
                    <a:bodyPr lIns="36000" rIns="36000" tIns="14000" bIns="14000"/>
                    <a:lstStyle/>
                    <a:p>
                      <a:pPr algn="l"/>
                      <a:r>
                        <a:rPr sz="850" b="0" i="0">
                          <a:solidFill>
                            <a:srgbClr val="000000"/>
                          </a:solidFill>
                          <a:latin typeface="Consolas"/>
                        </a:rPr>
                        <a:t>16.36</a:t>
                      </a:r>
                    </a:p>
                  </a:txBody>
                  <a:tcPr>
                    <a:solidFill>
                      <a:srgbClr val="EEEEEE"/>
                    </a:solidFill>
                  </a:tcPr>
                </a:tc>
                <a:tc>
                  <a:txBody>
                    <a:bodyPr lIns="36000" rIns="36000" tIns="14000" bIns="14000"/>
                    <a:lstStyle/>
                    <a:p>
                      <a:pPr algn="l"/>
                      <a:r>
                        <a:rPr sz="850" b="0" i="0">
                          <a:solidFill>
                            <a:srgbClr val="000000"/>
                          </a:solidFill>
                          <a:latin typeface="Consolas"/>
                        </a:rPr>
                        <a:t>53.42</a:t>
                      </a:r>
                    </a:p>
                  </a:txBody>
                  <a:tcPr>
                    <a:solidFill>
                      <a:srgbClr val="EEEEEE"/>
                    </a:solidFill>
                  </a:tcPr>
                </a:tc>
                <a:tc>
                  <a:txBody>
                    <a:bodyPr lIns="36000" rIns="36000" tIns="14000" bIns="14000"/>
                    <a:lstStyle/>
                    <a:p>
                      <a:pPr algn="l"/>
                      <a:r>
                        <a:rPr sz="850" b="0" i="0">
                          <a:solidFill>
                            <a:srgbClr val="000000"/>
                          </a:solidFill>
                          <a:latin typeface="Consolas"/>
                        </a:rPr>
                        <a:t>217</a:t>
                      </a:r>
                    </a:p>
                  </a:txBody>
                  <a:tcPr>
                    <a:solidFill>
                      <a:srgbClr val="EEEEEE"/>
                    </a:solidFill>
                  </a:tcPr>
                </a:tc>
                <a:tc>
                  <a:txBody>
                    <a:bodyPr lIns="36000" rIns="36000" tIns="14000" bIns="14000"/>
                    <a:lstStyle/>
                    <a:p>
                      <a:pPr algn="l"/>
                      <a:r>
                        <a:rPr sz="850" b="0" i="0">
                          <a:solidFill>
                            <a:srgbClr val="000000"/>
                          </a:solidFill>
                          <a:latin typeface="Consolas"/>
                        </a:rPr>
                        <a:t>16.19</a:t>
                      </a:r>
                    </a:p>
                  </a:txBody>
                  <a:tcPr>
                    <a:solidFill>
                      <a:srgbClr val="EEEEEE"/>
                    </a:solidFill>
                  </a:tcPr>
                </a:tc>
                <a:tc>
                  <a:txBody>
                    <a:bodyPr lIns="36000" rIns="36000" tIns="14000" bIns="14000"/>
                    <a:lstStyle/>
                    <a:p>
                      <a:pPr algn="l"/>
                      <a:r>
                        <a:rPr sz="850" b="0" i="0">
                          <a:solidFill>
                            <a:srgbClr val="000000"/>
                          </a:solidFill>
                          <a:latin typeface="Consolas"/>
                        </a:rPr>
                        <a:t>160</a:t>
                      </a:r>
                    </a:p>
                  </a:txBody>
                  <a:tcPr>
                    <a:solidFill>
                      <a:srgbClr val="EEEEEE"/>
                    </a:solidFill>
                  </a:tcPr>
                </a:tc>
              </a:tr>
              <a:tr h="193852">
                <a:tc>
                  <a:txBody>
                    <a:bodyPr lIns="36000" rIns="36000" tIns="14000" bIns="14000"/>
                    <a:lstStyle/>
                    <a:p>
                      <a:pPr algn="l"/>
                      <a:r>
                        <a:rPr sz="850" b="0" i="0">
                          <a:solidFill>
                            <a:srgbClr val="000000"/>
                          </a:solidFill>
                          <a:latin typeface="Consolas"/>
                        </a:rPr>
                        <a:t>Moderate Rain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36000" rIns="36000" tIns="14000" bIns="14000"/>
                    <a:lstStyle/>
                    <a:p>
                      <a:pPr algn="l"/>
                      <a:r>
                        <a:rPr sz="850" b="0" i="0">
                          <a:solidFill>
                            <a:srgbClr val="000000"/>
                          </a:solidFill>
                          <a:latin typeface="Consolas"/>
                        </a:rPr>
                        <a:t>Full Prevention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36000" rIns="36000" tIns="14000" bIns="14000"/>
                    <a:lstStyle/>
                    <a:p>
                      <a:pPr algn="l"/>
                      <a:r>
                        <a:rPr sz="850" b="0" i="0">
                          <a:solidFill>
                            <a:srgbClr val="000000"/>
                          </a:solidFill>
                          <a:latin typeface="Consolas"/>
                        </a:rPr>
                        <a:t>14.15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36000" rIns="36000" tIns="14000" bIns="14000"/>
                    <a:lstStyle/>
                    <a:p>
                      <a:pPr algn="l"/>
                      <a:r>
                        <a:rPr sz="850" b="0" i="0">
                          <a:solidFill>
                            <a:srgbClr val="000000"/>
                          </a:solidFill>
                          <a:latin typeface="Consolas"/>
                        </a:rPr>
                        <a:t>46.19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36000" rIns="36000" tIns="14000" bIns="14000"/>
                    <a:lstStyle/>
                    <a:p>
                      <a:pPr algn="l"/>
                      <a:r>
                        <a:rPr sz="850" b="0" i="0">
                          <a:solidFill>
                            <a:srgbClr val="000000"/>
                          </a:solidFill>
                          <a:latin typeface="Consolas"/>
                        </a:rPr>
                        <a:t>218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36000" rIns="36000" tIns="14000" bIns="14000"/>
                    <a:lstStyle/>
                    <a:p>
                      <a:pPr algn="l"/>
                      <a:r>
                        <a:rPr sz="850" b="0" i="0">
                          <a:solidFill>
                            <a:srgbClr val="000000"/>
                          </a:solidFill>
                          <a:latin typeface="Consolas"/>
                        </a:rPr>
                        <a:t>13.98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36000" rIns="36000" tIns="14000" bIns="14000"/>
                    <a:lstStyle/>
                    <a:p>
                      <a:pPr algn="l"/>
                      <a:r>
                        <a:rPr sz="850" b="0" i="0">
                          <a:solidFill>
                            <a:srgbClr val="000000"/>
                          </a:solidFill>
                          <a:latin typeface="Consolas"/>
                        </a:rPr>
                        <a:t>160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93852">
                <a:tc>
                  <a:txBody>
                    <a:bodyPr lIns="36000" rIns="36000" tIns="14000" bIns="14000"/>
                    <a:lstStyle/>
                    <a:p>
                      <a:pPr algn="l"/>
                      <a:r>
                        <a:rPr sz="850" b="0" i="0">
                          <a:solidFill>
                            <a:srgbClr val="000000"/>
                          </a:solidFill>
                          <a:latin typeface="Consolas"/>
                        </a:rPr>
                        <a:t>Moderate Rain</a:t>
                      </a:r>
                    </a:p>
                  </a:txBody>
                  <a:tcPr>
                    <a:solidFill>
                      <a:srgbClr val="EEEEEE"/>
                    </a:solidFill>
                  </a:tcPr>
                </a:tc>
                <a:tc>
                  <a:txBody>
                    <a:bodyPr lIns="36000" rIns="36000" tIns="14000" bIns="14000"/>
                    <a:lstStyle/>
                    <a:p>
                      <a:pPr algn="l"/>
                      <a:r>
                        <a:rPr sz="850" b="0" i="0">
                          <a:solidFill>
                            <a:srgbClr val="000000"/>
                          </a:solidFill>
                          <a:latin typeface="Consolas"/>
                        </a:rPr>
                        <a:t>Large Prevention</a:t>
                      </a:r>
                    </a:p>
                  </a:txBody>
                  <a:tcPr>
                    <a:solidFill>
                      <a:srgbClr val="EEEEEE"/>
                    </a:solidFill>
                  </a:tcPr>
                </a:tc>
                <a:tc>
                  <a:txBody>
                    <a:bodyPr lIns="36000" rIns="36000" tIns="14000" bIns="14000"/>
                    <a:lstStyle/>
                    <a:p>
                      <a:pPr algn="l"/>
                      <a:r>
                        <a:rPr sz="850" b="0" i="0">
                          <a:solidFill>
                            <a:srgbClr val="000000"/>
                          </a:solidFill>
                          <a:latin typeface="Consolas"/>
                        </a:rPr>
                        <a:t>12.65</a:t>
                      </a:r>
                    </a:p>
                  </a:txBody>
                  <a:tcPr>
                    <a:solidFill>
                      <a:srgbClr val="EEEEEE"/>
                    </a:solidFill>
                  </a:tcPr>
                </a:tc>
                <a:tc>
                  <a:txBody>
                    <a:bodyPr lIns="36000" rIns="36000" tIns="14000" bIns="14000"/>
                    <a:lstStyle/>
                    <a:p>
                      <a:pPr algn="l"/>
                      <a:r>
                        <a:rPr sz="850" b="0" i="0">
                          <a:solidFill>
                            <a:srgbClr val="000000"/>
                          </a:solidFill>
                          <a:latin typeface="Consolas"/>
                        </a:rPr>
                        <a:t>41.31</a:t>
                      </a:r>
                    </a:p>
                  </a:txBody>
                  <a:tcPr>
                    <a:solidFill>
                      <a:srgbClr val="EEEEEE"/>
                    </a:solidFill>
                  </a:tcPr>
                </a:tc>
                <a:tc>
                  <a:txBody>
                    <a:bodyPr lIns="36000" rIns="36000" tIns="14000" bIns="14000"/>
                    <a:lstStyle/>
                    <a:p>
                      <a:pPr algn="l"/>
                      <a:r>
                        <a:rPr sz="850" b="0" i="0">
                          <a:solidFill>
                            <a:srgbClr val="000000"/>
                          </a:solidFill>
                          <a:latin typeface="Consolas"/>
                        </a:rPr>
                        <a:t>217</a:t>
                      </a:r>
                    </a:p>
                  </a:txBody>
                  <a:tcPr>
                    <a:solidFill>
                      <a:srgbClr val="EEEEEE"/>
                    </a:solidFill>
                  </a:tcPr>
                </a:tc>
                <a:tc>
                  <a:txBody>
                    <a:bodyPr lIns="36000" rIns="36000" tIns="14000" bIns="14000"/>
                    <a:lstStyle/>
                    <a:p>
                      <a:pPr algn="l"/>
                      <a:r>
                        <a:rPr sz="850" b="0" i="0">
                          <a:solidFill>
                            <a:srgbClr val="000000"/>
                          </a:solidFill>
                          <a:latin typeface="Consolas"/>
                        </a:rPr>
                        <a:t>12.74</a:t>
                      </a:r>
                    </a:p>
                  </a:txBody>
                  <a:tcPr>
                    <a:solidFill>
                      <a:srgbClr val="EEEEEE"/>
                    </a:solidFill>
                  </a:tcPr>
                </a:tc>
                <a:tc>
                  <a:txBody>
                    <a:bodyPr lIns="36000" rIns="36000" tIns="14000" bIns="14000"/>
                    <a:lstStyle/>
                    <a:p>
                      <a:pPr algn="l"/>
                      <a:r>
                        <a:rPr sz="850" b="0" i="0">
                          <a:solidFill>
                            <a:srgbClr val="000000"/>
                          </a:solidFill>
                          <a:latin typeface="Consolas"/>
                        </a:rPr>
                        <a:t>160</a:t>
                      </a:r>
                    </a:p>
                  </a:txBody>
                  <a:tcPr>
                    <a:solidFill>
                      <a:srgbClr val="EEEEEE"/>
                    </a:solidFill>
                  </a:tcPr>
                </a:tc>
              </a:tr>
              <a:tr h="193852">
                <a:tc>
                  <a:txBody>
                    <a:bodyPr lIns="36000" rIns="36000" tIns="14000" bIns="14000"/>
                    <a:lstStyle/>
                    <a:p>
                      <a:pPr algn="l"/>
                      <a:r>
                        <a:rPr sz="850" b="0" i="0">
                          <a:solidFill>
                            <a:srgbClr val="000000"/>
                          </a:solidFill>
                          <a:latin typeface="Consolas"/>
                        </a:rPr>
                        <a:t>Heavy Rain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36000" rIns="36000" tIns="14000" bIns="14000"/>
                    <a:lstStyle/>
                    <a:p>
                      <a:pPr algn="l"/>
                      <a:r>
                        <a:rPr sz="850" b="0" i="0">
                          <a:solidFill>
                            <a:srgbClr val="000000"/>
                          </a:solidFill>
                          <a:latin typeface="Consolas"/>
                        </a:rPr>
                        <a:t>Baseline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36000" rIns="36000" tIns="14000" bIns="14000"/>
                    <a:lstStyle/>
                    <a:p>
                      <a:pPr algn="l"/>
                      <a:r>
                        <a:rPr sz="850" b="0" i="0">
                          <a:solidFill>
                            <a:srgbClr val="000000"/>
                          </a:solidFill>
                          <a:latin typeface="Consolas"/>
                        </a:rPr>
                        <a:t>39.09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36000" rIns="36000" tIns="14000" bIns="14000"/>
                    <a:lstStyle/>
                    <a:p>
                      <a:pPr algn="l"/>
                      <a:r>
                        <a:rPr sz="850" b="0" i="0">
                          <a:solidFill>
                            <a:srgbClr val="000000"/>
                          </a:solidFill>
                          <a:latin typeface="Consolas"/>
                        </a:rPr>
                        <a:t>127.58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36000" rIns="36000" tIns="14000" bIns="14000"/>
                    <a:lstStyle/>
                    <a:p>
                      <a:pPr algn="l"/>
                      <a:r>
                        <a:rPr sz="850" b="0" i="0">
                          <a:solidFill>
                            <a:srgbClr val="000000"/>
                          </a:solidFill>
                          <a:latin typeface="Consolas"/>
                        </a:rPr>
                        <a:t>1344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36000" rIns="36000" tIns="14000" bIns="14000"/>
                    <a:lstStyle/>
                    <a:p>
                      <a:pPr algn="l"/>
                      <a:r>
                        <a:rPr sz="850" b="0" i="0">
                          <a:solidFill>
                            <a:srgbClr val="000000"/>
                          </a:solidFill>
                          <a:latin typeface="Consolas"/>
                        </a:rPr>
                        <a:t>34.83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36000" rIns="36000" tIns="14000" bIns="14000"/>
                    <a:lstStyle/>
                    <a:p>
                      <a:pPr algn="l"/>
                      <a:r>
                        <a:rPr sz="850" b="0" i="0">
                          <a:solidFill>
                            <a:srgbClr val="000000"/>
                          </a:solidFill>
                          <a:latin typeface="Consolas"/>
                        </a:rPr>
                        <a:t>120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93852">
                <a:tc>
                  <a:txBody>
                    <a:bodyPr lIns="36000" rIns="36000" tIns="14000" bIns="14000"/>
                    <a:lstStyle/>
                    <a:p>
                      <a:pPr algn="l"/>
                      <a:r>
                        <a:rPr sz="850" b="0" i="0">
                          <a:solidFill>
                            <a:srgbClr val="000000"/>
                          </a:solidFill>
                          <a:latin typeface="Consolas"/>
                        </a:rPr>
                        <a:t>Heavy Rain</a:t>
                      </a:r>
                    </a:p>
                  </a:txBody>
                  <a:tcPr>
                    <a:solidFill>
                      <a:srgbClr val="EEEEEE"/>
                    </a:solidFill>
                  </a:tcPr>
                </a:tc>
                <a:tc>
                  <a:txBody>
                    <a:bodyPr lIns="36000" rIns="36000" tIns="14000" bIns="14000"/>
                    <a:lstStyle/>
                    <a:p>
                      <a:pPr algn="l"/>
                      <a:r>
                        <a:rPr sz="850" b="0" i="0">
                          <a:solidFill>
                            <a:srgbClr val="000000"/>
                          </a:solidFill>
                          <a:latin typeface="Consolas"/>
                        </a:rPr>
                        <a:t>Wall+Canal</a:t>
                      </a:r>
                    </a:p>
                  </a:txBody>
                  <a:tcPr>
                    <a:solidFill>
                      <a:srgbClr val="EEEEEE"/>
                    </a:solidFill>
                  </a:tcPr>
                </a:tc>
                <a:tc>
                  <a:txBody>
                    <a:bodyPr lIns="36000" rIns="36000" tIns="14000" bIns="14000"/>
                    <a:lstStyle/>
                    <a:p>
                      <a:pPr algn="l"/>
                      <a:r>
                        <a:rPr sz="850" b="0" i="0">
                          <a:solidFill>
                            <a:srgbClr val="000000"/>
                          </a:solidFill>
                          <a:latin typeface="Consolas"/>
                        </a:rPr>
                        <a:t>33.68</a:t>
                      </a:r>
                    </a:p>
                  </a:txBody>
                  <a:tcPr>
                    <a:solidFill>
                      <a:srgbClr val="EEEEEE"/>
                    </a:solidFill>
                  </a:tcPr>
                </a:tc>
                <a:tc>
                  <a:txBody>
                    <a:bodyPr lIns="36000" rIns="36000" tIns="14000" bIns="14000"/>
                    <a:lstStyle/>
                    <a:p>
                      <a:pPr algn="l"/>
                      <a:r>
                        <a:rPr sz="850" b="0" i="0">
                          <a:solidFill>
                            <a:srgbClr val="000000"/>
                          </a:solidFill>
                          <a:latin typeface="Consolas"/>
                        </a:rPr>
                        <a:t>109.93</a:t>
                      </a:r>
                    </a:p>
                  </a:txBody>
                  <a:tcPr>
                    <a:solidFill>
                      <a:srgbClr val="EEEEEE"/>
                    </a:solidFill>
                  </a:tcPr>
                </a:tc>
                <a:tc>
                  <a:txBody>
                    <a:bodyPr lIns="36000" rIns="36000" tIns="14000" bIns="14000"/>
                    <a:lstStyle/>
                    <a:p>
                      <a:pPr algn="l"/>
                      <a:r>
                        <a:rPr sz="850" b="0" i="0">
                          <a:solidFill>
                            <a:srgbClr val="000000"/>
                          </a:solidFill>
                          <a:latin typeface="Consolas"/>
                        </a:rPr>
                        <a:t>1431</a:t>
                      </a:r>
                    </a:p>
                  </a:txBody>
                  <a:tcPr>
                    <a:solidFill>
                      <a:srgbClr val="EEEEEE"/>
                    </a:solidFill>
                  </a:tcPr>
                </a:tc>
                <a:tc>
                  <a:txBody>
                    <a:bodyPr lIns="36000" rIns="36000" tIns="14000" bIns="14000"/>
                    <a:lstStyle/>
                    <a:p>
                      <a:pPr algn="l"/>
                      <a:r>
                        <a:rPr sz="850" b="0" i="0">
                          <a:solidFill>
                            <a:srgbClr val="000000"/>
                          </a:solidFill>
                          <a:latin typeface="Consolas"/>
                        </a:rPr>
                        <a:t>28.65</a:t>
                      </a:r>
                    </a:p>
                  </a:txBody>
                  <a:tcPr>
                    <a:solidFill>
                      <a:srgbClr val="EEEEEE"/>
                    </a:solidFill>
                  </a:tcPr>
                </a:tc>
                <a:tc>
                  <a:txBody>
                    <a:bodyPr lIns="36000" rIns="36000" tIns="14000" bIns="14000"/>
                    <a:lstStyle/>
                    <a:p>
                      <a:pPr algn="l"/>
                      <a:r>
                        <a:rPr sz="850" b="0" i="0">
                          <a:solidFill>
                            <a:srgbClr val="000000"/>
                          </a:solidFill>
                          <a:latin typeface="Consolas"/>
                        </a:rPr>
                        <a:t>120</a:t>
                      </a:r>
                    </a:p>
                  </a:txBody>
                  <a:tcPr>
                    <a:solidFill>
                      <a:srgbClr val="EEEEEE"/>
                    </a:solidFill>
                  </a:tcPr>
                </a:tc>
              </a:tr>
              <a:tr h="193852">
                <a:tc>
                  <a:txBody>
                    <a:bodyPr lIns="36000" rIns="36000" tIns="14000" bIns="14000"/>
                    <a:lstStyle/>
                    <a:p>
                      <a:pPr algn="l"/>
                      <a:r>
                        <a:rPr sz="850" b="0" i="0">
                          <a:solidFill>
                            <a:srgbClr val="000000"/>
                          </a:solidFill>
                          <a:latin typeface="Consolas"/>
                        </a:rPr>
                        <a:t>Heavy Rain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36000" rIns="36000" tIns="14000" bIns="14000"/>
                    <a:lstStyle/>
                    <a:p>
                      <a:pPr algn="l"/>
                      <a:r>
                        <a:rPr sz="850" b="0" i="0">
                          <a:solidFill>
                            <a:srgbClr val="000000"/>
                          </a:solidFill>
                          <a:latin typeface="Consolas"/>
                        </a:rPr>
                        <a:t>Full Prevention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36000" rIns="36000" tIns="14000" bIns="14000"/>
                    <a:lstStyle/>
                    <a:p>
                      <a:pPr algn="l"/>
                      <a:r>
                        <a:rPr sz="850" b="0" i="0">
                          <a:solidFill>
                            <a:srgbClr val="000000"/>
                          </a:solidFill>
                          <a:latin typeface="Consolas"/>
                        </a:rPr>
                        <a:t>30.89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36000" rIns="36000" tIns="14000" bIns="14000"/>
                    <a:lstStyle/>
                    <a:p>
                      <a:pPr algn="l"/>
                      <a:r>
                        <a:rPr sz="850" b="0" i="0">
                          <a:solidFill>
                            <a:srgbClr val="000000"/>
                          </a:solidFill>
                          <a:latin typeface="Consolas"/>
                        </a:rPr>
                        <a:t>100.83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36000" rIns="36000" tIns="14000" bIns="14000"/>
                    <a:lstStyle/>
                    <a:p>
                      <a:pPr algn="l"/>
                      <a:r>
                        <a:rPr sz="850" b="0" i="0">
                          <a:solidFill>
                            <a:srgbClr val="000000"/>
                          </a:solidFill>
                          <a:latin typeface="Consolas"/>
                        </a:rPr>
                        <a:t>1471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36000" rIns="36000" tIns="14000" bIns="14000"/>
                    <a:lstStyle/>
                    <a:p>
                      <a:pPr algn="l"/>
                      <a:r>
                        <a:rPr sz="850" b="0" i="0">
                          <a:solidFill>
                            <a:srgbClr val="000000"/>
                          </a:solidFill>
                          <a:latin typeface="Consolas"/>
                        </a:rPr>
                        <a:t>25.11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36000" rIns="36000" tIns="14000" bIns="14000"/>
                    <a:lstStyle/>
                    <a:p>
                      <a:pPr algn="l"/>
                      <a:r>
                        <a:rPr sz="850" b="0" i="0">
                          <a:solidFill>
                            <a:srgbClr val="000000"/>
                          </a:solidFill>
                          <a:latin typeface="Consolas"/>
                        </a:rPr>
                        <a:t>120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93852">
                <a:tc>
                  <a:txBody>
                    <a:bodyPr lIns="36000" rIns="36000" tIns="14000" bIns="14000"/>
                    <a:lstStyle/>
                    <a:p>
                      <a:pPr algn="l"/>
                      <a:r>
                        <a:rPr sz="850" b="0" i="0">
                          <a:solidFill>
                            <a:srgbClr val="000000"/>
                          </a:solidFill>
                          <a:latin typeface="Consolas"/>
                        </a:rPr>
                        <a:t>Heavy Rain</a:t>
                      </a:r>
                    </a:p>
                  </a:txBody>
                  <a:tcPr>
                    <a:solidFill>
                      <a:srgbClr val="EEEEEE"/>
                    </a:solidFill>
                  </a:tcPr>
                </a:tc>
                <a:tc>
                  <a:txBody>
                    <a:bodyPr lIns="36000" rIns="36000" tIns="14000" bIns="14000"/>
                    <a:lstStyle/>
                    <a:p>
                      <a:pPr algn="l"/>
                      <a:r>
                        <a:rPr sz="850" b="0" i="0">
                          <a:solidFill>
                            <a:srgbClr val="000000"/>
                          </a:solidFill>
                          <a:latin typeface="Consolas"/>
                        </a:rPr>
                        <a:t>Large Prevention</a:t>
                      </a:r>
                    </a:p>
                  </a:txBody>
                  <a:tcPr>
                    <a:solidFill>
                      <a:srgbClr val="EEEEEE"/>
                    </a:solidFill>
                  </a:tcPr>
                </a:tc>
                <a:tc>
                  <a:txBody>
                    <a:bodyPr lIns="36000" rIns="36000" tIns="14000" bIns="14000"/>
                    <a:lstStyle/>
                    <a:p>
                      <a:pPr algn="l"/>
                      <a:r>
                        <a:rPr sz="850" b="0" i="0">
                          <a:solidFill>
                            <a:srgbClr val="000000"/>
                          </a:solidFill>
                          <a:latin typeface="Consolas"/>
                        </a:rPr>
                        <a:t>28.73</a:t>
                      </a:r>
                    </a:p>
                  </a:txBody>
                  <a:tcPr>
                    <a:solidFill>
                      <a:srgbClr val="EEEEEE"/>
                    </a:solidFill>
                  </a:tcPr>
                </a:tc>
                <a:tc>
                  <a:txBody>
                    <a:bodyPr lIns="36000" rIns="36000" tIns="14000" bIns="14000"/>
                    <a:lstStyle/>
                    <a:p>
                      <a:pPr algn="l"/>
                      <a:r>
                        <a:rPr sz="850" b="0" i="0">
                          <a:solidFill>
                            <a:srgbClr val="000000"/>
                          </a:solidFill>
                          <a:latin typeface="Consolas"/>
                        </a:rPr>
                        <a:t>93.79</a:t>
                      </a:r>
                    </a:p>
                  </a:txBody>
                  <a:tcPr>
                    <a:solidFill>
                      <a:srgbClr val="EEEEEE"/>
                    </a:solidFill>
                  </a:tcPr>
                </a:tc>
                <a:tc>
                  <a:txBody>
                    <a:bodyPr lIns="36000" rIns="36000" tIns="14000" bIns="14000"/>
                    <a:lstStyle/>
                    <a:p>
                      <a:pPr algn="l"/>
                      <a:r>
                        <a:rPr sz="850" b="0" i="0">
                          <a:solidFill>
                            <a:srgbClr val="000000"/>
                          </a:solidFill>
                          <a:latin typeface="Consolas"/>
                        </a:rPr>
                        <a:t>1438</a:t>
                      </a:r>
                    </a:p>
                  </a:txBody>
                  <a:tcPr>
                    <a:solidFill>
                      <a:srgbClr val="EEEEEE"/>
                    </a:solidFill>
                  </a:tcPr>
                </a:tc>
                <a:tc>
                  <a:txBody>
                    <a:bodyPr lIns="36000" rIns="36000" tIns="14000" bIns="14000"/>
                    <a:lstStyle/>
                    <a:p>
                      <a:pPr algn="l"/>
                      <a:r>
                        <a:rPr sz="850" b="0" i="0">
                          <a:solidFill>
                            <a:srgbClr val="000000"/>
                          </a:solidFill>
                          <a:latin typeface="Consolas"/>
                        </a:rPr>
                        <a:t>23.76</a:t>
                      </a:r>
                    </a:p>
                  </a:txBody>
                  <a:tcPr>
                    <a:solidFill>
                      <a:srgbClr val="EEEEEE"/>
                    </a:solidFill>
                  </a:tcPr>
                </a:tc>
                <a:tc>
                  <a:txBody>
                    <a:bodyPr lIns="36000" rIns="36000" tIns="14000" bIns="14000"/>
                    <a:lstStyle/>
                    <a:p>
                      <a:pPr algn="l"/>
                      <a:r>
                        <a:rPr sz="850" b="0" i="0">
                          <a:solidFill>
                            <a:srgbClr val="000000"/>
                          </a:solidFill>
                          <a:latin typeface="Consolas"/>
                        </a:rPr>
                        <a:t>120</a:t>
                      </a:r>
                    </a:p>
                  </a:txBody>
                  <a:tcPr>
                    <a:solidFill>
                      <a:srgbClr val="EEEEEE"/>
                    </a:solidFill>
                  </a:tcPr>
                </a:tc>
              </a:tr>
              <a:tr h="193852">
                <a:tc>
                  <a:txBody>
                    <a:bodyPr lIns="36000" rIns="36000" tIns="14000" bIns="14000"/>
                    <a:lstStyle/>
                    <a:p>
                      <a:pPr algn="l"/>
                      <a:r>
                        <a:rPr sz="850" b="0" i="0">
                          <a:solidFill>
                            <a:srgbClr val="000000"/>
                          </a:solidFill>
                          <a:latin typeface="Consolas"/>
                        </a:rPr>
                        <a:t>Sig 1 (TD)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36000" rIns="36000" tIns="14000" bIns="14000"/>
                    <a:lstStyle/>
                    <a:p>
                      <a:pPr algn="l"/>
                      <a:r>
                        <a:rPr sz="850" b="0" i="0">
                          <a:solidFill>
                            <a:srgbClr val="000000"/>
                          </a:solidFill>
                          <a:latin typeface="Consolas"/>
                        </a:rPr>
                        <a:t>Baseline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36000" rIns="36000" tIns="14000" bIns="14000"/>
                    <a:lstStyle/>
                    <a:p>
                      <a:pPr algn="l"/>
                      <a:r>
                        <a:rPr sz="850" b="0" i="0">
                          <a:solidFill>
                            <a:srgbClr val="000000"/>
                          </a:solidFill>
                          <a:latin typeface="Consolas"/>
                        </a:rPr>
                        <a:t>44.92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36000" rIns="36000" tIns="14000" bIns="14000"/>
                    <a:lstStyle/>
                    <a:p>
                      <a:pPr algn="l"/>
                      <a:r>
                        <a:rPr sz="850" b="0" i="0">
                          <a:solidFill>
                            <a:srgbClr val="000000"/>
                          </a:solidFill>
                          <a:latin typeface="Consolas"/>
                        </a:rPr>
                        <a:t>146.64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36000" rIns="36000" tIns="14000" bIns="14000"/>
                    <a:lstStyle/>
                    <a:p>
                      <a:pPr algn="l"/>
                      <a:r>
                        <a:rPr sz="850" b="0" i="0">
                          <a:solidFill>
                            <a:srgbClr val="000000"/>
                          </a:solidFill>
                          <a:latin typeface="Consolas"/>
                        </a:rPr>
                        <a:t>3001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36000" rIns="36000" tIns="14000" bIns="14000"/>
                    <a:lstStyle/>
                    <a:p>
                      <a:pPr algn="l"/>
                      <a:r>
                        <a:rPr sz="850" b="0" i="0">
                          <a:solidFill>
                            <a:srgbClr val="000000"/>
                          </a:solidFill>
                          <a:latin typeface="Consolas"/>
                        </a:rPr>
                        <a:t>39.83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36000" rIns="36000" tIns="14000" bIns="14000"/>
                    <a:lstStyle/>
                    <a:p>
                      <a:pPr algn="l"/>
                      <a:r>
                        <a:rPr sz="850" b="0" i="0">
                          <a:solidFill>
                            <a:srgbClr val="000000"/>
                          </a:solidFill>
                          <a:latin typeface="Consolas"/>
                        </a:rPr>
                        <a:t>160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93852">
                <a:tc>
                  <a:txBody>
                    <a:bodyPr lIns="36000" rIns="36000" tIns="14000" bIns="14000"/>
                    <a:lstStyle/>
                    <a:p>
                      <a:pPr algn="l"/>
                      <a:r>
                        <a:rPr sz="850" b="0" i="0">
                          <a:solidFill>
                            <a:srgbClr val="000000"/>
                          </a:solidFill>
                          <a:latin typeface="Consolas"/>
                        </a:rPr>
                        <a:t>Sig 1 (TD)</a:t>
                      </a:r>
                    </a:p>
                  </a:txBody>
                  <a:tcPr>
                    <a:solidFill>
                      <a:srgbClr val="EEEEEE"/>
                    </a:solidFill>
                  </a:tcPr>
                </a:tc>
                <a:tc>
                  <a:txBody>
                    <a:bodyPr lIns="36000" rIns="36000" tIns="14000" bIns="14000"/>
                    <a:lstStyle/>
                    <a:p>
                      <a:pPr algn="l"/>
                      <a:r>
                        <a:rPr sz="850" b="0" i="0">
                          <a:solidFill>
                            <a:srgbClr val="000000"/>
                          </a:solidFill>
                          <a:latin typeface="Consolas"/>
                        </a:rPr>
                        <a:t>Wall+Canal</a:t>
                      </a:r>
                    </a:p>
                  </a:txBody>
                  <a:tcPr>
                    <a:solidFill>
                      <a:srgbClr val="EEEEEE"/>
                    </a:solidFill>
                  </a:tcPr>
                </a:tc>
                <a:tc>
                  <a:txBody>
                    <a:bodyPr lIns="36000" rIns="36000" tIns="14000" bIns="14000"/>
                    <a:lstStyle/>
                    <a:p>
                      <a:pPr algn="l"/>
                      <a:r>
                        <a:rPr sz="850" b="0" i="0">
                          <a:solidFill>
                            <a:srgbClr val="000000"/>
                          </a:solidFill>
                          <a:latin typeface="Consolas"/>
                        </a:rPr>
                        <a:t>42.45</a:t>
                      </a:r>
                    </a:p>
                  </a:txBody>
                  <a:tcPr>
                    <a:solidFill>
                      <a:srgbClr val="EEEEEE"/>
                    </a:solidFill>
                  </a:tcPr>
                </a:tc>
                <a:tc>
                  <a:txBody>
                    <a:bodyPr lIns="36000" rIns="36000" tIns="14000" bIns="14000"/>
                    <a:lstStyle/>
                    <a:p>
                      <a:pPr algn="l"/>
                      <a:r>
                        <a:rPr sz="850" b="0" i="0">
                          <a:solidFill>
                            <a:srgbClr val="000000"/>
                          </a:solidFill>
                          <a:latin typeface="Consolas"/>
                        </a:rPr>
                        <a:t>138.57</a:t>
                      </a:r>
                    </a:p>
                  </a:txBody>
                  <a:tcPr>
                    <a:solidFill>
                      <a:srgbClr val="EEEEEE"/>
                    </a:solidFill>
                  </a:tcPr>
                </a:tc>
                <a:tc>
                  <a:txBody>
                    <a:bodyPr lIns="36000" rIns="36000" tIns="14000" bIns="14000"/>
                    <a:lstStyle/>
                    <a:p>
                      <a:pPr algn="l"/>
                      <a:r>
                        <a:rPr sz="850" b="0" i="0">
                          <a:solidFill>
                            <a:srgbClr val="000000"/>
                          </a:solidFill>
                          <a:latin typeface="Consolas"/>
                        </a:rPr>
                        <a:t>3241</a:t>
                      </a:r>
                    </a:p>
                  </a:txBody>
                  <a:tcPr>
                    <a:solidFill>
                      <a:srgbClr val="EEEEEE"/>
                    </a:solidFill>
                  </a:tcPr>
                </a:tc>
                <a:tc>
                  <a:txBody>
                    <a:bodyPr lIns="36000" rIns="36000" tIns="14000" bIns="14000"/>
                    <a:lstStyle/>
                    <a:p>
                      <a:pPr algn="l"/>
                      <a:r>
                        <a:rPr sz="850" b="0" i="0">
                          <a:solidFill>
                            <a:srgbClr val="000000"/>
                          </a:solidFill>
                          <a:latin typeface="Consolas"/>
                        </a:rPr>
                        <a:t>36.09</a:t>
                      </a:r>
                    </a:p>
                  </a:txBody>
                  <a:tcPr>
                    <a:solidFill>
                      <a:srgbClr val="EEEEEE"/>
                    </a:solidFill>
                  </a:tcPr>
                </a:tc>
                <a:tc>
                  <a:txBody>
                    <a:bodyPr lIns="36000" rIns="36000" tIns="14000" bIns="14000"/>
                    <a:lstStyle/>
                    <a:p>
                      <a:pPr algn="l"/>
                      <a:r>
                        <a:rPr sz="850" b="0" i="0">
                          <a:solidFill>
                            <a:srgbClr val="000000"/>
                          </a:solidFill>
                          <a:latin typeface="Consolas"/>
                        </a:rPr>
                        <a:t>160</a:t>
                      </a:r>
                    </a:p>
                  </a:txBody>
                  <a:tcPr>
                    <a:solidFill>
                      <a:srgbClr val="EEEEEE"/>
                    </a:solidFill>
                  </a:tcPr>
                </a:tc>
              </a:tr>
              <a:tr h="193852">
                <a:tc>
                  <a:txBody>
                    <a:bodyPr lIns="36000" rIns="36000" tIns="14000" bIns="14000"/>
                    <a:lstStyle/>
                    <a:p>
                      <a:pPr algn="l"/>
                      <a:r>
                        <a:rPr sz="850" b="0" i="0">
                          <a:solidFill>
                            <a:srgbClr val="000000"/>
                          </a:solidFill>
                          <a:latin typeface="Consolas"/>
                        </a:rPr>
                        <a:t>Sig 1 (TD)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36000" rIns="36000" tIns="14000" bIns="14000"/>
                    <a:lstStyle/>
                    <a:p>
                      <a:pPr algn="l"/>
                      <a:r>
                        <a:rPr sz="850" b="0" i="0">
                          <a:solidFill>
                            <a:srgbClr val="000000"/>
                          </a:solidFill>
                          <a:latin typeface="Consolas"/>
                        </a:rPr>
                        <a:t>Full Prevention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36000" rIns="36000" tIns="14000" bIns="14000"/>
                    <a:lstStyle/>
                    <a:p>
                      <a:pPr algn="l"/>
                      <a:r>
                        <a:rPr sz="850" b="0" i="0">
                          <a:solidFill>
                            <a:srgbClr val="000000"/>
                          </a:solidFill>
                          <a:latin typeface="Consolas"/>
                        </a:rPr>
                        <a:t>39.98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36000" rIns="36000" tIns="14000" bIns="14000"/>
                    <a:lstStyle/>
                    <a:p>
                      <a:pPr algn="l"/>
                      <a:r>
                        <a:rPr sz="850" b="0" i="0">
                          <a:solidFill>
                            <a:srgbClr val="000000"/>
                          </a:solidFill>
                          <a:latin typeface="Consolas"/>
                        </a:rPr>
                        <a:t>130.49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36000" rIns="36000" tIns="14000" bIns="14000"/>
                    <a:lstStyle/>
                    <a:p>
                      <a:pPr algn="l"/>
                      <a:r>
                        <a:rPr sz="850" b="0" i="0">
                          <a:solidFill>
                            <a:srgbClr val="000000"/>
                          </a:solidFill>
                          <a:latin typeface="Consolas"/>
                        </a:rPr>
                        <a:t>3258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36000" rIns="36000" tIns="14000" bIns="14000"/>
                    <a:lstStyle/>
                    <a:p>
                      <a:pPr algn="l"/>
                      <a:r>
                        <a:rPr sz="850" b="0" i="0">
                          <a:solidFill>
                            <a:srgbClr val="000000"/>
                          </a:solidFill>
                          <a:latin typeface="Consolas"/>
                        </a:rPr>
                        <a:t>32.7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36000" rIns="36000" tIns="14000" bIns="14000"/>
                    <a:lstStyle/>
                    <a:p>
                      <a:pPr algn="l"/>
                      <a:r>
                        <a:rPr sz="850" b="0" i="0">
                          <a:solidFill>
                            <a:srgbClr val="000000"/>
                          </a:solidFill>
                          <a:latin typeface="Consolas"/>
                        </a:rPr>
                        <a:t>160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93852">
                <a:tc>
                  <a:txBody>
                    <a:bodyPr lIns="36000" rIns="36000" tIns="14000" bIns="14000"/>
                    <a:lstStyle/>
                    <a:p>
                      <a:pPr algn="l"/>
                      <a:r>
                        <a:rPr sz="850" b="0" i="0">
                          <a:solidFill>
                            <a:srgbClr val="000000"/>
                          </a:solidFill>
                          <a:latin typeface="Consolas"/>
                        </a:rPr>
                        <a:t>Sig 1 (TD)</a:t>
                      </a:r>
                    </a:p>
                  </a:txBody>
                  <a:tcPr>
                    <a:solidFill>
                      <a:srgbClr val="EEEEEE"/>
                    </a:solidFill>
                  </a:tcPr>
                </a:tc>
                <a:tc>
                  <a:txBody>
                    <a:bodyPr lIns="36000" rIns="36000" tIns="14000" bIns="14000"/>
                    <a:lstStyle/>
                    <a:p>
                      <a:pPr algn="l"/>
                      <a:r>
                        <a:rPr sz="850" b="0" i="0">
                          <a:solidFill>
                            <a:srgbClr val="000000"/>
                          </a:solidFill>
                          <a:latin typeface="Consolas"/>
                        </a:rPr>
                        <a:t>Large Prevention</a:t>
                      </a:r>
                    </a:p>
                  </a:txBody>
                  <a:tcPr>
                    <a:solidFill>
                      <a:srgbClr val="EEEEEE"/>
                    </a:solidFill>
                  </a:tcPr>
                </a:tc>
                <a:tc>
                  <a:txBody>
                    <a:bodyPr lIns="36000" rIns="36000" tIns="14000" bIns="14000"/>
                    <a:lstStyle/>
                    <a:p>
                      <a:pPr algn="l"/>
                      <a:r>
                        <a:rPr sz="850" b="0" i="0">
                          <a:solidFill>
                            <a:srgbClr val="000000"/>
                          </a:solidFill>
                          <a:latin typeface="Consolas"/>
                        </a:rPr>
                        <a:t>37.91</a:t>
                      </a:r>
                    </a:p>
                  </a:txBody>
                  <a:tcPr>
                    <a:solidFill>
                      <a:srgbClr val="EEEEEE"/>
                    </a:solidFill>
                  </a:tcPr>
                </a:tc>
                <a:tc>
                  <a:txBody>
                    <a:bodyPr lIns="36000" rIns="36000" tIns="14000" bIns="14000"/>
                    <a:lstStyle/>
                    <a:p>
                      <a:pPr algn="l"/>
                      <a:r>
                        <a:rPr sz="850" b="0" i="0">
                          <a:solidFill>
                            <a:srgbClr val="000000"/>
                          </a:solidFill>
                          <a:latin typeface="Consolas"/>
                        </a:rPr>
                        <a:t>123.74</a:t>
                      </a:r>
                    </a:p>
                  </a:txBody>
                  <a:tcPr>
                    <a:solidFill>
                      <a:srgbClr val="EEEEEE"/>
                    </a:solidFill>
                  </a:tcPr>
                </a:tc>
                <a:tc>
                  <a:txBody>
                    <a:bodyPr lIns="36000" rIns="36000" tIns="14000" bIns="14000"/>
                    <a:lstStyle/>
                    <a:p>
                      <a:pPr algn="l"/>
                      <a:r>
                        <a:rPr sz="850" b="0" i="0">
                          <a:solidFill>
                            <a:srgbClr val="000000"/>
                          </a:solidFill>
                          <a:latin typeface="Consolas"/>
                        </a:rPr>
                        <a:t>3243</a:t>
                      </a:r>
                    </a:p>
                  </a:txBody>
                  <a:tcPr>
                    <a:solidFill>
                      <a:srgbClr val="EEEEEE"/>
                    </a:solidFill>
                  </a:tcPr>
                </a:tc>
                <a:tc>
                  <a:txBody>
                    <a:bodyPr lIns="36000" rIns="36000" tIns="14000" bIns="14000"/>
                    <a:lstStyle/>
                    <a:p>
                      <a:pPr algn="l"/>
                      <a:r>
                        <a:rPr sz="850" b="0" i="0">
                          <a:solidFill>
                            <a:srgbClr val="000000"/>
                          </a:solidFill>
                          <a:latin typeface="Consolas"/>
                        </a:rPr>
                        <a:t>31.35</a:t>
                      </a:r>
                    </a:p>
                  </a:txBody>
                  <a:tcPr>
                    <a:solidFill>
                      <a:srgbClr val="EEEEEE"/>
                    </a:solidFill>
                  </a:tcPr>
                </a:tc>
                <a:tc>
                  <a:txBody>
                    <a:bodyPr lIns="36000" rIns="36000" tIns="14000" bIns="14000"/>
                    <a:lstStyle/>
                    <a:p>
                      <a:pPr algn="l"/>
                      <a:r>
                        <a:rPr sz="850" b="0" i="0">
                          <a:solidFill>
                            <a:srgbClr val="000000"/>
                          </a:solidFill>
                          <a:latin typeface="Consolas"/>
                        </a:rPr>
                        <a:t>160</a:t>
                      </a:r>
                    </a:p>
                  </a:txBody>
                  <a:tcPr>
                    <a:solidFill>
                      <a:srgbClr val="EEEEEE"/>
                    </a:solidFill>
                  </a:tcPr>
                </a:tc>
              </a:tr>
              <a:tr h="193852">
                <a:tc>
                  <a:txBody>
                    <a:bodyPr lIns="36000" rIns="36000" tIns="14000" bIns="14000"/>
                    <a:lstStyle/>
                    <a:p>
                      <a:pPr algn="l"/>
                      <a:r>
                        <a:rPr sz="850" b="0" i="0">
                          <a:solidFill>
                            <a:srgbClr val="000000"/>
                          </a:solidFill>
                          <a:latin typeface="Consolas"/>
                        </a:rPr>
                        <a:t>Sig 2 (TS)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36000" rIns="36000" tIns="14000" bIns="14000"/>
                    <a:lstStyle/>
                    <a:p>
                      <a:pPr algn="l"/>
                      <a:r>
                        <a:rPr sz="850" b="0" i="0">
                          <a:solidFill>
                            <a:srgbClr val="000000"/>
                          </a:solidFill>
                          <a:latin typeface="Consolas"/>
                        </a:rPr>
                        <a:t>Baseline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36000" rIns="36000" tIns="14000" bIns="14000"/>
                    <a:lstStyle/>
                    <a:p>
                      <a:pPr algn="l"/>
                      <a:r>
                        <a:rPr sz="850" b="0" i="0">
                          <a:solidFill>
                            <a:srgbClr val="000000"/>
                          </a:solidFill>
                          <a:latin typeface="Consolas"/>
                        </a:rPr>
                        <a:t>49.7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36000" rIns="36000" tIns="14000" bIns="14000"/>
                    <a:lstStyle/>
                    <a:p>
                      <a:pPr algn="l"/>
                      <a:r>
                        <a:rPr sz="850" b="0" i="0">
                          <a:solidFill>
                            <a:srgbClr val="000000"/>
                          </a:solidFill>
                          <a:latin typeface="Consolas"/>
                        </a:rPr>
                        <a:t>162.23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36000" rIns="36000" tIns="14000" bIns="14000"/>
                    <a:lstStyle/>
                    <a:p>
                      <a:pPr algn="l"/>
                      <a:r>
                        <a:rPr sz="850" b="0" i="0">
                          <a:solidFill>
                            <a:srgbClr val="000000"/>
                          </a:solidFill>
                          <a:latin typeface="Consolas"/>
                        </a:rPr>
                        <a:t>3315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36000" rIns="36000" tIns="14000" bIns="14000"/>
                    <a:lstStyle/>
                    <a:p>
                      <a:pPr algn="l"/>
                      <a:r>
                        <a:rPr sz="850" b="0" i="0">
                          <a:solidFill>
                            <a:srgbClr val="000000"/>
                          </a:solidFill>
                          <a:latin typeface="Consolas"/>
                        </a:rPr>
                        <a:t>46.33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36000" rIns="36000" tIns="14000" bIns="14000"/>
                    <a:lstStyle/>
                    <a:p>
                      <a:pPr algn="l"/>
                      <a:r>
                        <a:rPr sz="850" b="0" i="0">
                          <a:solidFill>
                            <a:srgbClr val="000000"/>
                          </a:solidFill>
                          <a:latin typeface="Consolas"/>
                        </a:rPr>
                        <a:t>180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93852">
                <a:tc>
                  <a:txBody>
                    <a:bodyPr lIns="36000" rIns="36000" tIns="14000" bIns="14000"/>
                    <a:lstStyle/>
                    <a:p>
                      <a:pPr algn="l"/>
                      <a:r>
                        <a:rPr sz="850" b="0" i="0">
                          <a:solidFill>
                            <a:srgbClr val="000000"/>
                          </a:solidFill>
                          <a:latin typeface="Consolas"/>
                        </a:rPr>
                        <a:t>Sig 2 (TS)</a:t>
                      </a:r>
                    </a:p>
                  </a:txBody>
                  <a:tcPr>
                    <a:solidFill>
                      <a:srgbClr val="EEEEEE"/>
                    </a:solidFill>
                  </a:tcPr>
                </a:tc>
                <a:tc>
                  <a:txBody>
                    <a:bodyPr lIns="36000" rIns="36000" tIns="14000" bIns="14000"/>
                    <a:lstStyle/>
                    <a:p>
                      <a:pPr algn="l"/>
                      <a:r>
                        <a:rPr sz="850" b="0" i="0">
                          <a:solidFill>
                            <a:srgbClr val="000000"/>
                          </a:solidFill>
                          <a:latin typeface="Consolas"/>
                        </a:rPr>
                        <a:t>Wall+Canal</a:t>
                      </a:r>
                    </a:p>
                  </a:txBody>
                  <a:tcPr>
                    <a:solidFill>
                      <a:srgbClr val="EEEEEE"/>
                    </a:solidFill>
                  </a:tcPr>
                </a:tc>
                <a:tc>
                  <a:txBody>
                    <a:bodyPr lIns="36000" rIns="36000" tIns="14000" bIns="14000"/>
                    <a:lstStyle/>
                    <a:p>
                      <a:pPr algn="l"/>
                      <a:r>
                        <a:rPr sz="850" b="0" i="0">
                          <a:solidFill>
                            <a:srgbClr val="000000"/>
                          </a:solidFill>
                          <a:latin typeface="Consolas"/>
                        </a:rPr>
                        <a:t>47.08</a:t>
                      </a:r>
                    </a:p>
                  </a:txBody>
                  <a:tcPr>
                    <a:solidFill>
                      <a:srgbClr val="EEEEEE"/>
                    </a:solidFill>
                  </a:tcPr>
                </a:tc>
                <a:tc>
                  <a:txBody>
                    <a:bodyPr lIns="36000" rIns="36000" tIns="14000" bIns="14000"/>
                    <a:lstStyle/>
                    <a:p>
                      <a:pPr algn="l"/>
                      <a:r>
                        <a:rPr sz="850" b="0" i="0">
                          <a:solidFill>
                            <a:srgbClr val="000000"/>
                          </a:solidFill>
                          <a:latin typeface="Consolas"/>
                        </a:rPr>
                        <a:t>153.68</a:t>
                      </a:r>
                    </a:p>
                  </a:txBody>
                  <a:tcPr>
                    <a:solidFill>
                      <a:srgbClr val="EEEEEE"/>
                    </a:solidFill>
                  </a:tcPr>
                </a:tc>
                <a:tc>
                  <a:txBody>
                    <a:bodyPr lIns="36000" rIns="36000" tIns="14000" bIns="14000"/>
                    <a:lstStyle/>
                    <a:p>
                      <a:pPr algn="l"/>
                      <a:r>
                        <a:rPr sz="850" b="0" i="0">
                          <a:solidFill>
                            <a:srgbClr val="000000"/>
                          </a:solidFill>
                          <a:latin typeface="Consolas"/>
                        </a:rPr>
                        <a:t>3666</a:t>
                      </a:r>
                    </a:p>
                  </a:txBody>
                  <a:tcPr>
                    <a:solidFill>
                      <a:srgbClr val="EEEEEE"/>
                    </a:solidFill>
                  </a:tcPr>
                </a:tc>
                <a:tc>
                  <a:txBody>
                    <a:bodyPr lIns="36000" rIns="36000" tIns="14000" bIns="14000"/>
                    <a:lstStyle/>
                    <a:p>
                      <a:pPr algn="l"/>
                      <a:r>
                        <a:rPr sz="850" b="0" i="0">
                          <a:solidFill>
                            <a:srgbClr val="000000"/>
                          </a:solidFill>
                          <a:latin typeface="Consolas"/>
                        </a:rPr>
                        <a:t>42.62</a:t>
                      </a:r>
                    </a:p>
                  </a:txBody>
                  <a:tcPr>
                    <a:solidFill>
                      <a:srgbClr val="EEEEEE"/>
                    </a:solidFill>
                  </a:tcPr>
                </a:tc>
                <a:tc>
                  <a:txBody>
                    <a:bodyPr lIns="36000" rIns="36000" tIns="14000" bIns="14000"/>
                    <a:lstStyle/>
                    <a:p>
                      <a:pPr algn="l"/>
                      <a:r>
                        <a:rPr sz="850" b="0" i="0">
                          <a:solidFill>
                            <a:srgbClr val="000000"/>
                          </a:solidFill>
                          <a:latin typeface="Consolas"/>
                        </a:rPr>
                        <a:t>180</a:t>
                      </a:r>
                    </a:p>
                  </a:txBody>
                  <a:tcPr>
                    <a:solidFill>
                      <a:srgbClr val="EEEEEE"/>
                    </a:solidFill>
                  </a:tcPr>
                </a:tc>
              </a:tr>
              <a:tr h="193852">
                <a:tc>
                  <a:txBody>
                    <a:bodyPr lIns="36000" rIns="36000" tIns="14000" bIns="14000"/>
                    <a:lstStyle/>
                    <a:p>
                      <a:pPr algn="l"/>
                      <a:r>
                        <a:rPr sz="850" b="0" i="0">
                          <a:solidFill>
                            <a:srgbClr val="000000"/>
                          </a:solidFill>
                          <a:latin typeface="Consolas"/>
                        </a:rPr>
                        <a:t>Sig 2 (TS)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36000" rIns="36000" tIns="14000" bIns="14000"/>
                    <a:lstStyle/>
                    <a:p>
                      <a:pPr algn="l"/>
                      <a:r>
                        <a:rPr sz="850" b="0" i="0">
                          <a:solidFill>
                            <a:srgbClr val="000000"/>
                          </a:solidFill>
                          <a:latin typeface="Consolas"/>
                        </a:rPr>
                        <a:t>Full Prevention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36000" rIns="36000" tIns="14000" bIns="14000"/>
                    <a:lstStyle/>
                    <a:p>
                      <a:pPr algn="l"/>
                      <a:r>
                        <a:rPr sz="850" b="0" i="0">
                          <a:solidFill>
                            <a:srgbClr val="000000"/>
                          </a:solidFill>
                          <a:latin typeface="Consolas"/>
                        </a:rPr>
                        <a:t>44.2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36000" rIns="36000" tIns="14000" bIns="14000"/>
                    <a:lstStyle/>
                    <a:p>
                      <a:pPr algn="l"/>
                      <a:r>
                        <a:rPr sz="850" b="0" i="0">
                          <a:solidFill>
                            <a:srgbClr val="000000"/>
                          </a:solidFill>
                          <a:latin typeface="Consolas"/>
                        </a:rPr>
                        <a:t>144.3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36000" rIns="36000" tIns="14000" bIns="14000"/>
                    <a:lstStyle/>
                    <a:p>
                      <a:pPr algn="l"/>
                      <a:r>
                        <a:rPr sz="850" b="0" i="0">
                          <a:solidFill>
                            <a:srgbClr val="000000"/>
                          </a:solidFill>
                          <a:latin typeface="Consolas"/>
                        </a:rPr>
                        <a:t>3738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36000" rIns="36000" tIns="14000" bIns="14000"/>
                    <a:lstStyle/>
                    <a:p>
                      <a:pPr algn="l"/>
                      <a:r>
                        <a:rPr sz="850" b="0" i="0">
                          <a:solidFill>
                            <a:srgbClr val="000000"/>
                          </a:solidFill>
                          <a:latin typeface="Consolas"/>
                        </a:rPr>
                        <a:t>38.22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36000" rIns="36000" tIns="14000" bIns="14000"/>
                    <a:lstStyle/>
                    <a:p>
                      <a:pPr algn="l"/>
                      <a:r>
                        <a:rPr sz="850" b="0" i="0">
                          <a:solidFill>
                            <a:srgbClr val="000000"/>
                          </a:solidFill>
                          <a:latin typeface="Consolas"/>
                        </a:rPr>
                        <a:t>180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93852">
                <a:tc>
                  <a:txBody>
                    <a:bodyPr lIns="36000" rIns="36000" tIns="14000" bIns="14000"/>
                    <a:lstStyle/>
                    <a:p>
                      <a:pPr algn="l"/>
                      <a:r>
                        <a:rPr sz="850" b="0" i="0">
                          <a:solidFill>
                            <a:srgbClr val="000000"/>
                          </a:solidFill>
                          <a:latin typeface="Consolas"/>
                        </a:rPr>
                        <a:t>Sig 2 (TS)</a:t>
                      </a:r>
                    </a:p>
                  </a:txBody>
                  <a:tcPr>
                    <a:solidFill>
                      <a:srgbClr val="EEEEEE"/>
                    </a:solidFill>
                  </a:tcPr>
                </a:tc>
                <a:tc>
                  <a:txBody>
                    <a:bodyPr lIns="36000" rIns="36000" tIns="14000" bIns="14000"/>
                    <a:lstStyle/>
                    <a:p>
                      <a:pPr algn="l"/>
                      <a:r>
                        <a:rPr sz="850" b="0" i="0">
                          <a:solidFill>
                            <a:srgbClr val="000000"/>
                          </a:solidFill>
                          <a:latin typeface="Consolas"/>
                        </a:rPr>
                        <a:t>Large Prevention</a:t>
                      </a:r>
                    </a:p>
                  </a:txBody>
                  <a:tcPr>
                    <a:solidFill>
                      <a:srgbClr val="EEEEEE"/>
                    </a:solidFill>
                  </a:tcPr>
                </a:tc>
                <a:tc>
                  <a:txBody>
                    <a:bodyPr lIns="36000" rIns="36000" tIns="14000" bIns="14000"/>
                    <a:lstStyle/>
                    <a:p>
                      <a:pPr algn="l"/>
                      <a:r>
                        <a:rPr sz="850" b="0" i="0">
                          <a:solidFill>
                            <a:srgbClr val="000000"/>
                          </a:solidFill>
                          <a:latin typeface="Consolas"/>
                        </a:rPr>
                        <a:t>42.19</a:t>
                      </a:r>
                    </a:p>
                  </a:txBody>
                  <a:tcPr>
                    <a:solidFill>
                      <a:srgbClr val="EEEEEE"/>
                    </a:solidFill>
                  </a:tcPr>
                </a:tc>
                <a:tc>
                  <a:txBody>
                    <a:bodyPr lIns="36000" rIns="36000" tIns="14000" bIns="14000"/>
                    <a:lstStyle/>
                    <a:p>
                      <a:pPr algn="l"/>
                      <a:r>
                        <a:rPr sz="850" b="0" i="0">
                          <a:solidFill>
                            <a:srgbClr val="000000"/>
                          </a:solidFill>
                          <a:latin typeface="Consolas"/>
                        </a:rPr>
                        <a:t>137.72</a:t>
                      </a:r>
                    </a:p>
                  </a:txBody>
                  <a:tcPr>
                    <a:solidFill>
                      <a:srgbClr val="EEEEEE"/>
                    </a:solidFill>
                  </a:tcPr>
                </a:tc>
                <a:tc>
                  <a:txBody>
                    <a:bodyPr lIns="36000" rIns="36000" tIns="14000" bIns="14000"/>
                    <a:lstStyle/>
                    <a:p>
                      <a:pPr algn="l"/>
                      <a:r>
                        <a:rPr sz="850" b="0" i="0">
                          <a:solidFill>
                            <a:srgbClr val="000000"/>
                          </a:solidFill>
                          <a:latin typeface="Consolas"/>
                        </a:rPr>
                        <a:t>3680</a:t>
                      </a:r>
                    </a:p>
                  </a:txBody>
                  <a:tcPr>
                    <a:solidFill>
                      <a:srgbClr val="EEEEEE"/>
                    </a:solidFill>
                  </a:tcPr>
                </a:tc>
                <a:tc>
                  <a:txBody>
                    <a:bodyPr lIns="36000" rIns="36000" tIns="14000" bIns="14000"/>
                    <a:lstStyle/>
                    <a:p>
                      <a:pPr algn="l"/>
                      <a:r>
                        <a:rPr sz="850" b="0" i="0">
                          <a:solidFill>
                            <a:srgbClr val="000000"/>
                          </a:solidFill>
                          <a:latin typeface="Consolas"/>
                        </a:rPr>
                        <a:t>36.99</a:t>
                      </a:r>
                    </a:p>
                  </a:txBody>
                  <a:tcPr>
                    <a:solidFill>
                      <a:srgbClr val="EEEEEE"/>
                    </a:solidFill>
                  </a:tcPr>
                </a:tc>
                <a:tc>
                  <a:txBody>
                    <a:bodyPr lIns="36000" rIns="36000" tIns="14000" bIns="14000"/>
                    <a:lstStyle/>
                    <a:p>
                      <a:pPr algn="l"/>
                      <a:r>
                        <a:rPr sz="850" b="0" i="0">
                          <a:solidFill>
                            <a:srgbClr val="000000"/>
                          </a:solidFill>
                          <a:latin typeface="Consolas"/>
                        </a:rPr>
                        <a:t>180</a:t>
                      </a:r>
                    </a:p>
                  </a:txBody>
                  <a:tcPr>
                    <a:solidFill>
                      <a:srgbClr val="EEEEEE"/>
                    </a:solidFill>
                  </a:tcPr>
                </a:tc>
              </a:tr>
              <a:tr h="193852">
                <a:tc>
                  <a:txBody>
                    <a:bodyPr lIns="36000" rIns="36000" tIns="14000" bIns="14000"/>
                    <a:lstStyle/>
                    <a:p>
                      <a:pPr algn="l"/>
                      <a:r>
                        <a:rPr sz="850" b="0" i="0">
                          <a:solidFill>
                            <a:srgbClr val="000000"/>
                          </a:solidFill>
                          <a:latin typeface="Consolas"/>
                        </a:rPr>
                        <a:t>Sig 3 (Severe)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36000" rIns="36000" tIns="14000" bIns="14000"/>
                    <a:lstStyle/>
                    <a:p>
                      <a:pPr algn="l"/>
                      <a:r>
                        <a:rPr sz="850" b="0" i="0">
                          <a:solidFill>
                            <a:srgbClr val="000000"/>
                          </a:solidFill>
                          <a:latin typeface="Consolas"/>
                        </a:rPr>
                        <a:t>Baseline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36000" rIns="36000" tIns="14000" bIns="14000"/>
                    <a:lstStyle/>
                    <a:p>
                      <a:pPr algn="l"/>
                      <a:r>
                        <a:rPr sz="850" b="0" i="0">
                          <a:solidFill>
                            <a:srgbClr val="000000"/>
                          </a:solidFill>
                          <a:latin typeface="Consolas"/>
                        </a:rPr>
                        <a:t>56.46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36000" rIns="36000" tIns="14000" bIns="14000"/>
                    <a:lstStyle/>
                    <a:p>
                      <a:pPr algn="l"/>
                      <a:r>
                        <a:rPr sz="850" b="0" i="0">
                          <a:solidFill>
                            <a:srgbClr val="000000"/>
                          </a:solidFill>
                          <a:latin typeface="Consolas"/>
                        </a:rPr>
                        <a:t>184.29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36000" rIns="36000" tIns="14000" bIns="14000"/>
                    <a:lstStyle/>
                    <a:p>
                      <a:pPr algn="l"/>
                      <a:r>
                        <a:rPr sz="850" b="0" i="0">
                          <a:solidFill>
                            <a:srgbClr val="000000"/>
                          </a:solidFill>
                          <a:latin typeface="Consolas"/>
                        </a:rPr>
                        <a:t>3565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36000" rIns="36000" tIns="14000" bIns="14000"/>
                    <a:lstStyle/>
                    <a:p>
                      <a:pPr algn="l"/>
                      <a:r>
                        <a:rPr sz="850" b="0" i="0">
                          <a:solidFill>
                            <a:srgbClr val="000000"/>
                          </a:solidFill>
                          <a:latin typeface="Consolas"/>
                        </a:rPr>
                        <a:t>50.47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36000" rIns="36000" tIns="14000" bIns="14000"/>
                    <a:lstStyle/>
                    <a:p>
                      <a:pPr algn="l"/>
                      <a:r>
                        <a:rPr sz="850" b="0" i="0">
                          <a:solidFill>
                            <a:srgbClr val="000000"/>
                          </a:solidFill>
                          <a:latin typeface="Consolas"/>
                        </a:rPr>
                        <a:t>200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93852">
                <a:tc>
                  <a:txBody>
                    <a:bodyPr lIns="36000" rIns="36000" tIns="14000" bIns="14000"/>
                    <a:lstStyle/>
                    <a:p>
                      <a:pPr algn="l"/>
                      <a:r>
                        <a:rPr sz="850" b="0" i="0">
                          <a:solidFill>
                            <a:srgbClr val="000000"/>
                          </a:solidFill>
                          <a:latin typeface="Consolas"/>
                        </a:rPr>
                        <a:t>Sig 3 (Severe)</a:t>
                      </a:r>
                    </a:p>
                  </a:txBody>
                  <a:tcPr>
                    <a:solidFill>
                      <a:srgbClr val="EEEEEE"/>
                    </a:solidFill>
                  </a:tcPr>
                </a:tc>
                <a:tc>
                  <a:txBody>
                    <a:bodyPr lIns="36000" rIns="36000" tIns="14000" bIns="14000"/>
                    <a:lstStyle/>
                    <a:p>
                      <a:pPr algn="l"/>
                      <a:r>
                        <a:rPr sz="850" b="0" i="0">
                          <a:solidFill>
                            <a:srgbClr val="000000"/>
                          </a:solidFill>
                          <a:latin typeface="Consolas"/>
                        </a:rPr>
                        <a:t>Wall+Canal</a:t>
                      </a:r>
                    </a:p>
                  </a:txBody>
                  <a:tcPr>
                    <a:solidFill>
                      <a:srgbClr val="EEEEEE"/>
                    </a:solidFill>
                  </a:tcPr>
                </a:tc>
                <a:tc>
                  <a:txBody>
                    <a:bodyPr lIns="36000" rIns="36000" tIns="14000" bIns="14000"/>
                    <a:lstStyle/>
                    <a:p>
                      <a:pPr algn="l"/>
                      <a:r>
                        <a:rPr sz="850" b="0" i="0">
                          <a:solidFill>
                            <a:srgbClr val="000000"/>
                          </a:solidFill>
                          <a:latin typeface="Consolas"/>
                        </a:rPr>
                        <a:t>53.98</a:t>
                      </a:r>
                    </a:p>
                  </a:txBody>
                  <a:tcPr>
                    <a:solidFill>
                      <a:srgbClr val="EEEEEE"/>
                    </a:solidFill>
                  </a:tcPr>
                </a:tc>
                <a:tc>
                  <a:txBody>
                    <a:bodyPr lIns="36000" rIns="36000" tIns="14000" bIns="14000"/>
                    <a:lstStyle/>
                    <a:p>
                      <a:pPr algn="l"/>
                      <a:r>
                        <a:rPr sz="850" b="0" i="0">
                          <a:solidFill>
                            <a:srgbClr val="000000"/>
                          </a:solidFill>
                          <a:latin typeface="Consolas"/>
                        </a:rPr>
                        <a:t>176.21</a:t>
                      </a:r>
                    </a:p>
                  </a:txBody>
                  <a:tcPr>
                    <a:solidFill>
                      <a:srgbClr val="EEEEEE"/>
                    </a:solidFill>
                  </a:tcPr>
                </a:tc>
                <a:tc>
                  <a:txBody>
                    <a:bodyPr lIns="36000" rIns="36000" tIns="14000" bIns="14000"/>
                    <a:lstStyle/>
                    <a:p>
                      <a:pPr algn="l"/>
                      <a:r>
                        <a:rPr sz="850" b="0" i="0">
                          <a:solidFill>
                            <a:srgbClr val="000000"/>
                          </a:solidFill>
                          <a:latin typeface="Consolas"/>
                        </a:rPr>
                        <a:t>3859</a:t>
                      </a:r>
                    </a:p>
                  </a:txBody>
                  <a:tcPr>
                    <a:solidFill>
                      <a:srgbClr val="EEEEEE"/>
                    </a:solidFill>
                  </a:tcPr>
                </a:tc>
                <a:tc>
                  <a:txBody>
                    <a:bodyPr lIns="36000" rIns="36000" tIns="14000" bIns="14000"/>
                    <a:lstStyle/>
                    <a:p>
                      <a:pPr algn="l"/>
                      <a:r>
                        <a:rPr sz="850" b="0" i="0">
                          <a:solidFill>
                            <a:srgbClr val="000000"/>
                          </a:solidFill>
                          <a:latin typeface="Consolas"/>
                        </a:rPr>
                        <a:t>46.88</a:t>
                      </a:r>
                    </a:p>
                  </a:txBody>
                  <a:tcPr>
                    <a:solidFill>
                      <a:srgbClr val="EEEEEE"/>
                    </a:solidFill>
                  </a:tcPr>
                </a:tc>
                <a:tc>
                  <a:txBody>
                    <a:bodyPr lIns="36000" rIns="36000" tIns="14000" bIns="14000"/>
                    <a:lstStyle/>
                    <a:p>
                      <a:pPr algn="l"/>
                      <a:r>
                        <a:rPr sz="850" b="0" i="0">
                          <a:solidFill>
                            <a:srgbClr val="000000"/>
                          </a:solidFill>
                          <a:latin typeface="Consolas"/>
                        </a:rPr>
                        <a:t>200</a:t>
                      </a:r>
                    </a:p>
                  </a:txBody>
                  <a:tcPr>
                    <a:solidFill>
                      <a:srgbClr val="EEEEEE"/>
                    </a:solidFill>
                  </a:tcPr>
                </a:tc>
              </a:tr>
              <a:tr h="193852">
                <a:tc>
                  <a:txBody>
                    <a:bodyPr lIns="36000" rIns="36000" tIns="14000" bIns="14000"/>
                    <a:lstStyle/>
                    <a:p>
                      <a:pPr algn="l"/>
                      <a:r>
                        <a:rPr sz="850" b="0" i="0">
                          <a:solidFill>
                            <a:srgbClr val="000000"/>
                          </a:solidFill>
                          <a:latin typeface="Consolas"/>
                        </a:rPr>
                        <a:t>Sig 3 (Severe)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36000" rIns="36000" tIns="14000" bIns="14000"/>
                    <a:lstStyle/>
                    <a:p>
                      <a:pPr algn="l"/>
                      <a:r>
                        <a:rPr sz="850" b="0" i="0">
                          <a:solidFill>
                            <a:srgbClr val="000000"/>
                          </a:solidFill>
                          <a:latin typeface="Consolas"/>
                        </a:rPr>
                        <a:t>Full Prevention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36000" rIns="36000" tIns="14000" bIns="14000"/>
                    <a:lstStyle/>
                    <a:p>
                      <a:pPr algn="l"/>
                      <a:r>
                        <a:rPr sz="850" b="0" i="0">
                          <a:solidFill>
                            <a:srgbClr val="000000"/>
                          </a:solidFill>
                          <a:latin typeface="Consolas"/>
                        </a:rPr>
                        <a:t>50.3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36000" rIns="36000" tIns="14000" bIns="14000"/>
                    <a:lstStyle/>
                    <a:p>
                      <a:pPr algn="l"/>
                      <a:r>
                        <a:rPr sz="850" b="0" i="0">
                          <a:solidFill>
                            <a:srgbClr val="000000"/>
                          </a:solidFill>
                          <a:latin typeface="Consolas"/>
                        </a:rPr>
                        <a:t>164.2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36000" rIns="36000" tIns="14000" bIns="14000"/>
                    <a:lstStyle/>
                    <a:p>
                      <a:pPr algn="l"/>
                      <a:r>
                        <a:rPr sz="850" b="0" i="0">
                          <a:solidFill>
                            <a:srgbClr val="000000"/>
                          </a:solidFill>
                          <a:latin typeface="Consolas"/>
                        </a:rPr>
                        <a:t>3953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36000" rIns="36000" tIns="14000" bIns="14000"/>
                    <a:lstStyle/>
                    <a:p>
                      <a:pPr algn="l"/>
                      <a:r>
                        <a:rPr sz="850" b="0" i="0">
                          <a:solidFill>
                            <a:srgbClr val="000000"/>
                          </a:solidFill>
                          <a:latin typeface="Consolas"/>
                        </a:rPr>
                        <a:t>42.34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36000" rIns="36000" tIns="14000" bIns="14000"/>
                    <a:lstStyle/>
                    <a:p>
                      <a:pPr algn="l"/>
                      <a:r>
                        <a:rPr sz="850" b="0" i="0">
                          <a:solidFill>
                            <a:srgbClr val="000000"/>
                          </a:solidFill>
                          <a:latin typeface="Consolas"/>
                        </a:rPr>
                        <a:t>200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93852">
                <a:tc>
                  <a:txBody>
                    <a:bodyPr lIns="36000" rIns="36000" tIns="14000" bIns="14000"/>
                    <a:lstStyle/>
                    <a:p>
                      <a:pPr algn="l"/>
                      <a:r>
                        <a:rPr sz="850" b="0" i="0">
                          <a:solidFill>
                            <a:srgbClr val="000000"/>
                          </a:solidFill>
                          <a:latin typeface="Consolas"/>
                        </a:rPr>
                        <a:t>Sig 3 (Severe)</a:t>
                      </a:r>
                    </a:p>
                  </a:txBody>
                  <a:tcPr>
                    <a:solidFill>
                      <a:srgbClr val="EEEEEE"/>
                    </a:solidFill>
                  </a:tcPr>
                </a:tc>
                <a:tc>
                  <a:txBody>
                    <a:bodyPr lIns="36000" rIns="36000" tIns="14000" bIns="14000"/>
                    <a:lstStyle/>
                    <a:p>
                      <a:pPr algn="l"/>
                      <a:r>
                        <a:rPr sz="850" b="0" i="0">
                          <a:solidFill>
                            <a:srgbClr val="000000"/>
                          </a:solidFill>
                          <a:latin typeface="Consolas"/>
                        </a:rPr>
                        <a:t>Large Prevention</a:t>
                      </a:r>
                    </a:p>
                  </a:txBody>
                  <a:tcPr>
                    <a:solidFill>
                      <a:srgbClr val="EEEEEE"/>
                    </a:solidFill>
                  </a:tcPr>
                </a:tc>
                <a:tc>
                  <a:txBody>
                    <a:bodyPr lIns="36000" rIns="36000" tIns="14000" bIns="14000"/>
                    <a:lstStyle/>
                    <a:p>
                      <a:pPr algn="l"/>
                      <a:r>
                        <a:rPr sz="850" b="0" i="0">
                          <a:solidFill>
                            <a:srgbClr val="000000"/>
                          </a:solidFill>
                          <a:latin typeface="Consolas"/>
                        </a:rPr>
                        <a:t>49.12</a:t>
                      </a:r>
                    </a:p>
                  </a:txBody>
                  <a:tcPr>
                    <a:solidFill>
                      <a:srgbClr val="EEEEEE"/>
                    </a:solidFill>
                  </a:tcPr>
                </a:tc>
                <a:tc>
                  <a:txBody>
                    <a:bodyPr lIns="36000" rIns="36000" tIns="14000" bIns="14000"/>
                    <a:lstStyle/>
                    <a:p>
                      <a:pPr algn="l"/>
                      <a:r>
                        <a:rPr sz="850" b="0" i="0">
                          <a:solidFill>
                            <a:srgbClr val="000000"/>
                          </a:solidFill>
                          <a:latin typeface="Consolas"/>
                        </a:rPr>
                        <a:t>160.35</a:t>
                      </a:r>
                    </a:p>
                  </a:txBody>
                  <a:tcPr>
                    <a:solidFill>
                      <a:srgbClr val="EEEEEE"/>
                    </a:solidFill>
                  </a:tcPr>
                </a:tc>
                <a:tc>
                  <a:txBody>
                    <a:bodyPr lIns="36000" rIns="36000" tIns="14000" bIns="14000"/>
                    <a:lstStyle/>
                    <a:p>
                      <a:pPr algn="l"/>
                      <a:r>
                        <a:rPr sz="850" b="0" i="0">
                          <a:solidFill>
                            <a:srgbClr val="000000"/>
                          </a:solidFill>
                          <a:latin typeface="Consolas"/>
                        </a:rPr>
                        <a:t>3878</a:t>
                      </a:r>
                    </a:p>
                  </a:txBody>
                  <a:tcPr>
                    <a:solidFill>
                      <a:srgbClr val="EEEEEE"/>
                    </a:solidFill>
                  </a:tcPr>
                </a:tc>
                <a:tc>
                  <a:txBody>
                    <a:bodyPr lIns="36000" rIns="36000" tIns="14000" bIns="14000"/>
                    <a:lstStyle/>
                    <a:p>
                      <a:pPr algn="l"/>
                      <a:r>
                        <a:rPr sz="850" b="0" i="0">
                          <a:solidFill>
                            <a:srgbClr val="000000"/>
                          </a:solidFill>
                          <a:latin typeface="Consolas"/>
                        </a:rPr>
                        <a:t>41.04</a:t>
                      </a:r>
                    </a:p>
                  </a:txBody>
                  <a:tcPr>
                    <a:solidFill>
                      <a:srgbClr val="EEEEEE"/>
                    </a:solidFill>
                  </a:tcPr>
                </a:tc>
                <a:tc>
                  <a:txBody>
                    <a:bodyPr lIns="36000" rIns="36000" tIns="14000" bIns="14000"/>
                    <a:lstStyle/>
                    <a:p>
                      <a:pPr algn="l"/>
                      <a:r>
                        <a:rPr sz="850" b="0" i="0">
                          <a:solidFill>
                            <a:srgbClr val="000000"/>
                          </a:solidFill>
                          <a:latin typeface="Consolas"/>
                        </a:rPr>
                        <a:t>200</a:t>
                      </a:r>
                    </a:p>
                  </a:txBody>
                  <a:tcPr>
                    <a:solidFill>
                      <a:srgbClr val="EEEEEE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548640" y="6263620"/>
            <a:ext cx="11094415" cy="4572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000" b="0" i="1">
                <a:solidFill>
                  <a:srgbClr val="666666"/>
                </a:solidFill>
                <a:latin typeface="Calibri"/>
              </a:rPr>
              <a:t>Source: Results/data/master_results_table.csv  — Generated by flood_simulation_100%.py (6 PAGASA scenarios × 4 prevention configs).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45720"/>
            <a:ext cx="7315200" cy="36576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09   RESULTS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0" y="45720"/>
            <a:ext cx="1828800" cy="36576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/>
            <a:r>
              <a:rPr sz="1100" b="1" i="0">
                <a:solidFill>
                  <a:srgbClr val="FFFFFF"/>
                </a:solidFill>
                <a:latin typeface="Consolas"/>
              </a:rPr>
              <a:t>34 / 39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6446520"/>
            <a:ext cx="11094415" cy="9525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800" b="1" i="0">
                <a:solidFill>
                  <a:srgbClr val="666666"/>
                </a:solidFill>
                <a:latin typeface="Consolas"/>
              </a:rPr>
              <a:t>JADE VALLEY FLOOD SIMULATION   |   DAVAO CITY, PHILIPPINES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0" y="6492240"/>
            <a:ext cx="2468880" cy="2743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/>
            <a:r>
              <a:rPr sz="800" b="1" i="0">
                <a:solidFill>
                  <a:srgbClr val="666666"/>
                </a:solidFill>
                <a:latin typeface="Consolas"/>
              </a:rPr>
              <a:t>FINAL BUILD 100%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594360"/>
            <a:ext cx="11094415" cy="54864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2400" b="1" i="0">
                <a:solidFill>
                  <a:srgbClr val="000000"/>
                </a:solidFill>
                <a:latin typeface="Calibri"/>
              </a:rPr>
              <a:t>MASTER RESULTS SUMMARY (RAW EXPORT)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1097280"/>
            <a:ext cx="1828800" cy="28575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8640" y="1325880"/>
            <a:ext cx="11094415" cy="457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1325880"/>
            <a:ext cx="11094415" cy="1270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" y="5885180"/>
            <a:ext cx="11094415" cy="1270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48640" y="1325880"/>
            <a:ext cx="12700" cy="457200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1630355" y="1325880"/>
            <a:ext cx="12700" cy="457200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1417320"/>
            <a:ext cx="10820095" cy="43891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000000"/>
                </a:solidFill>
                <a:latin typeface="Consolas"/>
              </a:rPr>
              <a:t>====================================================================================================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000000"/>
                </a:solidFill>
                <a:latin typeface="Consolas"/>
              </a:rPr>
              <a:t>  JADE VALLEY SUBDIVISION - MASTER RESULTS TABLE  (100% BUILD)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000000"/>
                </a:solidFill>
                <a:latin typeface="Consolas"/>
              </a:rPr>
              <a:t>  Davao City, Philippines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000000"/>
                </a:solidFill>
                <a:latin typeface="Consolas"/>
              </a:rPr>
              <a:t>====================================================================================================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000000"/>
                </a:solidFill>
                <a:latin typeface="Consolas"/>
              </a:rPr>
              <a:t>  Generated      : 2026-05-20 13:07:08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000000"/>
                </a:solidFill>
                <a:latin typeface="Consolas"/>
              </a:rPr>
              <a:t>  Total area     : 326.42 ha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000000"/>
                </a:solidFill>
                <a:latin typeface="Consolas"/>
              </a:rPr>
              <a:t>  Timestep       : 20 min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000000"/>
                </a:solidFill>
                <a:latin typeface="Consolas"/>
              </a:rPr>
              <a:t>  Total runs     : 24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000000"/>
                </a:solidFill>
                <a:latin typeface="Consolas"/>
              </a:rPr>
              <a:t> 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000000"/>
                </a:solidFill>
                <a:latin typeface="Consolas"/>
              </a:rPr>
              <a:t>----------------------------------------------------------------------------------------------------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000000"/>
                </a:solidFill>
                <a:latin typeface="Consolas"/>
              </a:rPr>
              <a:t>  Scenario                               Config                Peak%   Peak ha  MaxDep mm  River%  Onset min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000000"/>
                </a:solidFill>
                <a:latin typeface="Consolas"/>
              </a:rPr>
              <a:t>----------------------------------------------------------------------------------------------------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000000"/>
                </a:solidFill>
                <a:latin typeface="Consolas"/>
              </a:rPr>
              <a:t>  Light Rain                             Baseline               0.00      0.00          0    0.00          -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000000"/>
                </a:solidFill>
                <a:latin typeface="Consolas"/>
              </a:rPr>
              <a:t>  Light Rain                             Wall+Canal             0.00      0.00          0    0.00          -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000000"/>
                </a:solidFill>
                <a:latin typeface="Consolas"/>
              </a:rPr>
              <a:t>  Light Rain                             Full Prevention        0.00      0.00          1    0.00          -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000000"/>
                </a:solidFill>
                <a:latin typeface="Consolas"/>
              </a:rPr>
              <a:t>  Light Rain                             Large Prevention       0.00      0.00          0    0.00          -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000000"/>
                </a:solidFill>
                <a:latin typeface="Consolas"/>
              </a:rPr>
              <a:t> 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000000"/>
                </a:solidFill>
                <a:latin typeface="Consolas"/>
              </a:rPr>
              <a:t>  Moderate Rain                          Baseline              21.43     69.94        214   21.17        160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000000"/>
                </a:solidFill>
                <a:latin typeface="Consolas"/>
              </a:rPr>
              <a:t>  Moderate Rain                          Wall+Canal            16.36     53.42        217   16.19        160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000000"/>
                </a:solidFill>
                <a:latin typeface="Consolas"/>
              </a:rPr>
              <a:t>  Moderate Rain                          Full Prevention       14.15     46.19        218   13.98        160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000000"/>
                </a:solidFill>
                <a:latin typeface="Consolas"/>
              </a:rPr>
              <a:t>  Moderate Rain                          Large Prevention      12.65     41.31        217   12.74        160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000000"/>
                </a:solidFill>
                <a:latin typeface="Consolas"/>
              </a:rPr>
              <a:t> 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000000"/>
                </a:solidFill>
                <a:latin typeface="Consolas"/>
              </a:rPr>
              <a:t>  Heavy Rain                             Baseline              39.09    127.58       1345   34.83        120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000000"/>
                </a:solidFill>
                <a:latin typeface="Consolas"/>
              </a:rPr>
              <a:t>  Heavy Rain                             Wall+Canal            33.68    109.93       1431   28.65        120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000000"/>
                </a:solidFill>
                <a:latin typeface="Consolas"/>
              </a:rPr>
              <a:t>  Heavy Rain                             Full Prevention       30.89    100.83       1472   25.11        120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000000"/>
                </a:solidFill>
                <a:latin typeface="Consolas"/>
              </a:rPr>
              <a:t>  Heavy Rain                             Large Prevention      28.73     93.79       1438   23.76        120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000000"/>
                </a:solidFill>
                <a:latin typeface="Consolas"/>
              </a:rPr>
              <a:t> 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000000"/>
                </a:solidFill>
                <a:latin typeface="Consolas"/>
              </a:rPr>
              <a:t>  Typhoon Signal 1 (Tropical Depression) Baseline              44.92    146.64       3002   39.83        160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000000"/>
                </a:solidFill>
                <a:latin typeface="Consolas"/>
              </a:rPr>
              <a:t>  Typhoon Signal 1 (Tropical Depression) Wall+Canal            42.45    138.57       3241   36.09        160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000000"/>
                </a:solidFill>
                <a:latin typeface="Consolas"/>
              </a:rPr>
              <a:t>  Typhoon Signal 1 (Tropical Depression) Full Prevention       39.98    130.49       3259   32.70        160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000000"/>
                </a:solidFill>
                <a:latin typeface="Consolas"/>
              </a:rPr>
              <a:t>  Typhoon Signal 1 (Tropical Depression) Large Prevention      37.91    123.74       3244   31.35        160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000000"/>
                </a:solidFill>
                <a:latin typeface="Consolas"/>
              </a:rPr>
              <a:t> 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000000"/>
                </a:solidFill>
                <a:latin typeface="Consolas"/>
              </a:rPr>
              <a:t>  Typhoon Signal 2 (Tropical Storm)      Baseline              49.70    162.23       3315   46.33        180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000000"/>
                </a:solidFill>
                <a:latin typeface="Consolas"/>
              </a:rPr>
              <a:t>  Typhoon Signal 2 (Tropical Storm)      Wall+Canal            47.08    153.68       3666   42.62        180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000000"/>
                </a:solidFill>
                <a:latin typeface="Consolas"/>
              </a:rPr>
              <a:t>  Typhoon Signal 2 (Tropical Storm)      Full Prevention       44.20    144.30       3738   38.22        180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000000"/>
                </a:solidFill>
                <a:latin typeface="Consolas"/>
              </a:rPr>
              <a:t>  Typhoon Signal 2 (Tropical Storm)      Large Prevention      42.19    137.72       3681   36.99        180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000000"/>
                </a:solidFill>
                <a:latin typeface="Consolas"/>
              </a:rPr>
              <a:t> 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000000"/>
                </a:solidFill>
                <a:latin typeface="Consolas"/>
              </a:rPr>
              <a:t>  Typhoon Signal 3 (Severe Typhoon)      Baseline              56.46    184.29       3565   50.47        200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000000"/>
                </a:solidFill>
                <a:latin typeface="Consolas"/>
              </a:rPr>
              <a:t>  Typhoon Signal 3 (Severe Typhoon)      Wall+Canal            53.98    176.21       3859   46.88        200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000000"/>
                </a:solidFill>
                <a:latin typeface="Consolas"/>
              </a:rPr>
              <a:t>  Typhoon Signal 3 (Severe Typhoon)      Full Prevention       50.30    164.20       3953   42.34        200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000000"/>
                </a:solidFill>
                <a:latin typeface="Consolas"/>
              </a:rPr>
              <a:t>  Typhoon Signal 3 (Severe Typhoon)      Large Prevention      49.12    160.35       3879   41.04        200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000000"/>
                </a:solidFill>
                <a:latin typeface="Consolas"/>
              </a:rPr>
              <a:t> 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000000"/>
                </a:solidFill>
                <a:latin typeface="Consolas"/>
              </a:rPr>
              <a:t>====================================================================================================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000000"/>
                </a:solidFill>
                <a:latin typeface="Consolas"/>
              </a:rPr>
              <a:t>  END OF MASTER RESULTS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000000"/>
                </a:solidFill>
                <a:latin typeface="Consolas"/>
              </a:rPr>
              <a:t>====================================================================================================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5989320"/>
            <a:ext cx="11094415" cy="36576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000" b="0" i="1">
                <a:solidFill>
                  <a:srgbClr val="666666"/>
                </a:solidFill>
                <a:latin typeface="Calibri"/>
              </a:rPr>
              <a:t>Verbatim export of Results/data/master_results_summary.txt — produced by flood_simulation_100%.py (COLLECT ALL DATA / --matrix-only).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45720"/>
            <a:ext cx="7315200" cy="36576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09   RESULTS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0" y="45720"/>
            <a:ext cx="1828800" cy="36576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/>
            <a:r>
              <a:rPr sz="1100" b="1" i="0">
                <a:solidFill>
                  <a:srgbClr val="FFFFFF"/>
                </a:solidFill>
                <a:latin typeface="Consolas"/>
              </a:rPr>
              <a:t>35 / 39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6446520"/>
            <a:ext cx="11094415" cy="9525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800" b="1" i="0">
                <a:solidFill>
                  <a:srgbClr val="666666"/>
                </a:solidFill>
                <a:latin typeface="Consolas"/>
              </a:rPr>
              <a:t>JADE VALLEY FLOOD SIMULATION   |   DAVAO CITY, PHILIPPINES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0" y="6492240"/>
            <a:ext cx="2468880" cy="2743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/>
            <a:r>
              <a:rPr sz="800" b="1" i="0">
                <a:solidFill>
                  <a:srgbClr val="666666"/>
                </a:solidFill>
                <a:latin typeface="Consolas"/>
              </a:rPr>
              <a:t>FINAL BUILD 100%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594360"/>
            <a:ext cx="11094415" cy="54864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2400" b="1" i="0">
                <a:solidFill>
                  <a:srgbClr val="000000"/>
                </a:solidFill>
                <a:latin typeface="Calibri"/>
              </a:rPr>
              <a:t>REDUCTION VS BASELINE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1097280"/>
            <a:ext cx="1828800" cy="28575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48640" y="1325880"/>
          <a:ext cx="10149840" cy="45171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51760"/>
                <a:gridCol w="1828800"/>
                <a:gridCol w="1371600"/>
                <a:gridCol w="1554480"/>
                <a:gridCol w="1463040"/>
                <a:gridCol w="1280160"/>
              </a:tblGrid>
              <a:tr h="237744">
                <a:tc>
                  <a:txBody>
                    <a:bodyPr lIns="36000" rIns="36000" tIns="18000" bIns="18000"/>
                    <a:lstStyle/>
                    <a:p>
                      <a:pPr algn="l"/>
                      <a:r>
                        <a:rPr sz="1000" b="1" i="0">
                          <a:solidFill>
                            <a:srgbClr val="FFFFFF"/>
                          </a:solidFill>
                          <a:latin typeface="Consolas"/>
                        </a:rPr>
                        <a:t>Scenario</a:t>
                      </a:r>
                    </a:p>
                  </a:txBody>
                  <a:tcPr>
                    <a:solidFill>
                      <a:srgbClr val="000000"/>
                    </a:solidFill>
                  </a:tcPr>
                </a:tc>
                <a:tc>
                  <a:txBody>
                    <a:bodyPr lIns="36000" rIns="36000" tIns="18000" bIns="18000"/>
                    <a:lstStyle/>
                    <a:p>
                      <a:pPr algn="l"/>
                      <a:r>
                        <a:rPr sz="1000" b="1" i="0">
                          <a:solidFill>
                            <a:srgbClr val="FFFFFF"/>
                          </a:solidFill>
                          <a:latin typeface="Consolas"/>
                        </a:rPr>
                        <a:t>Config</a:t>
                      </a:r>
                    </a:p>
                  </a:txBody>
                  <a:tcPr>
                    <a:solidFill>
                      <a:srgbClr val="000000"/>
                    </a:solidFill>
                  </a:tcPr>
                </a:tc>
                <a:tc>
                  <a:txBody>
                    <a:bodyPr lIns="36000" rIns="36000" tIns="18000" bIns="18000"/>
                    <a:lstStyle/>
                    <a:p>
                      <a:pPr algn="l"/>
                      <a:r>
                        <a:rPr sz="1000" b="1" i="0">
                          <a:solidFill>
                            <a:srgbClr val="FFFFFF"/>
                          </a:solidFill>
                          <a:latin typeface="Consolas"/>
                        </a:rPr>
                        <a:t>Δ Flooded %</a:t>
                      </a:r>
                    </a:p>
                  </a:txBody>
                  <a:tcPr>
                    <a:solidFill>
                      <a:srgbClr val="000000"/>
                    </a:solidFill>
                  </a:tcPr>
                </a:tc>
                <a:tc>
                  <a:txBody>
                    <a:bodyPr lIns="36000" rIns="36000" tIns="18000" bIns="18000"/>
                    <a:lstStyle/>
                    <a:p>
                      <a:pPr algn="l"/>
                      <a:r>
                        <a:rPr sz="1000" b="1" i="0">
                          <a:solidFill>
                            <a:srgbClr val="FFFFFF"/>
                          </a:solidFill>
                          <a:latin typeface="Consolas"/>
                        </a:rPr>
                        <a:t>Δ Flooded ha</a:t>
                      </a:r>
                    </a:p>
                  </a:txBody>
                  <a:tcPr>
                    <a:solidFill>
                      <a:srgbClr val="000000"/>
                    </a:solidFill>
                  </a:tcPr>
                </a:tc>
                <a:tc>
                  <a:txBody>
                    <a:bodyPr lIns="36000" rIns="36000" tIns="18000" bIns="18000"/>
                    <a:lstStyle/>
                    <a:p>
                      <a:pPr algn="l"/>
                      <a:r>
                        <a:rPr sz="1000" b="1" i="0">
                          <a:solidFill>
                            <a:srgbClr val="FFFFFF"/>
                          </a:solidFill>
                          <a:latin typeface="Consolas"/>
                        </a:rPr>
                        <a:t>Δ Depth mm</a:t>
                      </a:r>
                    </a:p>
                  </a:txBody>
                  <a:tcPr>
                    <a:solidFill>
                      <a:srgbClr val="000000"/>
                    </a:solidFill>
                  </a:tcPr>
                </a:tc>
                <a:tc>
                  <a:txBody>
                    <a:bodyPr lIns="36000" rIns="36000" tIns="18000" bIns="18000"/>
                    <a:lstStyle/>
                    <a:p>
                      <a:pPr algn="l"/>
                      <a:r>
                        <a:rPr sz="1000" b="1" i="0">
                          <a:solidFill>
                            <a:srgbClr val="FFFFFF"/>
                          </a:solidFill>
                          <a:latin typeface="Consolas"/>
                        </a:rPr>
                        <a:t>Reduction %</a:t>
                      </a:r>
                    </a:p>
                  </a:txBody>
                  <a:tcPr>
                    <a:solidFill>
                      <a:srgbClr val="000000"/>
                    </a:solidFill>
                  </a:tcPr>
                </a:tc>
              </a:tr>
              <a:tr h="237744">
                <a:tc>
                  <a:txBody>
                    <a:bodyPr lIns="36000" rIns="36000" tIns="14000" bIns="14000"/>
                    <a:lstStyle/>
                    <a:p>
                      <a:pPr algn="l"/>
                      <a:r>
                        <a:rPr sz="850" b="0" i="0">
                          <a:solidFill>
                            <a:srgbClr val="000000"/>
                          </a:solidFill>
                          <a:latin typeface="Consolas"/>
                        </a:rPr>
                        <a:t>Light Rain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36000" rIns="36000" tIns="14000" bIns="14000"/>
                    <a:lstStyle/>
                    <a:p>
                      <a:pPr algn="l"/>
                      <a:r>
                        <a:rPr sz="850" b="0" i="0">
                          <a:solidFill>
                            <a:srgbClr val="000000"/>
                          </a:solidFill>
                          <a:latin typeface="Consolas"/>
                        </a:rPr>
                        <a:t>Wall+Canal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36000" rIns="36000" tIns="14000" bIns="14000"/>
                    <a:lstStyle/>
                    <a:p>
                      <a:pPr algn="l"/>
                      <a:r>
                        <a:rPr sz="850" b="0" i="0">
                          <a:solidFill>
                            <a:srgbClr val="000000"/>
                          </a:solidFill>
                          <a:latin typeface="Consolas"/>
                        </a:rPr>
                        <a:t>+0.00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36000" rIns="36000" tIns="14000" bIns="14000"/>
                    <a:lstStyle/>
                    <a:p>
                      <a:pPr algn="l"/>
                      <a:r>
                        <a:rPr sz="850" b="0" i="0">
                          <a:solidFill>
                            <a:srgbClr val="000000"/>
                          </a:solidFill>
                          <a:latin typeface="Consolas"/>
                        </a:rPr>
                        <a:t>+0.00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36000" rIns="36000" tIns="14000" bIns="14000"/>
                    <a:lstStyle/>
                    <a:p>
                      <a:pPr algn="l"/>
                      <a:r>
                        <a:rPr sz="850" b="0" i="0">
                          <a:solidFill>
                            <a:srgbClr val="000000"/>
                          </a:solidFill>
                          <a:latin typeface="Consolas"/>
                        </a:rPr>
                        <a:t>+0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36000" rIns="36000" tIns="14000" bIns="14000"/>
                    <a:lstStyle/>
                    <a:p>
                      <a:pPr algn="l"/>
                      <a:r>
                        <a:rPr sz="850" b="0" i="0">
                          <a:solidFill>
                            <a:srgbClr val="000000"/>
                          </a:solidFill>
                          <a:latin typeface="Consolas"/>
                        </a:rPr>
                        <a:t>+0.0%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lIns="36000" rIns="36000" tIns="14000" bIns="14000"/>
                    <a:lstStyle/>
                    <a:p>
                      <a:pPr algn="l"/>
                      <a:r>
                        <a:rPr sz="850" b="0" i="0">
                          <a:solidFill>
                            <a:srgbClr val="000000"/>
                          </a:solidFill>
                          <a:latin typeface="Consolas"/>
                        </a:rPr>
                        <a:t>Light Rain</a:t>
                      </a:r>
                    </a:p>
                  </a:txBody>
                  <a:tcPr>
                    <a:solidFill>
                      <a:srgbClr val="EEEEEE"/>
                    </a:solidFill>
                  </a:tcPr>
                </a:tc>
                <a:tc>
                  <a:txBody>
                    <a:bodyPr lIns="36000" rIns="36000" tIns="14000" bIns="14000"/>
                    <a:lstStyle/>
                    <a:p>
                      <a:pPr algn="l"/>
                      <a:r>
                        <a:rPr sz="850" b="0" i="0">
                          <a:solidFill>
                            <a:srgbClr val="000000"/>
                          </a:solidFill>
                          <a:latin typeface="Consolas"/>
                        </a:rPr>
                        <a:t>Full Prevention</a:t>
                      </a:r>
                    </a:p>
                  </a:txBody>
                  <a:tcPr>
                    <a:solidFill>
                      <a:srgbClr val="EEEEEE"/>
                    </a:solidFill>
                  </a:tcPr>
                </a:tc>
                <a:tc>
                  <a:txBody>
                    <a:bodyPr lIns="36000" rIns="36000" tIns="14000" bIns="14000"/>
                    <a:lstStyle/>
                    <a:p>
                      <a:pPr algn="l"/>
                      <a:r>
                        <a:rPr sz="850" b="0" i="0">
                          <a:solidFill>
                            <a:srgbClr val="000000"/>
                          </a:solidFill>
                          <a:latin typeface="Consolas"/>
                        </a:rPr>
                        <a:t>+0.00</a:t>
                      </a:r>
                    </a:p>
                  </a:txBody>
                  <a:tcPr>
                    <a:solidFill>
                      <a:srgbClr val="EEEEEE"/>
                    </a:solidFill>
                  </a:tcPr>
                </a:tc>
                <a:tc>
                  <a:txBody>
                    <a:bodyPr lIns="36000" rIns="36000" tIns="14000" bIns="14000"/>
                    <a:lstStyle/>
                    <a:p>
                      <a:pPr algn="l"/>
                      <a:r>
                        <a:rPr sz="850" b="0" i="0">
                          <a:solidFill>
                            <a:srgbClr val="000000"/>
                          </a:solidFill>
                          <a:latin typeface="Consolas"/>
                        </a:rPr>
                        <a:t>+0.00</a:t>
                      </a:r>
                    </a:p>
                  </a:txBody>
                  <a:tcPr>
                    <a:solidFill>
                      <a:srgbClr val="EEEEEE"/>
                    </a:solidFill>
                  </a:tcPr>
                </a:tc>
                <a:tc>
                  <a:txBody>
                    <a:bodyPr lIns="36000" rIns="36000" tIns="14000" bIns="14000"/>
                    <a:lstStyle/>
                    <a:p>
                      <a:pPr algn="l"/>
                      <a:r>
                        <a:rPr sz="850" b="0" i="0">
                          <a:solidFill>
                            <a:srgbClr val="000000"/>
                          </a:solidFill>
                          <a:latin typeface="Consolas"/>
                        </a:rPr>
                        <a:t>+0</a:t>
                      </a:r>
                    </a:p>
                  </a:txBody>
                  <a:tcPr>
                    <a:solidFill>
                      <a:srgbClr val="EEEEEE"/>
                    </a:solidFill>
                  </a:tcPr>
                </a:tc>
                <a:tc>
                  <a:txBody>
                    <a:bodyPr lIns="36000" rIns="36000" tIns="14000" bIns="14000"/>
                    <a:lstStyle/>
                    <a:p>
                      <a:pPr algn="l"/>
                      <a:r>
                        <a:rPr sz="850" b="0" i="0">
                          <a:solidFill>
                            <a:srgbClr val="000000"/>
                          </a:solidFill>
                          <a:latin typeface="Consolas"/>
                        </a:rPr>
                        <a:t>+0.0%</a:t>
                      </a:r>
                    </a:p>
                  </a:txBody>
                  <a:tcPr>
                    <a:solidFill>
                      <a:srgbClr val="EEEEEE"/>
                    </a:solidFill>
                  </a:tcPr>
                </a:tc>
              </a:tr>
              <a:tr h="237744">
                <a:tc>
                  <a:txBody>
                    <a:bodyPr lIns="36000" rIns="36000" tIns="14000" bIns="14000"/>
                    <a:lstStyle/>
                    <a:p>
                      <a:pPr algn="l"/>
                      <a:r>
                        <a:rPr sz="850" b="0" i="0">
                          <a:solidFill>
                            <a:srgbClr val="000000"/>
                          </a:solidFill>
                          <a:latin typeface="Consolas"/>
                        </a:rPr>
                        <a:t>Light Rain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36000" rIns="36000" tIns="14000" bIns="14000"/>
                    <a:lstStyle/>
                    <a:p>
                      <a:pPr algn="l"/>
                      <a:r>
                        <a:rPr sz="850" b="0" i="0">
                          <a:solidFill>
                            <a:srgbClr val="000000"/>
                          </a:solidFill>
                          <a:latin typeface="Consolas"/>
                        </a:rPr>
                        <a:t>Large Prevention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36000" rIns="36000" tIns="14000" bIns="14000"/>
                    <a:lstStyle/>
                    <a:p>
                      <a:pPr algn="l"/>
                      <a:r>
                        <a:rPr sz="850" b="0" i="0">
                          <a:solidFill>
                            <a:srgbClr val="000000"/>
                          </a:solidFill>
                          <a:latin typeface="Consolas"/>
                        </a:rPr>
                        <a:t>+0.00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36000" rIns="36000" tIns="14000" bIns="14000"/>
                    <a:lstStyle/>
                    <a:p>
                      <a:pPr algn="l"/>
                      <a:r>
                        <a:rPr sz="850" b="0" i="0">
                          <a:solidFill>
                            <a:srgbClr val="000000"/>
                          </a:solidFill>
                          <a:latin typeface="Consolas"/>
                        </a:rPr>
                        <a:t>+0.00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36000" rIns="36000" tIns="14000" bIns="14000"/>
                    <a:lstStyle/>
                    <a:p>
                      <a:pPr algn="l"/>
                      <a:r>
                        <a:rPr sz="850" b="0" i="0">
                          <a:solidFill>
                            <a:srgbClr val="000000"/>
                          </a:solidFill>
                          <a:latin typeface="Consolas"/>
                        </a:rPr>
                        <a:t>+0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36000" rIns="36000" tIns="14000" bIns="14000"/>
                    <a:lstStyle/>
                    <a:p>
                      <a:pPr algn="l"/>
                      <a:r>
                        <a:rPr sz="850" b="0" i="0">
                          <a:solidFill>
                            <a:srgbClr val="000000"/>
                          </a:solidFill>
                          <a:latin typeface="Consolas"/>
                        </a:rPr>
                        <a:t>+0.0%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lIns="36000" rIns="36000" tIns="14000" bIns="14000"/>
                    <a:lstStyle/>
                    <a:p>
                      <a:pPr algn="l"/>
                      <a:r>
                        <a:rPr sz="850" b="0" i="0">
                          <a:solidFill>
                            <a:srgbClr val="000000"/>
                          </a:solidFill>
                          <a:latin typeface="Consolas"/>
                        </a:rPr>
                        <a:t>Moderate Rain</a:t>
                      </a:r>
                    </a:p>
                  </a:txBody>
                  <a:tcPr>
                    <a:solidFill>
                      <a:srgbClr val="EEEEEE"/>
                    </a:solidFill>
                  </a:tcPr>
                </a:tc>
                <a:tc>
                  <a:txBody>
                    <a:bodyPr lIns="36000" rIns="36000" tIns="14000" bIns="14000"/>
                    <a:lstStyle/>
                    <a:p>
                      <a:pPr algn="l"/>
                      <a:r>
                        <a:rPr sz="850" b="0" i="0">
                          <a:solidFill>
                            <a:srgbClr val="000000"/>
                          </a:solidFill>
                          <a:latin typeface="Consolas"/>
                        </a:rPr>
                        <a:t>Wall+Canal</a:t>
                      </a:r>
                    </a:p>
                  </a:txBody>
                  <a:tcPr>
                    <a:solidFill>
                      <a:srgbClr val="EEEEEE"/>
                    </a:solidFill>
                  </a:tcPr>
                </a:tc>
                <a:tc>
                  <a:txBody>
                    <a:bodyPr lIns="36000" rIns="36000" tIns="14000" bIns="14000"/>
                    <a:lstStyle/>
                    <a:p>
                      <a:pPr algn="l"/>
                      <a:r>
                        <a:rPr sz="850" b="0" i="0">
                          <a:solidFill>
                            <a:srgbClr val="000000"/>
                          </a:solidFill>
                          <a:latin typeface="Consolas"/>
                        </a:rPr>
                        <a:t>-5.07</a:t>
                      </a:r>
                    </a:p>
                  </a:txBody>
                  <a:tcPr>
                    <a:solidFill>
                      <a:srgbClr val="EEEEEE"/>
                    </a:solidFill>
                  </a:tcPr>
                </a:tc>
                <a:tc>
                  <a:txBody>
                    <a:bodyPr lIns="36000" rIns="36000" tIns="14000" bIns="14000"/>
                    <a:lstStyle/>
                    <a:p>
                      <a:pPr algn="l"/>
                      <a:r>
                        <a:rPr sz="850" b="0" i="0">
                          <a:solidFill>
                            <a:srgbClr val="000000"/>
                          </a:solidFill>
                          <a:latin typeface="Consolas"/>
                        </a:rPr>
                        <a:t>-16.52</a:t>
                      </a:r>
                    </a:p>
                  </a:txBody>
                  <a:tcPr>
                    <a:solidFill>
                      <a:srgbClr val="EEEEEE"/>
                    </a:solidFill>
                  </a:tcPr>
                </a:tc>
                <a:tc>
                  <a:txBody>
                    <a:bodyPr lIns="36000" rIns="36000" tIns="14000" bIns="14000"/>
                    <a:lstStyle/>
                    <a:p>
                      <a:pPr algn="l"/>
                      <a:r>
                        <a:rPr sz="850" b="0" i="0">
                          <a:solidFill>
                            <a:srgbClr val="000000"/>
                          </a:solidFill>
                          <a:latin typeface="Consolas"/>
                        </a:rPr>
                        <a:t>+2</a:t>
                      </a:r>
                    </a:p>
                  </a:txBody>
                  <a:tcPr>
                    <a:solidFill>
                      <a:srgbClr val="EEEEEE"/>
                    </a:solidFill>
                  </a:tcPr>
                </a:tc>
                <a:tc>
                  <a:txBody>
                    <a:bodyPr lIns="36000" rIns="36000" tIns="14000" bIns="14000"/>
                    <a:lstStyle/>
                    <a:p>
                      <a:pPr algn="l"/>
                      <a:r>
                        <a:rPr sz="850" b="0" i="0">
                          <a:solidFill>
                            <a:srgbClr val="000000"/>
                          </a:solidFill>
                          <a:latin typeface="Consolas"/>
                        </a:rPr>
                        <a:t>-23.7%</a:t>
                      </a:r>
                    </a:p>
                  </a:txBody>
                  <a:tcPr>
                    <a:solidFill>
                      <a:srgbClr val="EEEEEE"/>
                    </a:solidFill>
                  </a:tcPr>
                </a:tc>
              </a:tr>
              <a:tr h="237744">
                <a:tc>
                  <a:txBody>
                    <a:bodyPr lIns="36000" rIns="36000" tIns="14000" bIns="14000"/>
                    <a:lstStyle/>
                    <a:p>
                      <a:pPr algn="l"/>
                      <a:r>
                        <a:rPr sz="850" b="0" i="0">
                          <a:solidFill>
                            <a:srgbClr val="000000"/>
                          </a:solidFill>
                          <a:latin typeface="Consolas"/>
                        </a:rPr>
                        <a:t>Moderate Rain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36000" rIns="36000" tIns="14000" bIns="14000"/>
                    <a:lstStyle/>
                    <a:p>
                      <a:pPr algn="l"/>
                      <a:r>
                        <a:rPr sz="850" b="0" i="0">
                          <a:solidFill>
                            <a:srgbClr val="000000"/>
                          </a:solidFill>
                          <a:latin typeface="Consolas"/>
                        </a:rPr>
                        <a:t>Full Prevention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36000" rIns="36000" tIns="14000" bIns="14000"/>
                    <a:lstStyle/>
                    <a:p>
                      <a:pPr algn="l"/>
                      <a:r>
                        <a:rPr sz="850" b="0" i="0">
                          <a:solidFill>
                            <a:srgbClr val="000000"/>
                          </a:solidFill>
                          <a:latin typeface="Consolas"/>
                        </a:rPr>
                        <a:t>-7.28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36000" rIns="36000" tIns="14000" bIns="14000"/>
                    <a:lstStyle/>
                    <a:p>
                      <a:pPr algn="l"/>
                      <a:r>
                        <a:rPr sz="850" b="0" i="0">
                          <a:solidFill>
                            <a:srgbClr val="000000"/>
                          </a:solidFill>
                          <a:latin typeface="Consolas"/>
                        </a:rPr>
                        <a:t>-23.75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36000" rIns="36000" tIns="14000" bIns="14000"/>
                    <a:lstStyle/>
                    <a:p>
                      <a:pPr algn="l"/>
                      <a:r>
                        <a:rPr sz="850" b="0" i="0">
                          <a:solidFill>
                            <a:srgbClr val="000000"/>
                          </a:solidFill>
                          <a:latin typeface="Consolas"/>
                        </a:rPr>
                        <a:t>+3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36000" rIns="36000" tIns="14000" bIns="14000"/>
                    <a:lstStyle/>
                    <a:p>
                      <a:pPr algn="l"/>
                      <a:r>
                        <a:rPr sz="850" b="0" i="0">
                          <a:solidFill>
                            <a:srgbClr val="000000"/>
                          </a:solidFill>
                          <a:latin typeface="Consolas"/>
                        </a:rPr>
                        <a:t>-34.0%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lIns="36000" rIns="36000" tIns="14000" bIns="14000"/>
                    <a:lstStyle/>
                    <a:p>
                      <a:pPr algn="l"/>
                      <a:r>
                        <a:rPr sz="850" b="0" i="0">
                          <a:solidFill>
                            <a:srgbClr val="000000"/>
                          </a:solidFill>
                          <a:latin typeface="Consolas"/>
                        </a:rPr>
                        <a:t>Moderate Rain</a:t>
                      </a:r>
                    </a:p>
                  </a:txBody>
                  <a:tcPr>
                    <a:solidFill>
                      <a:srgbClr val="EEEEEE"/>
                    </a:solidFill>
                  </a:tcPr>
                </a:tc>
                <a:tc>
                  <a:txBody>
                    <a:bodyPr lIns="36000" rIns="36000" tIns="14000" bIns="14000"/>
                    <a:lstStyle/>
                    <a:p>
                      <a:pPr algn="l"/>
                      <a:r>
                        <a:rPr sz="850" b="0" i="0">
                          <a:solidFill>
                            <a:srgbClr val="000000"/>
                          </a:solidFill>
                          <a:latin typeface="Consolas"/>
                        </a:rPr>
                        <a:t>Large Prevention</a:t>
                      </a:r>
                    </a:p>
                  </a:txBody>
                  <a:tcPr>
                    <a:solidFill>
                      <a:srgbClr val="EEEEEE"/>
                    </a:solidFill>
                  </a:tcPr>
                </a:tc>
                <a:tc>
                  <a:txBody>
                    <a:bodyPr lIns="36000" rIns="36000" tIns="14000" bIns="14000"/>
                    <a:lstStyle/>
                    <a:p>
                      <a:pPr algn="l"/>
                      <a:r>
                        <a:rPr sz="850" b="0" i="0">
                          <a:solidFill>
                            <a:srgbClr val="000000"/>
                          </a:solidFill>
                          <a:latin typeface="Consolas"/>
                        </a:rPr>
                        <a:t>-8.78</a:t>
                      </a:r>
                    </a:p>
                  </a:txBody>
                  <a:tcPr>
                    <a:solidFill>
                      <a:srgbClr val="EEEEEE"/>
                    </a:solidFill>
                  </a:tcPr>
                </a:tc>
                <a:tc>
                  <a:txBody>
                    <a:bodyPr lIns="36000" rIns="36000" tIns="14000" bIns="14000"/>
                    <a:lstStyle/>
                    <a:p>
                      <a:pPr algn="l"/>
                      <a:r>
                        <a:rPr sz="850" b="0" i="0">
                          <a:solidFill>
                            <a:srgbClr val="000000"/>
                          </a:solidFill>
                          <a:latin typeface="Consolas"/>
                        </a:rPr>
                        <a:t>-28.63</a:t>
                      </a:r>
                    </a:p>
                  </a:txBody>
                  <a:tcPr>
                    <a:solidFill>
                      <a:srgbClr val="EEEEEE"/>
                    </a:solidFill>
                  </a:tcPr>
                </a:tc>
                <a:tc>
                  <a:txBody>
                    <a:bodyPr lIns="36000" rIns="36000" tIns="14000" bIns="14000"/>
                    <a:lstStyle/>
                    <a:p>
                      <a:pPr algn="l"/>
                      <a:r>
                        <a:rPr sz="850" b="0" i="0">
                          <a:solidFill>
                            <a:srgbClr val="000000"/>
                          </a:solidFill>
                          <a:latin typeface="Consolas"/>
                        </a:rPr>
                        <a:t>+2</a:t>
                      </a:r>
                    </a:p>
                  </a:txBody>
                  <a:tcPr>
                    <a:solidFill>
                      <a:srgbClr val="EEEEEE"/>
                    </a:solidFill>
                  </a:tcPr>
                </a:tc>
                <a:tc>
                  <a:txBody>
                    <a:bodyPr lIns="36000" rIns="36000" tIns="14000" bIns="14000"/>
                    <a:lstStyle/>
                    <a:p>
                      <a:pPr algn="l"/>
                      <a:r>
                        <a:rPr sz="850" b="0" i="0">
                          <a:solidFill>
                            <a:srgbClr val="000000"/>
                          </a:solidFill>
                          <a:latin typeface="Consolas"/>
                        </a:rPr>
                        <a:t>-41.0%</a:t>
                      </a:r>
                    </a:p>
                  </a:txBody>
                  <a:tcPr>
                    <a:solidFill>
                      <a:srgbClr val="EEEEEE"/>
                    </a:solidFill>
                  </a:tcPr>
                </a:tc>
              </a:tr>
              <a:tr h="237744">
                <a:tc>
                  <a:txBody>
                    <a:bodyPr lIns="36000" rIns="36000" tIns="14000" bIns="14000"/>
                    <a:lstStyle/>
                    <a:p>
                      <a:pPr algn="l"/>
                      <a:r>
                        <a:rPr sz="850" b="0" i="0">
                          <a:solidFill>
                            <a:srgbClr val="000000"/>
                          </a:solidFill>
                          <a:latin typeface="Consolas"/>
                        </a:rPr>
                        <a:t>Heavy Rain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36000" rIns="36000" tIns="14000" bIns="14000"/>
                    <a:lstStyle/>
                    <a:p>
                      <a:pPr algn="l"/>
                      <a:r>
                        <a:rPr sz="850" b="0" i="0">
                          <a:solidFill>
                            <a:srgbClr val="000000"/>
                          </a:solidFill>
                          <a:latin typeface="Consolas"/>
                        </a:rPr>
                        <a:t>Wall+Canal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36000" rIns="36000" tIns="14000" bIns="14000"/>
                    <a:lstStyle/>
                    <a:p>
                      <a:pPr algn="l"/>
                      <a:r>
                        <a:rPr sz="850" b="0" i="0">
                          <a:solidFill>
                            <a:srgbClr val="000000"/>
                          </a:solidFill>
                          <a:latin typeface="Consolas"/>
                        </a:rPr>
                        <a:t>-5.41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36000" rIns="36000" tIns="14000" bIns="14000"/>
                    <a:lstStyle/>
                    <a:p>
                      <a:pPr algn="l"/>
                      <a:r>
                        <a:rPr sz="850" b="0" i="0">
                          <a:solidFill>
                            <a:srgbClr val="000000"/>
                          </a:solidFill>
                          <a:latin typeface="Consolas"/>
                        </a:rPr>
                        <a:t>-17.65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36000" rIns="36000" tIns="14000" bIns="14000"/>
                    <a:lstStyle/>
                    <a:p>
                      <a:pPr algn="l"/>
                      <a:r>
                        <a:rPr sz="850" b="0" i="0">
                          <a:solidFill>
                            <a:srgbClr val="000000"/>
                          </a:solidFill>
                          <a:latin typeface="Consolas"/>
                        </a:rPr>
                        <a:t>+86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36000" rIns="36000" tIns="14000" bIns="14000"/>
                    <a:lstStyle/>
                    <a:p>
                      <a:pPr algn="l"/>
                      <a:r>
                        <a:rPr sz="850" b="0" i="0">
                          <a:solidFill>
                            <a:srgbClr val="000000"/>
                          </a:solidFill>
                          <a:latin typeface="Consolas"/>
                        </a:rPr>
                        <a:t>-13.8%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lIns="36000" rIns="36000" tIns="14000" bIns="14000"/>
                    <a:lstStyle/>
                    <a:p>
                      <a:pPr algn="l"/>
                      <a:r>
                        <a:rPr sz="850" b="0" i="0">
                          <a:solidFill>
                            <a:srgbClr val="000000"/>
                          </a:solidFill>
                          <a:latin typeface="Consolas"/>
                        </a:rPr>
                        <a:t>Heavy Rain</a:t>
                      </a:r>
                    </a:p>
                  </a:txBody>
                  <a:tcPr>
                    <a:solidFill>
                      <a:srgbClr val="EEEEEE"/>
                    </a:solidFill>
                  </a:tcPr>
                </a:tc>
                <a:tc>
                  <a:txBody>
                    <a:bodyPr lIns="36000" rIns="36000" tIns="14000" bIns="14000"/>
                    <a:lstStyle/>
                    <a:p>
                      <a:pPr algn="l"/>
                      <a:r>
                        <a:rPr sz="850" b="0" i="0">
                          <a:solidFill>
                            <a:srgbClr val="000000"/>
                          </a:solidFill>
                          <a:latin typeface="Consolas"/>
                        </a:rPr>
                        <a:t>Full Prevention</a:t>
                      </a:r>
                    </a:p>
                  </a:txBody>
                  <a:tcPr>
                    <a:solidFill>
                      <a:srgbClr val="EEEEEE"/>
                    </a:solidFill>
                  </a:tcPr>
                </a:tc>
                <a:tc>
                  <a:txBody>
                    <a:bodyPr lIns="36000" rIns="36000" tIns="14000" bIns="14000"/>
                    <a:lstStyle/>
                    <a:p>
                      <a:pPr algn="l"/>
                      <a:r>
                        <a:rPr sz="850" b="0" i="0">
                          <a:solidFill>
                            <a:srgbClr val="000000"/>
                          </a:solidFill>
                          <a:latin typeface="Consolas"/>
                        </a:rPr>
                        <a:t>-8.20</a:t>
                      </a:r>
                    </a:p>
                  </a:txBody>
                  <a:tcPr>
                    <a:solidFill>
                      <a:srgbClr val="EEEEEE"/>
                    </a:solidFill>
                  </a:tcPr>
                </a:tc>
                <a:tc>
                  <a:txBody>
                    <a:bodyPr lIns="36000" rIns="36000" tIns="14000" bIns="14000"/>
                    <a:lstStyle/>
                    <a:p>
                      <a:pPr algn="l"/>
                      <a:r>
                        <a:rPr sz="850" b="0" i="0">
                          <a:solidFill>
                            <a:srgbClr val="000000"/>
                          </a:solidFill>
                          <a:latin typeface="Consolas"/>
                        </a:rPr>
                        <a:t>-26.75</a:t>
                      </a:r>
                    </a:p>
                  </a:txBody>
                  <a:tcPr>
                    <a:solidFill>
                      <a:srgbClr val="EEEEEE"/>
                    </a:solidFill>
                  </a:tcPr>
                </a:tc>
                <a:tc>
                  <a:txBody>
                    <a:bodyPr lIns="36000" rIns="36000" tIns="14000" bIns="14000"/>
                    <a:lstStyle/>
                    <a:p>
                      <a:pPr algn="l"/>
                      <a:r>
                        <a:rPr sz="850" b="0" i="0">
                          <a:solidFill>
                            <a:srgbClr val="000000"/>
                          </a:solidFill>
                          <a:latin typeface="Consolas"/>
                        </a:rPr>
                        <a:t>+127</a:t>
                      </a:r>
                    </a:p>
                  </a:txBody>
                  <a:tcPr>
                    <a:solidFill>
                      <a:srgbClr val="EEEEEE"/>
                    </a:solidFill>
                  </a:tcPr>
                </a:tc>
                <a:tc>
                  <a:txBody>
                    <a:bodyPr lIns="36000" rIns="36000" tIns="14000" bIns="14000"/>
                    <a:lstStyle/>
                    <a:p>
                      <a:pPr algn="l"/>
                      <a:r>
                        <a:rPr sz="850" b="0" i="0">
                          <a:solidFill>
                            <a:srgbClr val="000000"/>
                          </a:solidFill>
                          <a:latin typeface="Consolas"/>
                        </a:rPr>
                        <a:t>-21.0%</a:t>
                      </a:r>
                    </a:p>
                  </a:txBody>
                  <a:tcPr>
                    <a:solidFill>
                      <a:srgbClr val="EEEEEE"/>
                    </a:solidFill>
                  </a:tcPr>
                </a:tc>
              </a:tr>
              <a:tr h="237744">
                <a:tc>
                  <a:txBody>
                    <a:bodyPr lIns="36000" rIns="36000" tIns="14000" bIns="14000"/>
                    <a:lstStyle/>
                    <a:p>
                      <a:pPr algn="l"/>
                      <a:r>
                        <a:rPr sz="850" b="0" i="0">
                          <a:solidFill>
                            <a:srgbClr val="000000"/>
                          </a:solidFill>
                          <a:latin typeface="Consolas"/>
                        </a:rPr>
                        <a:t>Heavy Rain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36000" rIns="36000" tIns="14000" bIns="14000"/>
                    <a:lstStyle/>
                    <a:p>
                      <a:pPr algn="l"/>
                      <a:r>
                        <a:rPr sz="850" b="0" i="0">
                          <a:solidFill>
                            <a:srgbClr val="000000"/>
                          </a:solidFill>
                          <a:latin typeface="Consolas"/>
                        </a:rPr>
                        <a:t>Large Prevention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36000" rIns="36000" tIns="14000" bIns="14000"/>
                    <a:lstStyle/>
                    <a:p>
                      <a:pPr algn="l"/>
                      <a:r>
                        <a:rPr sz="850" b="0" i="0">
                          <a:solidFill>
                            <a:srgbClr val="000000"/>
                          </a:solidFill>
                          <a:latin typeface="Consolas"/>
                        </a:rPr>
                        <a:t>-10.36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36000" rIns="36000" tIns="14000" bIns="14000"/>
                    <a:lstStyle/>
                    <a:p>
                      <a:pPr algn="l"/>
                      <a:r>
                        <a:rPr sz="850" b="0" i="0">
                          <a:solidFill>
                            <a:srgbClr val="000000"/>
                          </a:solidFill>
                          <a:latin typeface="Consolas"/>
                        </a:rPr>
                        <a:t>-33.79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36000" rIns="36000" tIns="14000" bIns="14000"/>
                    <a:lstStyle/>
                    <a:p>
                      <a:pPr algn="l"/>
                      <a:r>
                        <a:rPr sz="850" b="0" i="0">
                          <a:solidFill>
                            <a:srgbClr val="000000"/>
                          </a:solidFill>
                          <a:latin typeface="Consolas"/>
                        </a:rPr>
                        <a:t>+93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36000" rIns="36000" tIns="14000" bIns="14000"/>
                    <a:lstStyle/>
                    <a:p>
                      <a:pPr algn="l"/>
                      <a:r>
                        <a:rPr sz="850" b="0" i="0">
                          <a:solidFill>
                            <a:srgbClr val="000000"/>
                          </a:solidFill>
                          <a:latin typeface="Consolas"/>
                        </a:rPr>
                        <a:t>-26.5%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lIns="36000" rIns="36000" tIns="14000" bIns="14000"/>
                    <a:lstStyle/>
                    <a:p>
                      <a:pPr algn="l"/>
                      <a:r>
                        <a:rPr sz="850" b="0" i="0">
                          <a:solidFill>
                            <a:srgbClr val="000000"/>
                          </a:solidFill>
                          <a:latin typeface="Consolas"/>
                        </a:rPr>
                        <a:t>Sig 1 (TD)</a:t>
                      </a:r>
                    </a:p>
                  </a:txBody>
                  <a:tcPr>
                    <a:solidFill>
                      <a:srgbClr val="EEEEEE"/>
                    </a:solidFill>
                  </a:tcPr>
                </a:tc>
                <a:tc>
                  <a:txBody>
                    <a:bodyPr lIns="36000" rIns="36000" tIns="14000" bIns="14000"/>
                    <a:lstStyle/>
                    <a:p>
                      <a:pPr algn="l"/>
                      <a:r>
                        <a:rPr sz="850" b="0" i="0">
                          <a:solidFill>
                            <a:srgbClr val="000000"/>
                          </a:solidFill>
                          <a:latin typeface="Consolas"/>
                        </a:rPr>
                        <a:t>Wall+Canal</a:t>
                      </a:r>
                    </a:p>
                  </a:txBody>
                  <a:tcPr>
                    <a:solidFill>
                      <a:srgbClr val="EEEEEE"/>
                    </a:solidFill>
                  </a:tcPr>
                </a:tc>
                <a:tc>
                  <a:txBody>
                    <a:bodyPr lIns="36000" rIns="36000" tIns="14000" bIns="14000"/>
                    <a:lstStyle/>
                    <a:p>
                      <a:pPr algn="l"/>
                      <a:r>
                        <a:rPr sz="850" b="0" i="0">
                          <a:solidFill>
                            <a:srgbClr val="000000"/>
                          </a:solidFill>
                          <a:latin typeface="Consolas"/>
                        </a:rPr>
                        <a:t>-2.47</a:t>
                      </a:r>
                    </a:p>
                  </a:txBody>
                  <a:tcPr>
                    <a:solidFill>
                      <a:srgbClr val="EEEEEE"/>
                    </a:solidFill>
                  </a:tcPr>
                </a:tc>
                <a:tc>
                  <a:txBody>
                    <a:bodyPr lIns="36000" rIns="36000" tIns="14000" bIns="14000"/>
                    <a:lstStyle/>
                    <a:p>
                      <a:pPr algn="l"/>
                      <a:r>
                        <a:rPr sz="850" b="0" i="0">
                          <a:solidFill>
                            <a:srgbClr val="000000"/>
                          </a:solidFill>
                          <a:latin typeface="Consolas"/>
                        </a:rPr>
                        <a:t>-8.07</a:t>
                      </a:r>
                    </a:p>
                  </a:txBody>
                  <a:tcPr>
                    <a:solidFill>
                      <a:srgbClr val="EEEEEE"/>
                    </a:solidFill>
                  </a:tcPr>
                </a:tc>
                <a:tc>
                  <a:txBody>
                    <a:bodyPr lIns="36000" rIns="36000" tIns="14000" bIns="14000"/>
                    <a:lstStyle/>
                    <a:p>
                      <a:pPr algn="l"/>
                      <a:r>
                        <a:rPr sz="850" b="0" i="0">
                          <a:solidFill>
                            <a:srgbClr val="000000"/>
                          </a:solidFill>
                          <a:latin typeface="Consolas"/>
                        </a:rPr>
                        <a:t>+239</a:t>
                      </a:r>
                    </a:p>
                  </a:txBody>
                  <a:tcPr>
                    <a:solidFill>
                      <a:srgbClr val="EEEEEE"/>
                    </a:solidFill>
                  </a:tcPr>
                </a:tc>
                <a:tc>
                  <a:txBody>
                    <a:bodyPr lIns="36000" rIns="36000" tIns="14000" bIns="14000"/>
                    <a:lstStyle/>
                    <a:p>
                      <a:pPr algn="l"/>
                      <a:r>
                        <a:rPr sz="850" b="0" i="0">
                          <a:solidFill>
                            <a:srgbClr val="000000"/>
                          </a:solidFill>
                          <a:latin typeface="Consolas"/>
                        </a:rPr>
                        <a:t>-5.5%</a:t>
                      </a:r>
                    </a:p>
                  </a:txBody>
                  <a:tcPr>
                    <a:solidFill>
                      <a:srgbClr val="EEEEEE"/>
                    </a:solidFill>
                  </a:tcPr>
                </a:tc>
              </a:tr>
              <a:tr h="237744">
                <a:tc>
                  <a:txBody>
                    <a:bodyPr lIns="36000" rIns="36000" tIns="14000" bIns="14000"/>
                    <a:lstStyle/>
                    <a:p>
                      <a:pPr algn="l"/>
                      <a:r>
                        <a:rPr sz="850" b="0" i="0">
                          <a:solidFill>
                            <a:srgbClr val="000000"/>
                          </a:solidFill>
                          <a:latin typeface="Consolas"/>
                        </a:rPr>
                        <a:t>Sig 1 (TD)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36000" rIns="36000" tIns="14000" bIns="14000"/>
                    <a:lstStyle/>
                    <a:p>
                      <a:pPr algn="l"/>
                      <a:r>
                        <a:rPr sz="850" b="0" i="0">
                          <a:solidFill>
                            <a:srgbClr val="000000"/>
                          </a:solidFill>
                          <a:latin typeface="Consolas"/>
                        </a:rPr>
                        <a:t>Full Prevention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36000" rIns="36000" tIns="14000" bIns="14000"/>
                    <a:lstStyle/>
                    <a:p>
                      <a:pPr algn="l"/>
                      <a:r>
                        <a:rPr sz="850" b="0" i="0">
                          <a:solidFill>
                            <a:srgbClr val="000000"/>
                          </a:solidFill>
                          <a:latin typeface="Consolas"/>
                        </a:rPr>
                        <a:t>-4.94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36000" rIns="36000" tIns="14000" bIns="14000"/>
                    <a:lstStyle/>
                    <a:p>
                      <a:pPr algn="l"/>
                      <a:r>
                        <a:rPr sz="850" b="0" i="0">
                          <a:solidFill>
                            <a:srgbClr val="000000"/>
                          </a:solidFill>
                          <a:latin typeface="Consolas"/>
                        </a:rPr>
                        <a:t>-16.15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36000" rIns="36000" tIns="14000" bIns="14000"/>
                    <a:lstStyle/>
                    <a:p>
                      <a:pPr algn="l"/>
                      <a:r>
                        <a:rPr sz="850" b="0" i="0">
                          <a:solidFill>
                            <a:srgbClr val="000000"/>
                          </a:solidFill>
                          <a:latin typeface="Consolas"/>
                        </a:rPr>
                        <a:t>+257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36000" rIns="36000" tIns="14000" bIns="14000"/>
                    <a:lstStyle/>
                    <a:p>
                      <a:pPr algn="l"/>
                      <a:r>
                        <a:rPr sz="850" b="0" i="0">
                          <a:solidFill>
                            <a:srgbClr val="000000"/>
                          </a:solidFill>
                          <a:latin typeface="Consolas"/>
                        </a:rPr>
                        <a:t>-11.0%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lIns="36000" rIns="36000" tIns="14000" bIns="14000"/>
                    <a:lstStyle/>
                    <a:p>
                      <a:pPr algn="l"/>
                      <a:r>
                        <a:rPr sz="850" b="0" i="0">
                          <a:solidFill>
                            <a:srgbClr val="000000"/>
                          </a:solidFill>
                          <a:latin typeface="Consolas"/>
                        </a:rPr>
                        <a:t>Sig 1 (TD)</a:t>
                      </a:r>
                    </a:p>
                  </a:txBody>
                  <a:tcPr>
                    <a:solidFill>
                      <a:srgbClr val="EEEEEE"/>
                    </a:solidFill>
                  </a:tcPr>
                </a:tc>
                <a:tc>
                  <a:txBody>
                    <a:bodyPr lIns="36000" rIns="36000" tIns="14000" bIns="14000"/>
                    <a:lstStyle/>
                    <a:p>
                      <a:pPr algn="l"/>
                      <a:r>
                        <a:rPr sz="850" b="0" i="0">
                          <a:solidFill>
                            <a:srgbClr val="000000"/>
                          </a:solidFill>
                          <a:latin typeface="Consolas"/>
                        </a:rPr>
                        <a:t>Large Prevention</a:t>
                      </a:r>
                    </a:p>
                  </a:txBody>
                  <a:tcPr>
                    <a:solidFill>
                      <a:srgbClr val="EEEEEE"/>
                    </a:solidFill>
                  </a:tcPr>
                </a:tc>
                <a:tc>
                  <a:txBody>
                    <a:bodyPr lIns="36000" rIns="36000" tIns="14000" bIns="14000"/>
                    <a:lstStyle/>
                    <a:p>
                      <a:pPr algn="l"/>
                      <a:r>
                        <a:rPr sz="850" b="0" i="0">
                          <a:solidFill>
                            <a:srgbClr val="000000"/>
                          </a:solidFill>
                          <a:latin typeface="Consolas"/>
                        </a:rPr>
                        <a:t>-7.01</a:t>
                      </a:r>
                    </a:p>
                  </a:txBody>
                  <a:tcPr>
                    <a:solidFill>
                      <a:srgbClr val="EEEEEE"/>
                    </a:solidFill>
                  </a:tcPr>
                </a:tc>
                <a:tc>
                  <a:txBody>
                    <a:bodyPr lIns="36000" rIns="36000" tIns="14000" bIns="14000"/>
                    <a:lstStyle/>
                    <a:p>
                      <a:pPr algn="l"/>
                      <a:r>
                        <a:rPr sz="850" b="0" i="0">
                          <a:solidFill>
                            <a:srgbClr val="000000"/>
                          </a:solidFill>
                          <a:latin typeface="Consolas"/>
                        </a:rPr>
                        <a:t>-22.90</a:t>
                      </a:r>
                    </a:p>
                  </a:txBody>
                  <a:tcPr>
                    <a:solidFill>
                      <a:srgbClr val="EEEEEE"/>
                    </a:solidFill>
                  </a:tcPr>
                </a:tc>
                <a:tc>
                  <a:txBody>
                    <a:bodyPr lIns="36000" rIns="36000" tIns="14000" bIns="14000"/>
                    <a:lstStyle/>
                    <a:p>
                      <a:pPr algn="l"/>
                      <a:r>
                        <a:rPr sz="850" b="0" i="0">
                          <a:solidFill>
                            <a:srgbClr val="000000"/>
                          </a:solidFill>
                          <a:latin typeface="Consolas"/>
                        </a:rPr>
                        <a:t>+242</a:t>
                      </a:r>
                    </a:p>
                  </a:txBody>
                  <a:tcPr>
                    <a:solidFill>
                      <a:srgbClr val="EEEEEE"/>
                    </a:solidFill>
                  </a:tcPr>
                </a:tc>
                <a:tc>
                  <a:txBody>
                    <a:bodyPr lIns="36000" rIns="36000" tIns="14000" bIns="14000"/>
                    <a:lstStyle/>
                    <a:p>
                      <a:pPr algn="l"/>
                      <a:r>
                        <a:rPr sz="850" b="0" i="0">
                          <a:solidFill>
                            <a:srgbClr val="000000"/>
                          </a:solidFill>
                          <a:latin typeface="Consolas"/>
                        </a:rPr>
                        <a:t>-15.6%</a:t>
                      </a:r>
                    </a:p>
                  </a:txBody>
                  <a:tcPr>
                    <a:solidFill>
                      <a:srgbClr val="EEEEEE"/>
                    </a:solidFill>
                  </a:tcPr>
                </a:tc>
              </a:tr>
              <a:tr h="237744">
                <a:tc>
                  <a:txBody>
                    <a:bodyPr lIns="36000" rIns="36000" tIns="14000" bIns="14000"/>
                    <a:lstStyle/>
                    <a:p>
                      <a:pPr algn="l"/>
                      <a:r>
                        <a:rPr sz="850" b="0" i="0">
                          <a:solidFill>
                            <a:srgbClr val="000000"/>
                          </a:solidFill>
                          <a:latin typeface="Consolas"/>
                        </a:rPr>
                        <a:t>Sig 2 (TS)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36000" rIns="36000" tIns="14000" bIns="14000"/>
                    <a:lstStyle/>
                    <a:p>
                      <a:pPr algn="l"/>
                      <a:r>
                        <a:rPr sz="850" b="0" i="0">
                          <a:solidFill>
                            <a:srgbClr val="000000"/>
                          </a:solidFill>
                          <a:latin typeface="Consolas"/>
                        </a:rPr>
                        <a:t>Wall+Canal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36000" rIns="36000" tIns="14000" bIns="14000"/>
                    <a:lstStyle/>
                    <a:p>
                      <a:pPr algn="l"/>
                      <a:r>
                        <a:rPr sz="850" b="0" i="0">
                          <a:solidFill>
                            <a:srgbClr val="000000"/>
                          </a:solidFill>
                          <a:latin typeface="Consolas"/>
                        </a:rPr>
                        <a:t>-2.62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36000" rIns="36000" tIns="14000" bIns="14000"/>
                    <a:lstStyle/>
                    <a:p>
                      <a:pPr algn="l"/>
                      <a:r>
                        <a:rPr sz="850" b="0" i="0">
                          <a:solidFill>
                            <a:srgbClr val="000000"/>
                          </a:solidFill>
                          <a:latin typeface="Consolas"/>
                        </a:rPr>
                        <a:t>-8.55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36000" rIns="36000" tIns="14000" bIns="14000"/>
                    <a:lstStyle/>
                    <a:p>
                      <a:pPr algn="l"/>
                      <a:r>
                        <a:rPr sz="850" b="0" i="0">
                          <a:solidFill>
                            <a:srgbClr val="000000"/>
                          </a:solidFill>
                          <a:latin typeface="Consolas"/>
                        </a:rPr>
                        <a:t>+351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36000" rIns="36000" tIns="14000" bIns="14000"/>
                    <a:lstStyle/>
                    <a:p>
                      <a:pPr algn="l"/>
                      <a:r>
                        <a:rPr sz="850" b="0" i="0">
                          <a:solidFill>
                            <a:srgbClr val="000000"/>
                          </a:solidFill>
                          <a:latin typeface="Consolas"/>
                        </a:rPr>
                        <a:t>-5.3%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lIns="36000" rIns="36000" tIns="14000" bIns="14000"/>
                    <a:lstStyle/>
                    <a:p>
                      <a:pPr algn="l"/>
                      <a:r>
                        <a:rPr sz="850" b="0" i="0">
                          <a:solidFill>
                            <a:srgbClr val="000000"/>
                          </a:solidFill>
                          <a:latin typeface="Consolas"/>
                        </a:rPr>
                        <a:t>Sig 2 (TS)</a:t>
                      </a:r>
                    </a:p>
                  </a:txBody>
                  <a:tcPr>
                    <a:solidFill>
                      <a:srgbClr val="EEEEEE"/>
                    </a:solidFill>
                  </a:tcPr>
                </a:tc>
                <a:tc>
                  <a:txBody>
                    <a:bodyPr lIns="36000" rIns="36000" tIns="14000" bIns="14000"/>
                    <a:lstStyle/>
                    <a:p>
                      <a:pPr algn="l"/>
                      <a:r>
                        <a:rPr sz="850" b="0" i="0">
                          <a:solidFill>
                            <a:srgbClr val="000000"/>
                          </a:solidFill>
                          <a:latin typeface="Consolas"/>
                        </a:rPr>
                        <a:t>Full Prevention</a:t>
                      </a:r>
                    </a:p>
                  </a:txBody>
                  <a:tcPr>
                    <a:solidFill>
                      <a:srgbClr val="EEEEEE"/>
                    </a:solidFill>
                  </a:tcPr>
                </a:tc>
                <a:tc>
                  <a:txBody>
                    <a:bodyPr lIns="36000" rIns="36000" tIns="14000" bIns="14000"/>
                    <a:lstStyle/>
                    <a:p>
                      <a:pPr algn="l"/>
                      <a:r>
                        <a:rPr sz="850" b="0" i="0">
                          <a:solidFill>
                            <a:srgbClr val="000000"/>
                          </a:solidFill>
                          <a:latin typeface="Consolas"/>
                        </a:rPr>
                        <a:t>-5.50</a:t>
                      </a:r>
                    </a:p>
                  </a:txBody>
                  <a:tcPr>
                    <a:solidFill>
                      <a:srgbClr val="EEEEEE"/>
                    </a:solidFill>
                  </a:tcPr>
                </a:tc>
                <a:tc>
                  <a:txBody>
                    <a:bodyPr lIns="36000" rIns="36000" tIns="14000" bIns="14000"/>
                    <a:lstStyle/>
                    <a:p>
                      <a:pPr algn="l"/>
                      <a:r>
                        <a:rPr sz="850" b="0" i="0">
                          <a:solidFill>
                            <a:srgbClr val="000000"/>
                          </a:solidFill>
                          <a:latin typeface="Consolas"/>
                        </a:rPr>
                        <a:t>-17.93</a:t>
                      </a:r>
                    </a:p>
                  </a:txBody>
                  <a:tcPr>
                    <a:solidFill>
                      <a:srgbClr val="EEEEEE"/>
                    </a:solidFill>
                  </a:tcPr>
                </a:tc>
                <a:tc>
                  <a:txBody>
                    <a:bodyPr lIns="36000" rIns="36000" tIns="14000" bIns="14000"/>
                    <a:lstStyle/>
                    <a:p>
                      <a:pPr algn="l"/>
                      <a:r>
                        <a:rPr sz="850" b="0" i="0">
                          <a:solidFill>
                            <a:srgbClr val="000000"/>
                          </a:solidFill>
                          <a:latin typeface="Consolas"/>
                        </a:rPr>
                        <a:t>+423</a:t>
                      </a:r>
                    </a:p>
                  </a:txBody>
                  <a:tcPr>
                    <a:solidFill>
                      <a:srgbClr val="EEEEEE"/>
                    </a:solidFill>
                  </a:tcPr>
                </a:tc>
                <a:tc>
                  <a:txBody>
                    <a:bodyPr lIns="36000" rIns="36000" tIns="14000" bIns="14000"/>
                    <a:lstStyle/>
                    <a:p>
                      <a:pPr algn="l"/>
                      <a:r>
                        <a:rPr sz="850" b="0" i="0">
                          <a:solidFill>
                            <a:srgbClr val="000000"/>
                          </a:solidFill>
                          <a:latin typeface="Consolas"/>
                        </a:rPr>
                        <a:t>-11.1%</a:t>
                      </a:r>
                    </a:p>
                  </a:txBody>
                  <a:tcPr>
                    <a:solidFill>
                      <a:srgbClr val="EEEEEE"/>
                    </a:solidFill>
                  </a:tcPr>
                </a:tc>
              </a:tr>
              <a:tr h="237744">
                <a:tc>
                  <a:txBody>
                    <a:bodyPr lIns="36000" rIns="36000" tIns="14000" bIns="14000"/>
                    <a:lstStyle/>
                    <a:p>
                      <a:pPr algn="l"/>
                      <a:r>
                        <a:rPr sz="850" b="0" i="0">
                          <a:solidFill>
                            <a:srgbClr val="000000"/>
                          </a:solidFill>
                          <a:latin typeface="Consolas"/>
                        </a:rPr>
                        <a:t>Sig 2 (TS)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36000" rIns="36000" tIns="14000" bIns="14000"/>
                    <a:lstStyle/>
                    <a:p>
                      <a:pPr algn="l"/>
                      <a:r>
                        <a:rPr sz="850" b="0" i="0">
                          <a:solidFill>
                            <a:srgbClr val="000000"/>
                          </a:solidFill>
                          <a:latin typeface="Consolas"/>
                        </a:rPr>
                        <a:t>Large Prevention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36000" rIns="36000" tIns="14000" bIns="14000"/>
                    <a:lstStyle/>
                    <a:p>
                      <a:pPr algn="l"/>
                      <a:r>
                        <a:rPr sz="850" b="0" i="0">
                          <a:solidFill>
                            <a:srgbClr val="000000"/>
                          </a:solidFill>
                          <a:latin typeface="Consolas"/>
                        </a:rPr>
                        <a:t>-7.51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36000" rIns="36000" tIns="14000" bIns="14000"/>
                    <a:lstStyle/>
                    <a:p>
                      <a:pPr algn="l"/>
                      <a:r>
                        <a:rPr sz="850" b="0" i="0">
                          <a:solidFill>
                            <a:srgbClr val="000000"/>
                          </a:solidFill>
                          <a:latin typeface="Consolas"/>
                        </a:rPr>
                        <a:t>-24.51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36000" rIns="36000" tIns="14000" bIns="14000"/>
                    <a:lstStyle/>
                    <a:p>
                      <a:pPr algn="l"/>
                      <a:r>
                        <a:rPr sz="850" b="0" i="0">
                          <a:solidFill>
                            <a:srgbClr val="000000"/>
                          </a:solidFill>
                          <a:latin typeface="Consolas"/>
                        </a:rPr>
                        <a:t>+365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36000" rIns="36000" tIns="14000" bIns="14000"/>
                    <a:lstStyle/>
                    <a:p>
                      <a:pPr algn="l"/>
                      <a:r>
                        <a:rPr sz="850" b="0" i="0">
                          <a:solidFill>
                            <a:srgbClr val="000000"/>
                          </a:solidFill>
                          <a:latin typeface="Consolas"/>
                        </a:rPr>
                        <a:t>-15.1%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lIns="36000" rIns="36000" tIns="14000" bIns="14000"/>
                    <a:lstStyle/>
                    <a:p>
                      <a:pPr algn="l"/>
                      <a:r>
                        <a:rPr sz="850" b="0" i="0">
                          <a:solidFill>
                            <a:srgbClr val="000000"/>
                          </a:solidFill>
                          <a:latin typeface="Consolas"/>
                        </a:rPr>
                        <a:t>Sig 3 (Severe)</a:t>
                      </a:r>
                    </a:p>
                  </a:txBody>
                  <a:tcPr>
                    <a:solidFill>
                      <a:srgbClr val="EEEEEE"/>
                    </a:solidFill>
                  </a:tcPr>
                </a:tc>
                <a:tc>
                  <a:txBody>
                    <a:bodyPr lIns="36000" rIns="36000" tIns="14000" bIns="14000"/>
                    <a:lstStyle/>
                    <a:p>
                      <a:pPr algn="l"/>
                      <a:r>
                        <a:rPr sz="850" b="0" i="0">
                          <a:solidFill>
                            <a:srgbClr val="000000"/>
                          </a:solidFill>
                          <a:latin typeface="Consolas"/>
                        </a:rPr>
                        <a:t>Wall+Canal</a:t>
                      </a:r>
                    </a:p>
                  </a:txBody>
                  <a:tcPr>
                    <a:solidFill>
                      <a:srgbClr val="EEEEEE"/>
                    </a:solidFill>
                  </a:tcPr>
                </a:tc>
                <a:tc>
                  <a:txBody>
                    <a:bodyPr lIns="36000" rIns="36000" tIns="14000" bIns="14000"/>
                    <a:lstStyle/>
                    <a:p>
                      <a:pPr algn="l"/>
                      <a:r>
                        <a:rPr sz="850" b="0" i="0">
                          <a:solidFill>
                            <a:srgbClr val="000000"/>
                          </a:solidFill>
                          <a:latin typeface="Consolas"/>
                        </a:rPr>
                        <a:t>-2.48</a:t>
                      </a:r>
                    </a:p>
                  </a:txBody>
                  <a:tcPr>
                    <a:solidFill>
                      <a:srgbClr val="EEEEEE"/>
                    </a:solidFill>
                  </a:tcPr>
                </a:tc>
                <a:tc>
                  <a:txBody>
                    <a:bodyPr lIns="36000" rIns="36000" tIns="14000" bIns="14000"/>
                    <a:lstStyle/>
                    <a:p>
                      <a:pPr algn="l"/>
                      <a:r>
                        <a:rPr sz="850" b="0" i="0">
                          <a:solidFill>
                            <a:srgbClr val="000000"/>
                          </a:solidFill>
                          <a:latin typeface="Consolas"/>
                        </a:rPr>
                        <a:t>-8.08</a:t>
                      </a:r>
                    </a:p>
                  </a:txBody>
                  <a:tcPr>
                    <a:solidFill>
                      <a:srgbClr val="EEEEEE"/>
                    </a:solidFill>
                  </a:tcPr>
                </a:tc>
                <a:tc>
                  <a:txBody>
                    <a:bodyPr lIns="36000" rIns="36000" tIns="14000" bIns="14000"/>
                    <a:lstStyle/>
                    <a:p>
                      <a:pPr algn="l"/>
                      <a:r>
                        <a:rPr sz="850" b="0" i="0">
                          <a:solidFill>
                            <a:srgbClr val="000000"/>
                          </a:solidFill>
                          <a:latin typeface="Consolas"/>
                        </a:rPr>
                        <a:t>+294</a:t>
                      </a:r>
                    </a:p>
                  </a:txBody>
                  <a:tcPr>
                    <a:solidFill>
                      <a:srgbClr val="EEEEEE"/>
                    </a:solidFill>
                  </a:tcPr>
                </a:tc>
                <a:tc>
                  <a:txBody>
                    <a:bodyPr lIns="36000" rIns="36000" tIns="14000" bIns="14000"/>
                    <a:lstStyle/>
                    <a:p>
                      <a:pPr algn="l"/>
                      <a:r>
                        <a:rPr sz="850" b="0" i="0">
                          <a:solidFill>
                            <a:srgbClr val="000000"/>
                          </a:solidFill>
                          <a:latin typeface="Consolas"/>
                        </a:rPr>
                        <a:t>-4.4%</a:t>
                      </a:r>
                    </a:p>
                  </a:txBody>
                  <a:tcPr>
                    <a:solidFill>
                      <a:srgbClr val="EEEEEE"/>
                    </a:solidFill>
                  </a:tcPr>
                </a:tc>
              </a:tr>
              <a:tr h="237744">
                <a:tc>
                  <a:txBody>
                    <a:bodyPr lIns="36000" rIns="36000" tIns="14000" bIns="14000"/>
                    <a:lstStyle/>
                    <a:p>
                      <a:pPr algn="l"/>
                      <a:r>
                        <a:rPr sz="850" b="0" i="0">
                          <a:solidFill>
                            <a:srgbClr val="000000"/>
                          </a:solidFill>
                          <a:latin typeface="Consolas"/>
                        </a:rPr>
                        <a:t>Sig 3 (Severe)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36000" rIns="36000" tIns="14000" bIns="14000"/>
                    <a:lstStyle/>
                    <a:p>
                      <a:pPr algn="l"/>
                      <a:r>
                        <a:rPr sz="850" b="0" i="0">
                          <a:solidFill>
                            <a:srgbClr val="000000"/>
                          </a:solidFill>
                          <a:latin typeface="Consolas"/>
                        </a:rPr>
                        <a:t>Full Prevention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36000" rIns="36000" tIns="14000" bIns="14000"/>
                    <a:lstStyle/>
                    <a:p>
                      <a:pPr algn="l"/>
                      <a:r>
                        <a:rPr sz="850" b="0" i="0">
                          <a:solidFill>
                            <a:srgbClr val="000000"/>
                          </a:solidFill>
                          <a:latin typeface="Consolas"/>
                        </a:rPr>
                        <a:t>-6.16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36000" rIns="36000" tIns="14000" bIns="14000"/>
                    <a:lstStyle/>
                    <a:p>
                      <a:pPr algn="l"/>
                      <a:r>
                        <a:rPr sz="850" b="0" i="0">
                          <a:solidFill>
                            <a:srgbClr val="000000"/>
                          </a:solidFill>
                          <a:latin typeface="Consolas"/>
                        </a:rPr>
                        <a:t>-20.09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36000" rIns="36000" tIns="14000" bIns="14000"/>
                    <a:lstStyle/>
                    <a:p>
                      <a:pPr algn="l"/>
                      <a:r>
                        <a:rPr sz="850" b="0" i="0">
                          <a:solidFill>
                            <a:srgbClr val="000000"/>
                          </a:solidFill>
                          <a:latin typeface="Consolas"/>
                        </a:rPr>
                        <a:t>+387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36000" rIns="36000" tIns="14000" bIns="14000"/>
                    <a:lstStyle/>
                    <a:p>
                      <a:pPr algn="l"/>
                      <a:r>
                        <a:rPr sz="850" b="0" i="0">
                          <a:solidFill>
                            <a:srgbClr val="000000"/>
                          </a:solidFill>
                          <a:latin typeface="Consolas"/>
                        </a:rPr>
                        <a:t>-10.9%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lIns="36000" rIns="36000" tIns="14000" bIns="14000"/>
                    <a:lstStyle/>
                    <a:p>
                      <a:pPr algn="l"/>
                      <a:r>
                        <a:rPr sz="850" b="0" i="0">
                          <a:solidFill>
                            <a:srgbClr val="000000"/>
                          </a:solidFill>
                          <a:latin typeface="Consolas"/>
                        </a:rPr>
                        <a:t>Sig 3 (Severe)</a:t>
                      </a:r>
                    </a:p>
                  </a:txBody>
                  <a:tcPr>
                    <a:solidFill>
                      <a:srgbClr val="EEEEEE"/>
                    </a:solidFill>
                  </a:tcPr>
                </a:tc>
                <a:tc>
                  <a:txBody>
                    <a:bodyPr lIns="36000" rIns="36000" tIns="14000" bIns="14000"/>
                    <a:lstStyle/>
                    <a:p>
                      <a:pPr algn="l"/>
                      <a:r>
                        <a:rPr sz="850" b="0" i="0">
                          <a:solidFill>
                            <a:srgbClr val="000000"/>
                          </a:solidFill>
                          <a:latin typeface="Consolas"/>
                        </a:rPr>
                        <a:t>Large Prevention</a:t>
                      </a:r>
                    </a:p>
                  </a:txBody>
                  <a:tcPr>
                    <a:solidFill>
                      <a:srgbClr val="EEEEEE"/>
                    </a:solidFill>
                  </a:tcPr>
                </a:tc>
                <a:tc>
                  <a:txBody>
                    <a:bodyPr lIns="36000" rIns="36000" tIns="14000" bIns="14000"/>
                    <a:lstStyle/>
                    <a:p>
                      <a:pPr algn="l"/>
                      <a:r>
                        <a:rPr sz="850" b="0" i="0">
                          <a:solidFill>
                            <a:srgbClr val="000000"/>
                          </a:solidFill>
                          <a:latin typeface="Consolas"/>
                        </a:rPr>
                        <a:t>-7.34</a:t>
                      </a:r>
                    </a:p>
                  </a:txBody>
                  <a:tcPr>
                    <a:solidFill>
                      <a:srgbClr val="EEEEEE"/>
                    </a:solidFill>
                  </a:tcPr>
                </a:tc>
                <a:tc>
                  <a:txBody>
                    <a:bodyPr lIns="36000" rIns="36000" tIns="14000" bIns="14000"/>
                    <a:lstStyle/>
                    <a:p>
                      <a:pPr algn="l"/>
                      <a:r>
                        <a:rPr sz="850" b="0" i="0">
                          <a:solidFill>
                            <a:srgbClr val="000000"/>
                          </a:solidFill>
                          <a:latin typeface="Consolas"/>
                        </a:rPr>
                        <a:t>-23.94</a:t>
                      </a:r>
                    </a:p>
                  </a:txBody>
                  <a:tcPr>
                    <a:solidFill>
                      <a:srgbClr val="EEEEEE"/>
                    </a:solidFill>
                  </a:tcPr>
                </a:tc>
                <a:tc>
                  <a:txBody>
                    <a:bodyPr lIns="36000" rIns="36000" tIns="14000" bIns="14000"/>
                    <a:lstStyle/>
                    <a:p>
                      <a:pPr algn="l"/>
                      <a:r>
                        <a:rPr sz="850" b="0" i="0">
                          <a:solidFill>
                            <a:srgbClr val="000000"/>
                          </a:solidFill>
                          <a:latin typeface="Consolas"/>
                        </a:rPr>
                        <a:t>+313</a:t>
                      </a:r>
                    </a:p>
                  </a:txBody>
                  <a:tcPr>
                    <a:solidFill>
                      <a:srgbClr val="EEEEEE"/>
                    </a:solidFill>
                  </a:tcPr>
                </a:tc>
                <a:tc>
                  <a:txBody>
                    <a:bodyPr lIns="36000" rIns="36000" tIns="14000" bIns="14000"/>
                    <a:lstStyle/>
                    <a:p>
                      <a:pPr algn="l"/>
                      <a:r>
                        <a:rPr sz="850" b="0" i="0">
                          <a:solidFill>
                            <a:srgbClr val="000000"/>
                          </a:solidFill>
                          <a:latin typeface="Consolas"/>
                        </a:rPr>
                        <a:t>-13.0%</a:t>
                      </a:r>
                    </a:p>
                  </a:txBody>
                  <a:tcPr>
                    <a:solidFill>
                      <a:srgbClr val="EEEEEE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548640" y="5934456"/>
            <a:ext cx="11094415" cy="4572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000" b="0" i="1">
                <a:solidFill>
                  <a:srgbClr val="666666"/>
                </a:solidFill>
                <a:latin typeface="Calibri"/>
              </a:rPr>
              <a:t>Negative values = reduction relative to baseline (good). Light Rain produces no baseline flooding, so reductions are 0.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931920" cy="685800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914400"/>
            <a:ext cx="3383280" cy="228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4000" b="1" i="0">
                <a:solidFill>
                  <a:srgbClr val="FFFFFF"/>
                </a:solidFill>
                <a:latin typeface="Consolas"/>
              </a:rPr>
              <a:t>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3291840"/>
            <a:ext cx="3383280" cy="4572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onsolas"/>
              </a:rPr>
              <a:t>SECTION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297680" y="1371600"/>
            <a:ext cx="7680960" cy="13716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4200" b="1" i="0">
                <a:solidFill>
                  <a:srgbClr val="000000"/>
                </a:solidFill>
                <a:latin typeface="Calibri"/>
              </a:rPr>
              <a:t>CONCLUSION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4297680" y="2788920"/>
            <a:ext cx="1828800" cy="28575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297680" y="2926080"/>
            <a:ext cx="7680960" cy="32004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400" b="0" i="0">
                <a:solidFill>
                  <a:srgbClr val="333333"/>
                </a:solidFill>
                <a:latin typeface="Calibri"/>
              </a:rPr>
              <a:t>Findings, observed effectiveness of prevention measures, and outlook.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92240"/>
            <a:ext cx="5486400" cy="2743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800" b="1" i="0">
                <a:solidFill>
                  <a:srgbClr val="666666"/>
                </a:solidFill>
                <a:latin typeface="Consolas"/>
              </a:rPr>
              <a:t>JADE VALLEY FLOOD SIMULATION   |   DAVAO CITY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0" y="6492240"/>
            <a:ext cx="2468880" cy="2743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/>
            <a:r>
              <a:rPr sz="800" b="1" i="0">
                <a:solidFill>
                  <a:srgbClr val="666666"/>
                </a:solidFill>
                <a:latin typeface="Consolas"/>
              </a:rPr>
              <a:t>36 / 39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45720"/>
            <a:ext cx="7315200" cy="36576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10   CONCLUSION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0" y="45720"/>
            <a:ext cx="1828800" cy="36576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/>
            <a:r>
              <a:rPr sz="1100" b="1" i="0">
                <a:solidFill>
                  <a:srgbClr val="FFFFFF"/>
                </a:solidFill>
                <a:latin typeface="Consolas"/>
              </a:rPr>
              <a:t>37 / 39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6446520"/>
            <a:ext cx="11094415" cy="9525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800" b="1" i="0">
                <a:solidFill>
                  <a:srgbClr val="666666"/>
                </a:solidFill>
                <a:latin typeface="Consolas"/>
              </a:rPr>
              <a:t>JADE VALLEY FLOOD SIMULATION   |   DAVAO CITY, PHILIPPINES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0" y="6492240"/>
            <a:ext cx="2468880" cy="2743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/>
            <a:r>
              <a:rPr sz="800" b="1" i="0">
                <a:solidFill>
                  <a:srgbClr val="666666"/>
                </a:solidFill>
                <a:latin typeface="Consolas"/>
              </a:rPr>
              <a:t>FINAL BUILD 100%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594360"/>
            <a:ext cx="11094415" cy="54864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2400" b="1" i="0">
                <a:solidFill>
                  <a:srgbClr val="000000"/>
                </a:solidFill>
                <a:latin typeface="Calibri"/>
              </a:rPr>
              <a:t>FINDINGS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1097280"/>
            <a:ext cx="1828800" cy="28575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325880"/>
            <a:ext cx="11094415" cy="5074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300" b="0" i="0">
                <a:solidFill>
                  <a:srgbClr val="000000"/>
                </a:solidFill>
                <a:latin typeface="Calibri"/>
              </a:rPr>
              <a:t>The 100% master simulation matrix demonstrates a consistent, monotonic improvement as additional prevention measures are layered:</a:t>
            </a:r>
          </a:p>
          <a:p>
            <a:pPr>
              <a:spcAft>
                <a:spcPts val="600"/>
              </a:spcAft>
            </a:pPr>
            <a:r>
              <a:rPr sz="1300" b="0" i="0">
                <a:solidFill>
                  <a:srgbClr val="000000"/>
                </a:solidFill>
                <a:latin typeface="Calibri"/>
              </a:rPr>
              <a:t/>
            </a:r>
          </a:p>
          <a:p>
            <a:pPr>
              <a:spcAft>
                <a:spcPts val="600"/>
              </a:spcAft>
            </a:pPr>
            <a:r>
              <a:rPr sz="1300" b="1" i="0">
                <a:solidFill>
                  <a:srgbClr val="000000"/>
                </a:solidFill>
                <a:latin typeface="Consolas"/>
              </a:rPr>
              <a:t>OBSERVATION 1   </a:t>
            </a:r>
            <a:r>
              <a:rPr sz="1300" b="0" i="0">
                <a:solidFill>
                  <a:srgbClr val="000000"/>
                </a:solidFill>
                <a:latin typeface="Calibri"/>
              </a:rPr>
              <a:t>Light Rain (15 mm / 2 h) produces no measurable flooding under any configuration — the subdivision can absorb light convective events without intervention.</a:t>
            </a:r>
          </a:p>
          <a:p>
            <a:pPr>
              <a:spcAft>
                <a:spcPts val="600"/>
              </a:spcAft>
            </a:pPr>
            <a:r>
              <a:rPr sz="1300" b="1" i="0">
                <a:solidFill>
                  <a:srgbClr val="000000"/>
                </a:solidFill>
                <a:latin typeface="Consolas"/>
              </a:rPr>
              <a:t>OBSERVATION 2   </a:t>
            </a:r>
            <a:r>
              <a:rPr sz="1300" b="0" i="0">
                <a:solidFill>
                  <a:srgbClr val="000000"/>
                </a:solidFill>
                <a:latin typeface="Calibri"/>
              </a:rPr>
              <a:t>Wall+Canal alone reduces peak flooded area by 5–24% across the moderate-to-heavy band. The retention basin and elevated road extend the reduction to 11–41% (full prevention) and 13–41% (large-scale prevention) — the basin contributes the largest single reduction at moderate intensities.</a:t>
            </a:r>
          </a:p>
          <a:p>
            <a:pPr>
              <a:spcAft>
                <a:spcPts val="600"/>
              </a:spcAft>
            </a:pPr>
            <a:r>
              <a:rPr sz="1300" b="1" i="0">
                <a:solidFill>
                  <a:srgbClr val="000000"/>
                </a:solidFill>
                <a:latin typeface="Consolas"/>
              </a:rPr>
              <a:t>OBSERVATION 3   </a:t>
            </a:r>
            <a:r>
              <a:rPr sz="1300" b="0" i="0">
                <a:solidFill>
                  <a:srgbClr val="000000"/>
                </a:solidFill>
                <a:latin typeface="Calibri"/>
              </a:rPr>
              <a:t>Peak depth can rise slightly with prevention: water concentrates in the basin sink while spread shrinks. The relevant decision metric is therefore extent (% / ha), not depth alone.</a:t>
            </a:r>
          </a:p>
          <a:p>
            <a:pPr>
              <a:spcAft>
                <a:spcPts val="600"/>
              </a:spcAft>
            </a:pPr>
            <a:r>
              <a:rPr sz="1300" b="1" i="0">
                <a:solidFill>
                  <a:srgbClr val="000000"/>
                </a:solidFill>
                <a:latin typeface="Consolas"/>
              </a:rPr>
              <a:t>OBSERVATION 4   </a:t>
            </a:r>
            <a:r>
              <a:rPr sz="1300" b="0" i="0">
                <a:solidFill>
                  <a:srgbClr val="000000"/>
                </a:solidFill>
                <a:latin typeface="Calibri"/>
              </a:rPr>
              <a:t>Onset time is unchanged by prevention measures — they reduce extent, not timing. Early-warning systems remain essential.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45720"/>
            <a:ext cx="7315200" cy="36576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10   CONCLUSION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0" y="45720"/>
            <a:ext cx="1828800" cy="36576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/>
            <a:r>
              <a:rPr sz="1100" b="1" i="0">
                <a:solidFill>
                  <a:srgbClr val="FFFFFF"/>
                </a:solidFill>
                <a:latin typeface="Consolas"/>
              </a:rPr>
              <a:t>38 / 39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6446520"/>
            <a:ext cx="11094415" cy="9525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800" b="1" i="0">
                <a:solidFill>
                  <a:srgbClr val="666666"/>
                </a:solidFill>
                <a:latin typeface="Consolas"/>
              </a:rPr>
              <a:t>JADE VALLEY FLOOD SIMULATION   |   DAVAO CITY, PHILIPPINES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0" y="6492240"/>
            <a:ext cx="2468880" cy="2743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/>
            <a:r>
              <a:rPr sz="800" b="1" i="0">
                <a:solidFill>
                  <a:srgbClr val="666666"/>
                </a:solidFill>
                <a:latin typeface="Consolas"/>
              </a:rPr>
              <a:t>FINAL BUILD 100%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594360"/>
            <a:ext cx="11094415" cy="54864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2400" b="1" i="0">
                <a:solidFill>
                  <a:srgbClr val="000000"/>
                </a:solidFill>
                <a:latin typeface="Calibri"/>
              </a:rPr>
              <a:t>CLOSING NOTES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1097280"/>
            <a:ext cx="1828800" cy="28575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325880"/>
            <a:ext cx="11094415" cy="5074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300" b="0" i="0">
                <a:solidFill>
                  <a:srgbClr val="000000"/>
                </a:solidFill>
                <a:latin typeface="Calibri"/>
              </a:rPr>
              <a:t>The Jade Valley Flood Simulation system successfully models the hydrological behaviour of a real-world Philippine subdivision under the full spectrum of PAGASA-classified storm conditions.</a:t>
            </a:r>
          </a:p>
          <a:p>
            <a:pPr>
              <a:spcAft>
                <a:spcPts val="600"/>
              </a:spcAft>
            </a:pPr>
            <a:r>
              <a:rPr sz="1300" b="0" i="0">
                <a:solidFill>
                  <a:srgbClr val="000000"/>
                </a:solidFill>
                <a:latin typeface="Calibri"/>
              </a:rPr>
              <a:t/>
            </a:r>
          </a:p>
          <a:p>
            <a:pPr>
              <a:spcAft>
                <a:spcPts val="600"/>
              </a:spcAft>
            </a:pPr>
            <a:r>
              <a:rPr sz="1300" b="0" i="0">
                <a:solidFill>
                  <a:srgbClr val="000000"/>
                </a:solidFill>
                <a:latin typeface="Calibri"/>
              </a:rPr>
              <a:t>By combining D8 terrain-based flow routing, scenario-adaptive river overflow via BFS dilation, and Green-Ampt-inspired infiltration, the model captures the essential dynamics of urban flooding at a computationally accessible scale.</a:t>
            </a:r>
          </a:p>
          <a:p>
            <a:pPr>
              <a:spcAft>
                <a:spcPts val="600"/>
              </a:spcAft>
            </a:pPr>
            <a:r>
              <a:rPr sz="1300" b="0" i="0">
                <a:solidFill>
                  <a:srgbClr val="000000"/>
                </a:solidFill>
                <a:latin typeface="Calibri"/>
              </a:rPr>
              <a:t/>
            </a:r>
          </a:p>
          <a:p>
            <a:pPr>
              <a:spcAft>
                <a:spcPts val="600"/>
              </a:spcAft>
            </a:pPr>
            <a:r>
              <a:rPr sz="1300" b="0" i="0">
                <a:solidFill>
                  <a:srgbClr val="000000"/>
                </a:solidFill>
                <a:latin typeface="Calibri"/>
              </a:rPr>
              <a:t>The three-build hierarchy plus the 100% master orchestrator provides quantitative, frame-by-frame comparison of flood extent with and without each prevention measure. The master CSV/JSON exports support direct use in infrastructure planning, community disaster preparedness, and policy recommendations for flood-vulnerable residential areas such as Jade Valley.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286000"/>
            <a:ext cx="11064240" cy="109728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Calibri"/>
              </a:rPr>
              <a:t>END OF PRESENTATION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5120640" y="3246120"/>
            <a:ext cx="1920240" cy="285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3383280"/>
            <a:ext cx="11064240" cy="54864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/>
            <a:r>
              <a:rPr sz="1800" b="0" i="0">
                <a:solidFill>
                  <a:srgbClr val="CCCCCC"/>
                </a:solidFill>
                <a:latin typeface="Consolas"/>
              </a:rPr>
              <a:t>JADE VALLEY FLOOD SIMULATION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840480"/>
            <a:ext cx="11064240" cy="4572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/>
            <a:r>
              <a:rPr sz="1400" b="0" i="0">
                <a:solidFill>
                  <a:srgbClr val="CCCCCC"/>
                </a:solidFill>
                <a:latin typeface="Calibri"/>
              </a:rPr>
              <a:t>Davao City, Philippines  |  Final Project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5486400"/>
            <a:ext cx="11064240" cy="36576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/>
            <a:r>
              <a:rPr sz="1100" b="0" i="0">
                <a:solidFill>
                  <a:srgbClr val="666666"/>
                </a:solidFill>
                <a:latin typeface="Consolas"/>
              </a:rPr>
              <a:t>See  Documents/USER_GUIDE.md  and  Documents/User_Guide.docx  for installation and usage instructions.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800" b="1" i="0">
                <a:solidFill>
                  <a:srgbClr val="666666"/>
                </a:solidFill>
                <a:latin typeface="Consolas"/>
              </a:rPr>
              <a:t>JADE VALLEY FLOOD SIMULATION   |   DAVAO CITY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0" y="6492240"/>
            <a:ext cx="2468880" cy="2743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/>
            <a:r>
              <a:rPr sz="800" b="1" i="0">
                <a:solidFill>
                  <a:srgbClr val="666666"/>
                </a:solidFill>
                <a:latin typeface="Consolas"/>
              </a:rPr>
              <a:t>39 / 39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