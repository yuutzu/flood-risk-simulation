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e Keith Polinar" userId="c28fe3e7b55bb430" providerId="LiveId" clId="{D5642BDC-8E8C-4F97-A4A1-68FCE422103A}"/>
    <pc:docChg chg="custSel modSld">
      <pc:chgData name="Justine Keith Polinar" userId="c28fe3e7b55bb430" providerId="LiveId" clId="{D5642BDC-8E8C-4F97-A4A1-68FCE422103A}" dt="2026-05-06T05:34:26.558" v="3" actId="1076"/>
      <pc:docMkLst>
        <pc:docMk/>
      </pc:docMkLst>
      <pc:sldChg chg="delSp mod">
        <pc:chgData name="Justine Keith Polinar" userId="c28fe3e7b55bb430" providerId="LiveId" clId="{D5642BDC-8E8C-4F97-A4A1-68FCE422103A}" dt="2026-05-06T05:32:39.837" v="2" actId="478"/>
        <pc:sldMkLst>
          <pc:docMk/>
          <pc:sldMk cId="0" sldId="256"/>
        </pc:sldMkLst>
        <pc:spChg chg="del">
          <ac:chgData name="Justine Keith Polinar" userId="c28fe3e7b55bb430" providerId="LiveId" clId="{D5642BDC-8E8C-4F97-A4A1-68FCE422103A}" dt="2026-05-06T05:32:39.837" v="2" actId="478"/>
          <ac:spMkLst>
            <pc:docMk/>
            <pc:sldMk cId="0" sldId="256"/>
            <ac:spMk id="9" creationId="{00000000-0000-0000-0000-000000000000}"/>
          </ac:spMkLst>
        </pc:spChg>
        <pc:spChg chg="del">
          <ac:chgData name="Justine Keith Polinar" userId="c28fe3e7b55bb430" providerId="LiveId" clId="{D5642BDC-8E8C-4F97-A4A1-68FCE422103A}" dt="2026-05-06T05:32:37.306" v="0" actId="478"/>
          <ac:spMkLst>
            <pc:docMk/>
            <pc:sldMk cId="0" sldId="256"/>
            <ac:spMk id="10" creationId="{00000000-0000-0000-0000-000000000000}"/>
          </ac:spMkLst>
        </pc:spChg>
        <pc:spChg chg="del">
          <ac:chgData name="Justine Keith Polinar" userId="c28fe3e7b55bb430" providerId="LiveId" clId="{D5642BDC-8E8C-4F97-A4A1-68FCE422103A}" dt="2026-05-06T05:32:38.362" v="1" actId="478"/>
          <ac:spMkLst>
            <pc:docMk/>
            <pc:sldMk cId="0" sldId="256"/>
            <ac:spMk id="11" creationId="{00000000-0000-0000-0000-000000000000}"/>
          </ac:spMkLst>
        </pc:spChg>
      </pc:sldChg>
      <pc:sldChg chg="modSp mod">
        <pc:chgData name="Justine Keith Polinar" userId="c28fe3e7b55bb430" providerId="LiveId" clId="{D5642BDC-8E8C-4F97-A4A1-68FCE422103A}" dt="2026-05-06T05:34:26.558" v="3" actId="1076"/>
        <pc:sldMkLst>
          <pc:docMk/>
          <pc:sldMk cId="0" sldId="263"/>
        </pc:sldMkLst>
        <pc:spChg chg="mod">
          <ac:chgData name="Justine Keith Polinar" userId="c28fe3e7b55bb430" providerId="LiveId" clId="{D5642BDC-8E8C-4F97-A4A1-68FCE422103A}" dt="2026-05-06T05:34:26.558" v="3" actId="1076"/>
          <ac:spMkLst>
            <pc:docMk/>
            <pc:sldMk cId="0" sldId="263"/>
            <ac:spMk id="1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29184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291840"/>
            <a:ext cx="12188952" cy="20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20040"/>
            <a:ext cx="10515600" cy="457200"/>
          </a:xfrm>
          <a:prstGeom prst="rect">
            <a:avLst/>
          </a:prstGeom>
          <a:noFill/>
        </p:spPr>
        <p:txBody>
          <a:bodyPr wrap="square">
            <a:spAutoFit/>
          </a:bodyPr>
          <a:lstStyle/>
          <a:p>
            <a:pPr algn="l"/>
            <a:r>
              <a:rPr sz="1100" b="0" i="0">
                <a:solidFill>
                  <a:srgbClr val="A0BEDC"/>
                </a:solidFill>
              </a:rPr>
              <a:t>CSE10/L  •  Modeling &amp; Simulation</a:t>
            </a:r>
          </a:p>
        </p:txBody>
      </p:sp>
      <p:sp>
        <p:nvSpPr>
          <p:cNvPr id="6" name="TextBox 5"/>
          <p:cNvSpPr txBox="1"/>
          <p:nvPr/>
        </p:nvSpPr>
        <p:spPr>
          <a:xfrm>
            <a:off x="731520" y="868680"/>
            <a:ext cx="10515600" cy="868680"/>
          </a:xfrm>
          <a:prstGeom prst="rect">
            <a:avLst/>
          </a:prstGeom>
          <a:noFill/>
        </p:spPr>
        <p:txBody>
          <a:bodyPr wrap="square">
            <a:spAutoFit/>
          </a:bodyPr>
          <a:lstStyle/>
          <a:p>
            <a:pPr algn="l"/>
            <a:r>
              <a:rPr sz="3800" b="1" i="0" dirty="0">
                <a:solidFill>
                  <a:srgbClr val="FFFFFF"/>
                </a:solidFill>
              </a:rPr>
              <a:t>Jade Valley Subdivision</a:t>
            </a:r>
          </a:p>
        </p:txBody>
      </p:sp>
      <p:sp>
        <p:nvSpPr>
          <p:cNvPr id="7" name="TextBox 6"/>
          <p:cNvSpPr txBox="1"/>
          <p:nvPr/>
        </p:nvSpPr>
        <p:spPr>
          <a:xfrm>
            <a:off x="731520" y="1691640"/>
            <a:ext cx="10515600" cy="685800"/>
          </a:xfrm>
          <a:prstGeom prst="rect">
            <a:avLst/>
          </a:prstGeom>
          <a:noFill/>
        </p:spPr>
        <p:txBody>
          <a:bodyPr wrap="square">
            <a:spAutoFit/>
          </a:bodyPr>
          <a:lstStyle/>
          <a:p>
            <a:pPr algn="l"/>
            <a:r>
              <a:rPr sz="2600" b="0" i="0" dirty="0">
                <a:solidFill>
                  <a:srgbClr val="B4D2F0"/>
                </a:solidFill>
              </a:rPr>
              <a:t>Flood Risk Simulation System</a:t>
            </a:r>
          </a:p>
        </p:txBody>
      </p:sp>
      <p:sp>
        <p:nvSpPr>
          <p:cNvPr id="8" name="Rectangle 7"/>
          <p:cNvSpPr/>
          <p:nvPr/>
        </p:nvSpPr>
        <p:spPr>
          <a:xfrm>
            <a:off x="731520" y="2606040"/>
            <a:ext cx="3200400" cy="10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0" y="6574536"/>
            <a:ext cx="12188952" cy="256032"/>
          </a:xfrm>
          <a:prstGeom prst="rect">
            <a:avLst/>
          </a:prstGeom>
          <a:noFill/>
        </p:spPr>
        <p:txBody>
          <a:bodyPr wrap="square">
            <a:spAutoFit/>
          </a:bodyPr>
          <a:lstStyle/>
          <a:p>
            <a:pPr algn="ctr"/>
            <a:r>
              <a:rPr sz="800" b="0" i="0">
                <a:solidFill>
                  <a:srgbClr val="A0BEDC"/>
                </a:solidFill>
              </a:rPr>
              <a:t>Jade Valley Flood Risk Project  •  2026  •  Davao City, Philippines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01</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Introduction</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Introduction</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Background</a:t>
            </a:r>
          </a:p>
        </p:txBody>
      </p:sp>
      <p:sp>
        <p:nvSpPr>
          <p:cNvPr id="10" name="TextBox 9"/>
          <p:cNvSpPr txBox="1"/>
          <p:nvPr/>
        </p:nvSpPr>
        <p:spPr>
          <a:xfrm>
            <a:off x="457200" y="1536192"/>
            <a:ext cx="11274552" cy="1234440"/>
          </a:xfrm>
          <a:prstGeom prst="rect">
            <a:avLst/>
          </a:prstGeom>
          <a:noFill/>
        </p:spPr>
        <p:txBody>
          <a:bodyPr wrap="square">
            <a:spAutoFit/>
          </a:bodyPr>
          <a:lstStyle/>
          <a:p>
            <a:pPr algn="l"/>
            <a:r>
              <a:rPr sz="1100" b="0" i="0">
                <a:solidFill>
                  <a:srgbClr val="373737"/>
                </a:solidFill>
              </a:rPr>
              <a:t>Jade Valley Subdivision is a residential community in Davao City, Philippines, situated on predominantly flat, low-lying terrain that is highly susceptible to flooding during heavy rainfall and tropical cyclone events. The area covers approximately 326.44 hectares with elevations ranging from 2.00 m to 71.75 m above mean sea level and a mean terrain elevation of 20.74 m. With 72.3 % of the land classified as flat (slope &lt; 5°), surface runoff accumulates rapidly during storm events, exposing residents to both pluvial flooding from direct rainfall and fluvial flooding from nearby river overflow.</a:t>
            </a:r>
          </a:p>
        </p:txBody>
      </p:sp>
      <p:sp>
        <p:nvSpPr>
          <p:cNvPr id="11" name="Rectangle 10"/>
          <p:cNvSpPr/>
          <p:nvPr/>
        </p:nvSpPr>
        <p:spPr>
          <a:xfrm>
            <a:off x="457200" y="2834640"/>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926080"/>
            <a:ext cx="11274552" cy="274320"/>
          </a:xfrm>
          <a:prstGeom prst="rect">
            <a:avLst/>
          </a:prstGeom>
          <a:noFill/>
        </p:spPr>
        <p:txBody>
          <a:bodyPr wrap="square">
            <a:spAutoFit/>
          </a:bodyPr>
          <a:lstStyle/>
          <a:p>
            <a:pPr algn="l"/>
            <a:r>
              <a:rPr sz="1100" b="1" i="0">
                <a:solidFill>
                  <a:srgbClr val="1F64AA"/>
                </a:solidFill>
              </a:rPr>
              <a:t>About This System</a:t>
            </a:r>
          </a:p>
        </p:txBody>
      </p:sp>
      <p:sp>
        <p:nvSpPr>
          <p:cNvPr id="13" name="TextBox 12"/>
          <p:cNvSpPr txBox="1"/>
          <p:nvPr/>
        </p:nvSpPr>
        <p:spPr>
          <a:xfrm>
            <a:off x="457200" y="3227832"/>
            <a:ext cx="11274552" cy="777240"/>
          </a:xfrm>
          <a:prstGeom prst="rect">
            <a:avLst/>
          </a:prstGeom>
          <a:noFill/>
        </p:spPr>
        <p:txBody>
          <a:bodyPr wrap="square">
            <a:spAutoFit/>
          </a:bodyPr>
          <a:lstStyle/>
          <a:p>
            <a:pPr algn="l"/>
            <a:r>
              <a:rPr sz="1100" b="0" i="0">
                <a:solidFill>
                  <a:srgbClr val="373737"/>
                </a:solidFill>
              </a:rPr>
              <a:t>This system is an interactive, terrain-aware flood simulation built entirely in Python (NumPy, SciPy, rasterio, Matplotlib) and operates on a GeoTIFF Digital Elevation Model derived from topographic survey data of the subdivision. It models flood behavior under multiple storm scenarios and evaluates the effectiveness of flood prevention infrastructure.</a:t>
            </a:r>
          </a:p>
        </p:txBody>
      </p:sp>
      <p:sp>
        <p:nvSpPr>
          <p:cNvPr id="14" name="Rectangle 13"/>
          <p:cNvSpPr/>
          <p:nvPr/>
        </p:nvSpPr>
        <p:spPr>
          <a:xfrm>
            <a:off x="457200" y="408736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4178808"/>
            <a:ext cx="11274552" cy="274320"/>
          </a:xfrm>
          <a:prstGeom prst="rect">
            <a:avLst/>
          </a:prstGeom>
          <a:noFill/>
        </p:spPr>
        <p:txBody>
          <a:bodyPr wrap="square">
            <a:spAutoFit/>
          </a:bodyPr>
          <a:lstStyle/>
          <a:p>
            <a:pPr algn="l"/>
            <a:r>
              <a:rPr sz="1100" b="1" i="0">
                <a:solidFill>
                  <a:srgbClr val="1F64AA"/>
                </a:solidFill>
              </a:rPr>
              <a:t>Three Progressive Build Levels</a:t>
            </a:r>
          </a:p>
        </p:txBody>
      </p:sp>
      <p:sp>
        <p:nvSpPr>
          <p:cNvPr id="16" name="TextBox 15"/>
          <p:cNvSpPr txBox="1"/>
          <p:nvPr/>
        </p:nvSpPr>
        <p:spPr>
          <a:xfrm>
            <a:off x="457200" y="4480560"/>
            <a:ext cx="11274552" cy="4572000"/>
          </a:xfrm>
          <a:prstGeom prst="rect">
            <a:avLst/>
          </a:prstGeom>
          <a:noFill/>
        </p:spPr>
        <p:txBody>
          <a:bodyPr wrap="square">
            <a:spAutoFit/>
          </a:bodyPr>
          <a:lstStyle/>
          <a:p>
            <a:pPr>
              <a:spcBef>
                <a:spcPts val="400"/>
              </a:spcBef>
            </a:pPr>
            <a:r>
              <a:rPr sz="1100">
                <a:solidFill>
                  <a:srgbClr val="373737"/>
                </a:solidFill>
              </a:rPr>
              <a:t>—  25% Baseline — pure hydrological simulation with no mitigation; establishes the unmitigated flood baseline as a reference</a:t>
            </a:r>
          </a:p>
          <a:p>
            <a:pPr>
              <a:spcBef>
                <a:spcPts val="400"/>
              </a:spcBef>
            </a:pPr>
            <a:r>
              <a:rPr sz="1100">
                <a:solidFill>
                  <a:srgbClr val="373737"/>
                </a:solidFill>
              </a:rPr>
              <a:t>—  50% Build — adds Riverbank Floodwall and Drainage Canal Network on top of the baseline</a:t>
            </a:r>
          </a:p>
          <a:p>
            <a:pPr>
              <a:spcBef>
                <a:spcPts val="400"/>
              </a:spcBef>
            </a:pPr>
            <a:r>
              <a:rPr sz="1100">
                <a:solidFill>
                  <a:srgbClr val="373737"/>
                </a:solidFill>
              </a:rPr>
              <a:t>—  75% Build — adds Retention Basin and Elevated Emergency Road on top of the 50% build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02</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Problem Description</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Problem Description</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The Flood Problem</a:t>
            </a:r>
          </a:p>
        </p:txBody>
      </p:sp>
      <p:sp>
        <p:nvSpPr>
          <p:cNvPr id="10" name="TextBox 9"/>
          <p:cNvSpPr txBox="1"/>
          <p:nvPr/>
        </p:nvSpPr>
        <p:spPr>
          <a:xfrm>
            <a:off x="457200" y="1536192"/>
            <a:ext cx="11274552" cy="1508760"/>
          </a:xfrm>
          <a:prstGeom prst="rect">
            <a:avLst/>
          </a:prstGeom>
          <a:noFill/>
        </p:spPr>
        <p:txBody>
          <a:bodyPr wrap="square">
            <a:spAutoFit/>
          </a:bodyPr>
          <a:lstStyle/>
          <a:p>
            <a:pPr algn="l"/>
            <a:r>
              <a:rPr sz="1100" b="0" i="0">
                <a:solidFill>
                  <a:srgbClr val="373737"/>
                </a:solidFill>
              </a:rPr>
              <a:t>Davao City is among the most flood-prone urban centers in Mindanao, Philippines, due to its proximity to river systems, high annual rainfall, and rapid urbanization of low-lying areas. Jade Valley Subdivision exemplifies the compounding flood risk faced by such communities. Its flat terrain limits natural drainage while proximity to river channels exposes residents to surface runoff accumulation and fluvial overflow during storm events. Despite this risk, flood planning for the subdivision has lacked a site-specific, terrain-accurate quantitative model — meaning emergency preparedness decisions and infrastructure investments have been made without direct evidence of how water moves across the terrain during actual storm conditions.</a:t>
            </a:r>
          </a:p>
        </p:txBody>
      </p:sp>
      <p:sp>
        <p:nvSpPr>
          <p:cNvPr id="11" name="Rectangle 10"/>
          <p:cNvSpPr/>
          <p:nvPr/>
        </p:nvSpPr>
        <p:spPr>
          <a:xfrm>
            <a:off x="457200" y="312724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218688"/>
            <a:ext cx="11274552" cy="274320"/>
          </a:xfrm>
          <a:prstGeom prst="rect">
            <a:avLst/>
          </a:prstGeom>
          <a:noFill/>
        </p:spPr>
        <p:txBody>
          <a:bodyPr wrap="square">
            <a:spAutoFit/>
          </a:bodyPr>
          <a:lstStyle/>
          <a:p>
            <a:pPr algn="l"/>
            <a:r>
              <a:rPr sz="1100" b="1" i="0">
                <a:solidFill>
                  <a:srgbClr val="1F64AA"/>
                </a:solidFill>
              </a:rPr>
              <a:t>Critical Questions This Study Addresses</a:t>
            </a:r>
          </a:p>
        </p:txBody>
      </p:sp>
      <p:sp>
        <p:nvSpPr>
          <p:cNvPr id="13" name="TextBox 12"/>
          <p:cNvSpPr txBox="1"/>
          <p:nvPr/>
        </p:nvSpPr>
        <p:spPr>
          <a:xfrm>
            <a:off x="457200" y="3520440"/>
            <a:ext cx="11274552" cy="4572000"/>
          </a:xfrm>
          <a:prstGeom prst="rect">
            <a:avLst/>
          </a:prstGeom>
          <a:noFill/>
        </p:spPr>
        <p:txBody>
          <a:bodyPr wrap="square">
            <a:spAutoFit/>
          </a:bodyPr>
          <a:lstStyle/>
          <a:p>
            <a:pPr>
              <a:spcBef>
                <a:spcPts val="400"/>
              </a:spcBef>
            </a:pPr>
            <a:r>
              <a:rPr sz="1100">
                <a:solidFill>
                  <a:srgbClr val="373737"/>
                </a:solidFill>
              </a:rPr>
              <a:t>—  Which specific zones within the subdivision flood first, and at what rainfall threshold does inundation become critical?</a:t>
            </a:r>
          </a:p>
          <a:p>
            <a:pPr>
              <a:spcBef>
                <a:spcPts val="400"/>
              </a:spcBef>
            </a:pPr>
            <a:r>
              <a:rPr sz="1100">
                <a:solidFill>
                  <a:srgbClr val="373737"/>
                </a:solidFill>
              </a:rPr>
              <a:t>—  How far does river overflow spread during storm events of varying intensities, and what water depth should residents expect?</a:t>
            </a:r>
          </a:p>
          <a:p>
            <a:pPr>
              <a:spcBef>
                <a:spcPts val="400"/>
              </a:spcBef>
            </a:pPr>
            <a:r>
              <a:rPr sz="1100">
                <a:solidFill>
                  <a:srgbClr val="373737"/>
                </a:solidFill>
              </a:rPr>
              <a:t>—  How much flood extent and peak depth reduction can physical prevention infrastructure achieve — and which combination of measures provides the best protection?</a:t>
            </a:r>
          </a:p>
          <a:p>
            <a:pPr>
              <a:spcBef>
                <a:spcPts val="400"/>
              </a:spcBef>
            </a:pPr>
            <a:r>
              <a:rPr sz="1100">
                <a:solidFill>
                  <a:srgbClr val="373737"/>
                </a:solidFill>
              </a:rPr>
              <a:t>—  Which areas can safely serve as evacuation zones during extreme flood events?</a:t>
            </a:r>
          </a:p>
        </p:txBody>
      </p:sp>
      <p:sp>
        <p:nvSpPr>
          <p:cNvPr id="14" name="Rectangle 13"/>
          <p:cNvSpPr/>
          <p:nvPr/>
        </p:nvSpPr>
        <p:spPr>
          <a:xfrm>
            <a:off x="457200" y="5349240"/>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5440680"/>
            <a:ext cx="11274552" cy="274320"/>
          </a:xfrm>
          <a:prstGeom prst="rect">
            <a:avLst/>
          </a:prstGeom>
          <a:noFill/>
        </p:spPr>
        <p:txBody>
          <a:bodyPr wrap="square">
            <a:spAutoFit/>
          </a:bodyPr>
          <a:lstStyle/>
          <a:p>
            <a:pPr algn="l"/>
            <a:r>
              <a:rPr sz="1100" b="1" i="0">
                <a:solidFill>
                  <a:srgbClr val="1F64AA"/>
                </a:solidFill>
              </a:rPr>
              <a:t>Scope and Significance</a:t>
            </a:r>
          </a:p>
        </p:txBody>
      </p:sp>
      <p:sp>
        <p:nvSpPr>
          <p:cNvPr id="16" name="TextBox 15"/>
          <p:cNvSpPr txBox="1"/>
          <p:nvPr/>
        </p:nvSpPr>
        <p:spPr>
          <a:xfrm>
            <a:off x="457200" y="5742432"/>
            <a:ext cx="11274552" cy="685800"/>
          </a:xfrm>
          <a:prstGeom prst="rect">
            <a:avLst/>
          </a:prstGeom>
          <a:noFill/>
        </p:spPr>
        <p:txBody>
          <a:bodyPr wrap="square">
            <a:spAutoFit/>
          </a:bodyPr>
          <a:lstStyle/>
          <a:p>
            <a:pPr algn="l"/>
            <a:r>
              <a:rPr sz="1100" b="0" i="0">
                <a:solidFill>
                  <a:srgbClr val="373737"/>
                </a:solidFill>
              </a:rPr>
              <a:t>This simulation provides a terrain-aware, scenario-driven flood model grounded in standard hydrological methods, enabling planners and researchers to visualize flood progression, evaluate prevention measures, and identify risk zones with spatial precision — all derived from actual topographic survey data of Jade Valley Subdivision.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03</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Objectives</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Objectives</a:t>
            </a:r>
          </a:p>
        </p:txBody>
      </p:sp>
      <p:sp>
        <p:nvSpPr>
          <p:cNvPr id="9" name="TextBox 8"/>
          <p:cNvSpPr txBox="1"/>
          <p:nvPr/>
        </p:nvSpPr>
        <p:spPr>
          <a:xfrm>
            <a:off x="457200" y="1234440"/>
            <a:ext cx="11274552" cy="320040"/>
          </a:xfrm>
          <a:prstGeom prst="rect">
            <a:avLst/>
          </a:prstGeom>
          <a:noFill/>
        </p:spPr>
        <p:txBody>
          <a:bodyPr wrap="square">
            <a:spAutoFit/>
          </a:bodyPr>
          <a:lstStyle/>
          <a:p>
            <a:pPr algn="l"/>
            <a:r>
              <a:rPr sz="1100" b="0" i="0">
                <a:solidFill>
                  <a:srgbClr val="373737"/>
                </a:solidFill>
              </a:rPr>
              <a:t>The simulation system is designed to meet the following objectives:</a:t>
            </a:r>
          </a:p>
        </p:txBody>
      </p:sp>
      <p:sp>
        <p:nvSpPr>
          <p:cNvPr id="10" name="Rectangle 9"/>
          <p:cNvSpPr/>
          <p:nvPr/>
        </p:nvSpPr>
        <p:spPr>
          <a:xfrm>
            <a:off x="457200" y="1627632"/>
            <a:ext cx="11274552" cy="90525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673352"/>
            <a:ext cx="11137392" cy="256032"/>
          </a:xfrm>
          <a:prstGeom prst="rect">
            <a:avLst/>
          </a:prstGeom>
          <a:noFill/>
        </p:spPr>
        <p:txBody>
          <a:bodyPr wrap="square">
            <a:spAutoFit/>
          </a:bodyPr>
          <a:lstStyle/>
          <a:p>
            <a:pPr algn="l"/>
            <a:r>
              <a:rPr sz="1050" b="1" i="0">
                <a:solidFill>
                  <a:srgbClr val="183764"/>
                </a:solidFill>
              </a:rPr>
              <a:t>Obj 1  —  Terrain-Accurate Flood Inundation Modeling</a:t>
            </a:r>
          </a:p>
        </p:txBody>
      </p:sp>
      <p:sp>
        <p:nvSpPr>
          <p:cNvPr id="12" name="TextBox 11"/>
          <p:cNvSpPr txBox="1"/>
          <p:nvPr/>
        </p:nvSpPr>
        <p:spPr>
          <a:xfrm>
            <a:off x="594360" y="1947672"/>
            <a:ext cx="11137392" cy="548640"/>
          </a:xfrm>
          <a:prstGeom prst="rect">
            <a:avLst/>
          </a:prstGeom>
          <a:noFill/>
        </p:spPr>
        <p:txBody>
          <a:bodyPr wrap="square">
            <a:spAutoFit/>
          </a:bodyPr>
          <a:lstStyle/>
          <a:p>
            <a:pPr algn="l"/>
            <a:r>
              <a:rPr sz="1000" b="0" i="0">
                <a:solidFill>
                  <a:srgbClr val="373737"/>
                </a:solidFill>
              </a:rPr>
              <a:t>Model realistic flood inundation behavior over the Jade Valley terrain using physically-grounded hydrological methods — D8 flow routing, Green-Ampt-inspired infiltration, and BFS overflow dilation — applied directly to the GeoTIFF DEM.</a:t>
            </a:r>
          </a:p>
        </p:txBody>
      </p:sp>
      <p:sp>
        <p:nvSpPr>
          <p:cNvPr id="13" name="Rectangle 12"/>
          <p:cNvSpPr/>
          <p:nvPr/>
        </p:nvSpPr>
        <p:spPr>
          <a:xfrm>
            <a:off x="457200" y="2578608"/>
            <a:ext cx="11274552" cy="90525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624328"/>
            <a:ext cx="11137392" cy="256032"/>
          </a:xfrm>
          <a:prstGeom prst="rect">
            <a:avLst/>
          </a:prstGeom>
          <a:noFill/>
        </p:spPr>
        <p:txBody>
          <a:bodyPr wrap="square">
            <a:spAutoFit/>
          </a:bodyPr>
          <a:lstStyle/>
          <a:p>
            <a:pPr algn="l"/>
            <a:r>
              <a:rPr sz="1050" b="1" i="0">
                <a:solidFill>
                  <a:srgbClr val="183764"/>
                </a:solidFill>
              </a:rPr>
              <a:t>Obj 2  —  Multi-Scenario Storm Coverage</a:t>
            </a:r>
          </a:p>
        </p:txBody>
      </p:sp>
      <p:sp>
        <p:nvSpPr>
          <p:cNvPr id="15" name="TextBox 14"/>
          <p:cNvSpPr txBox="1"/>
          <p:nvPr/>
        </p:nvSpPr>
        <p:spPr>
          <a:xfrm>
            <a:off x="594360" y="2898648"/>
            <a:ext cx="11137392" cy="548640"/>
          </a:xfrm>
          <a:prstGeom prst="rect">
            <a:avLst/>
          </a:prstGeom>
          <a:noFill/>
        </p:spPr>
        <p:txBody>
          <a:bodyPr wrap="square">
            <a:spAutoFit/>
          </a:bodyPr>
          <a:lstStyle/>
          <a:p>
            <a:pPr algn="l"/>
            <a:r>
              <a:rPr sz="1000" b="0" i="0">
                <a:solidFill>
                  <a:srgbClr val="373737"/>
                </a:solidFill>
              </a:rPr>
              <a:t>Simulate a range of storm scenarios from Light Rain (15 mm / 2 h) to Typhoon Signal 3 (400 mm / 18 h) so that flood risk can be assessed across multiple rainfall magnitudes and durations relevant to the Davao City context.</a:t>
            </a:r>
          </a:p>
        </p:txBody>
      </p:sp>
      <p:sp>
        <p:nvSpPr>
          <p:cNvPr id="16" name="Rectangle 15"/>
          <p:cNvSpPr/>
          <p:nvPr/>
        </p:nvSpPr>
        <p:spPr>
          <a:xfrm>
            <a:off x="457200" y="3529584"/>
            <a:ext cx="11274552" cy="90525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575304"/>
            <a:ext cx="11137392" cy="256032"/>
          </a:xfrm>
          <a:prstGeom prst="rect">
            <a:avLst/>
          </a:prstGeom>
          <a:noFill/>
        </p:spPr>
        <p:txBody>
          <a:bodyPr wrap="square">
            <a:spAutoFit/>
          </a:bodyPr>
          <a:lstStyle/>
          <a:p>
            <a:pPr algn="l"/>
            <a:r>
              <a:rPr sz="1050" b="1" i="0">
                <a:solidFill>
                  <a:srgbClr val="183764"/>
                </a:solidFill>
              </a:rPr>
              <a:t>Obj 3  —  Flood Risk Quantification and Zone Classification</a:t>
            </a:r>
          </a:p>
        </p:txBody>
      </p:sp>
      <p:sp>
        <p:nvSpPr>
          <p:cNvPr id="18" name="TextBox 17"/>
          <p:cNvSpPr txBox="1"/>
          <p:nvPr/>
        </p:nvSpPr>
        <p:spPr>
          <a:xfrm>
            <a:off x="594360" y="3849624"/>
            <a:ext cx="11137392" cy="548640"/>
          </a:xfrm>
          <a:prstGeom prst="rect">
            <a:avLst/>
          </a:prstGeom>
          <a:noFill/>
        </p:spPr>
        <p:txBody>
          <a:bodyPr wrap="square">
            <a:spAutoFit/>
          </a:bodyPr>
          <a:lstStyle/>
          <a:p>
            <a:pPr algn="l"/>
            <a:r>
              <a:rPr sz="1000" b="0" i="0">
                <a:solidFill>
                  <a:srgbClr val="373737"/>
                </a:solidFill>
              </a:rPr>
              <a:t>Quantify flood risk across the subdivision using the HAND (Height Above Nearest Drainage) model and classify land into five risk zones — Very High, High, Medium, Low, and Safe — mapped against return-period flood thresholds.</a:t>
            </a:r>
          </a:p>
        </p:txBody>
      </p:sp>
      <p:sp>
        <p:nvSpPr>
          <p:cNvPr id="19" name="Rectangle 18"/>
          <p:cNvSpPr/>
          <p:nvPr/>
        </p:nvSpPr>
        <p:spPr>
          <a:xfrm>
            <a:off x="457200" y="4480560"/>
            <a:ext cx="11274552" cy="90525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4526280"/>
            <a:ext cx="11137392" cy="256032"/>
          </a:xfrm>
          <a:prstGeom prst="rect">
            <a:avLst/>
          </a:prstGeom>
          <a:noFill/>
        </p:spPr>
        <p:txBody>
          <a:bodyPr wrap="square">
            <a:spAutoFit/>
          </a:bodyPr>
          <a:lstStyle/>
          <a:p>
            <a:pPr algn="l"/>
            <a:r>
              <a:rPr sz="1050" b="1" i="0">
                <a:solidFill>
                  <a:srgbClr val="183764"/>
                </a:solidFill>
              </a:rPr>
              <a:t>Obj 4  —  Prevention Measure Effectiveness Evaluation</a:t>
            </a:r>
          </a:p>
        </p:txBody>
      </p:sp>
      <p:sp>
        <p:nvSpPr>
          <p:cNvPr id="21" name="TextBox 20"/>
          <p:cNvSpPr txBox="1"/>
          <p:nvPr/>
        </p:nvSpPr>
        <p:spPr>
          <a:xfrm>
            <a:off x="594360" y="4800600"/>
            <a:ext cx="11137392" cy="548640"/>
          </a:xfrm>
          <a:prstGeom prst="rect">
            <a:avLst/>
          </a:prstGeom>
          <a:noFill/>
        </p:spPr>
        <p:txBody>
          <a:bodyPr wrap="square">
            <a:spAutoFit/>
          </a:bodyPr>
          <a:lstStyle/>
          <a:p>
            <a:pPr algn="l"/>
            <a:r>
              <a:rPr sz="1000" b="0" i="0">
                <a:solidFill>
                  <a:srgbClr val="373737"/>
                </a:solidFill>
              </a:rPr>
              <a:t>Evaluate the effectiveness of four flood prevention measures — Riverbank Floodwall, Drainage Canal Network, Retention Basin, and Elevated Emergency Road — by running a parallel baseline simulation and computing frame-by-frame flood reduction deltas.</a:t>
            </a:r>
          </a:p>
        </p:txBody>
      </p:sp>
      <p:sp>
        <p:nvSpPr>
          <p:cNvPr id="22" name="Rectangle 21"/>
          <p:cNvSpPr/>
          <p:nvPr/>
        </p:nvSpPr>
        <p:spPr>
          <a:xfrm>
            <a:off x="457200" y="5431536"/>
            <a:ext cx="11274552" cy="90525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5477256"/>
            <a:ext cx="11137392" cy="256032"/>
          </a:xfrm>
          <a:prstGeom prst="rect">
            <a:avLst/>
          </a:prstGeom>
          <a:noFill/>
        </p:spPr>
        <p:txBody>
          <a:bodyPr wrap="square">
            <a:spAutoFit/>
          </a:bodyPr>
          <a:lstStyle/>
          <a:p>
            <a:pPr algn="l"/>
            <a:r>
              <a:rPr sz="1050" b="1" i="0">
                <a:solidFill>
                  <a:srgbClr val="183764"/>
                </a:solidFill>
              </a:rPr>
              <a:t>Obj 5  —  Interactive Visualization and Data Export</a:t>
            </a:r>
          </a:p>
        </p:txBody>
      </p:sp>
      <p:sp>
        <p:nvSpPr>
          <p:cNvPr id="24" name="TextBox 23"/>
          <p:cNvSpPr txBox="1"/>
          <p:nvPr/>
        </p:nvSpPr>
        <p:spPr>
          <a:xfrm>
            <a:off x="594360" y="5751576"/>
            <a:ext cx="11137392" cy="548640"/>
          </a:xfrm>
          <a:prstGeom prst="rect">
            <a:avLst/>
          </a:prstGeom>
          <a:noFill/>
        </p:spPr>
        <p:txBody>
          <a:bodyPr wrap="square">
            <a:spAutoFit/>
          </a:bodyPr>
          <a:lstStyle/>
          <a:p>
            <a:pPr algn="l"/>
            <a:r>
              <a:rPr sz="1000" b="0" i="0">
                <a:solidFill>
                  <a:srgbClr val="373737"/>
                </a:solidFill>
              </a:rPr>
              <a:t>Provide an interactive animated interface for visual observation of flood progression and prevention measure impact; export results as GIF animations and time-series CSV files to support planning and disaster preparedness decision-making.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04</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System Description</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System Description</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Overview</a:t>
            </a:r>
          </a:p>
        </p:txBody>
      </p:sp>
      <p:sp>
        <p:nvSpPr>
          <p:cNvPr id="10" name="TextBox 9"/>
          <p:cNvSpPr txBox="1"/>
          <p:nvPr/>
        </p:nvSpPr>
        <p:spPr>
          <a:xfrm>
            <a:off x="457200" y="1536192"/>
            <a:ext cx="11274552" cy="777240"/>
          </a:xfrm>
          <a:prstGeom prst="rect">
            <a:avLst/>
          </a:prstGeom>
          <a:noFill/>
        </p:spPr>
        <p:txBody>
          <a:bodyPr wrap="square">
            <a:spAutoFit/>
          </a:bodyPr>
          <a:lstStyle/>
          <a:p>
            <a:pPr algn="l"/>
            <a:r>
              <a:rPr sz="1100" b="0" i="0">
                <a:solidFill>
                  <a:srgbClr val="373737"/>
                </a:solidFill>
              </a:rPr>
              <a:t>The Jade Valley Flood Simulation is a Python-based desktop application that combines terrain analysis, hydrological modeling, and interactive visualization in a single self-contained system. It follows a five-layer pipeline architecture executed in sequence from raw DEM input through to animated output and data export.</a:t>
            </a:r>
          </a:p>
        </p:txBody>
      </p:sp>
      <p:sp>
        <p:nvSpPr>
          <p:cNvPr id="11" name="Rectangle 10"/>
          <p:cNvSpPr/>
          <p:nvPr/>
        </p:nvSpPr>
        <p:spPr>
          <a:xfrm>
            <a:off x="457200" y="239572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487168"/>
            <a:ext cx="11274552" cy="274320"/>
          </a:xfrm>
          <a:prstGeom prst="rect">
            <a:avLst/>
          </a:prstGeom>
          <a:noFill/>
        </p:spPr>
        <p:txBody>
          <a:bodyPr wrap="square">
            <a:spAutoFit/>
          </a:bodyPr>
          <a:lstStyle/>
          <a:p>
            <a:pPr algn="l"/>
            <a:r>
              <a:rPr sz="1100" b="1" i="0">
                <a:solidFill>
                  <a:srgbClr val="1F64AA"/>
                </a:solidFill>
              </a:rPr>
              <a:t>Pipeline Layers</a:t>
            </a:r>
          </a:p>
        </p:txBody>
      </p:sp>
      <p:sp>
        <p:nvSpPr>
          <p:cNvPr id="13" name="TextBox 12"/>
          <p:cNvSpPr txBox="1"/>
          <p:nvPr/>
        </p:nvSpPr>
        <p:spPr>
          <a:xfrm>
            <a:off x="457200" y="2788920"/>
            <a:ext cx="1920240" cy="640080"/>
          </a:xfrm>
          <a:prstGeom prst="rect">
            <a:avLst/>
          </a:prstGeom>
          <a:noFill/>
        </p:spPr>
        <p:txBody>
          <a:bodyPr wrap="square">
            <a:spAutoFit/>
          </a:bodyPr>
          <a:lstStyle/>
          <a:p>
            <a:pPr algn="l"/>
            <a:r>
              <a:rPr sz="1000" b="1" i="0">
                <a:solidFill>
                  <a:srgbClr val="1F64AA"/>
                </a:solidFill>
              </a:rPr>
              <a:t>Data Layer</a:t>
            </a:r>
          </a:p>
        </p:txBody>
      </p:sp>
      <p:sp>
        <p:nvSpPr>
          <p:cNvPr id="14" name="TextBox 13"/>
          <p:cNvSpPr txBox="1"/>
          <p:nvPr/>
        </p:nvSpPr>
        <p:spPr>
          <a:xfrm>
            <a:off x="2423160" y="2788920"/>
            <a:ext cx="9281160" cy="640080"/>
          </a:xfrm>
          <a:prstGeom prst="rect">
            <a:avLst/>
          </a:prstGeom>
          <a:noFill/>
        </p:spPr>
        <p:txBody>
          <a:bodyPr wrap="square">
            <a:spAutoFit/>
          </a:bodyPr>
          <a:lstStyle/>
          <a:p>
            <a:pPr algn="l"/>
            <a:r>
              <a:rPr sz="1000" b="0" i="0">
                <a:solidFill>
                  <a:srgbClr val="373737"/>
                </a:solidFill>
              </a:rPr>
              <a:t>Reads the GeoTIFF DEM (57×61 cells, ~30.64 m/cell) and JPEG satellite background image from disk.</a:t>
            </a:r>
          </a:p>
        </p:txBody>
      </p:sp>
      <p:sp>
        <p:nvSpPr>
          <p:cNvPr id="15" name="Rectangle 14"/>
          <p:cNvSpPr/>
          <p:nvPr/>
        </p:nvSpPr>
        <p:spPr>
          <a:xfrm>
            <a:off x="457200" y="3410712"/>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447288"/>
            <a:ext cx="1920240" cy="640080"/>
          </a:xfrm>
          <a:prstGeom prst="rect">
            <a:avLst/>
          </a:prstGeom>
          <a:noFill/>
        </p:spPr>
        <p:txBody>
          <a:bodyPr wrap="square">
            <a:spAutoFit/>
          </a:bodyPr>
          <a:lstStyle/>
          <a:p>
            <a:pPr algn="l"/>
            <a:r>
              <a:rPr sz="1000" b="1" i="0">
                <a:solidFill>
                  <a:srgbClr val="1F64AA"/>
                </a:solidFill>
              </a:rPr>
              <a:t>Input Layer</a:t>
            </a:r>
          </a:p>
        </p:txBody>
      </p:sp>
      <p:sp>
        <p:nvSpPr>
          <p:cNvPr id="17" name="TextBox 16"/>
          <p:cNvSpPr txBox="1"/>
          <p:nvPr/>
        </p:nvSpPr>
        <p:spPr>
          <a:xfrm>
            <a:off x="2423160" y="3447288"/>
            <a:ext cx="9281160" cy="640080"/>
          </a:xfrm>
          <a:prstGeom prst="rect">
            <a:avLst/>
          </a:prstGeom>
          <a:noFill/>
        </p:spPr>
        <p:txBody>
          <a:bodyPr wrap="square">
            <a:spAutoFit/>
          </a:bodyPr>
          <a:lstStyle/>
          <a:p>
            <a:pPr algn="l"/>
            <a:r>
              <a:rPr sz="1000" b="0" i="0">
                <a:solidFill>
                  <a:srgbClr val="373737"/>
                </a:solidFill>
              </a:rPr>
              <a:t>A two-tab Tkinter GUI collects storm scenario parameters and prevention measure settings before the simulation runs.</a:t>
            </a:r>
          </a:p>
        </p:txBody>
      </p:sp>
      <p:sp>
        <p:nvSpPr>
          <p:cNvPr id="18" name="Rectangle 17"/>
          <p:cNvSpPr/>
          <p:nvPr/>
        </p:nvSpPr>
        <p:spPr>
          <a:xfrm>
            <a:off x="457200" y="4069080"/>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105656"/>
            <a:ext cx="1920240" cy="640080"/>
          </a:xfrm>
          <a:prstGeom prst="rect">
            <a:avLst/>
          </a:prstGeom>
          <a:noFill/>
        </p:spPr>
        <p:txBody>
          <a:bodyPr wrap="square">
            <a:spAutoFit/>
          </a:bodyPr>
          <a:lstStyle/>
          <a:p>
            <a:pPr algn="l"/>
            <a:r>
              <a:rPr sz="1000" b="1" i="0">
                <a:solidFill>
                  <a:srgbClr val="1F64AA"/>
                </a:solidFill>
              </a:rPr>
              <a:t>Preprocessing Layer</a:t>
            </a:r>
          </a:p>
        </p:txBody>
      </p:sp>
      <p:sp>
        <p:nvSpPr>
          <p:cNvPr id="20" name="TextBox 19"/>
          <p:cNvSpPr txBox="1"/>
          <p:nvPr/>
        </p:nvSpPr>
        <p:spPr>
          <a:xfrm>
            <a:off x="2423160" y="4105656"/>
            <a:ext cx="9281160" cy="640080"/>
          </a:xfrm>
          <a:prstGeom prst="rect">
            <a:avLst/>
          </a:prstGeom>
          <a:noFill/>
        </p:spPr>
        <p:txBody>
          <a:bodyPr wrap="square">
            <a:spAutoFit/>
          </a:bodyPr>
          <a:lstStyle/>
          <a:p>
            <a:pPr algn="l"/>
            <a:r>
              <a:rPr sz="1000" b="0" i="0">
                <a:solidFill>
                  <a:srgbClr val="373737"/>
                </a:solidFill>
              </a:rPr>
              <a:t>Applies any active prevention DEM modifications, then runs the full hydrological preprocessing pipeline (depression fill, D8 flow direction, flow accumulation, slope, runoff coefficient, infiltration capacity, bank elevation).</a:t>
            </a:r>
          </a:p>
        </p:txBody>
      </p:sp>
      <p:sp>
        <p:nvSpPr>
          <p:cNvPr id="21" name="Rectangle 20"/>
          <p:cNvSpPr/>
          <p:nvPr/>
        </p:nvSpPr>
        <p:spPr>
          <a:xfrm>
            <a:off x="457200" y="472744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764024"/>
            <a:ext cx="1920240" cy="640080"/>
          </a:xfrm>
          <a:prstGeom prst="rect">
            <a:avLst/>
          </a:prstGeom>
          <a:noFill/>
        </p:spPr>
        <p:txBody>
          <a:bodyPr wrap="square">
            <a:spAutoFit/>
          </a:bodyPr>
          <a:lstStyle/>
          <a:p>
            <a:pPr algn="l"/>
            <a:r>
              <a:rPr sz="1000" b="1" i="0">
                <a:solidFill>
                  <a:srgbClr val="1F64AA"/>
                </a:solidFill>
              </a:rPr>
              <a:t>Simulation Engine</a:t>
            </a:r>
          </a:p>
        </p:txBody>
      </p:sp>
      <p:sp>
        <p:nvSpPr>
          <p:cNvPr id="23" name="TextBox 22"/>
          <p:cNvSpPr txBox="1"/>
          <p:nvPr/>
        </p:nvSpPr>
        <p:spPr>
          <a:xfrm>
            <a:off x="2423160" y="4764024"/>
            <a:ext cx="9281160" cy="640080"/>
          </a:xfrm>
          <a:prstGeom prst="rect">
            <a:avLst/>
          </a:prstGeom>
          <a:noFill/>
        </p:spPr>
        <p:txBody>
          <a:bodyPr wrap="square">
            <a:spAutoFit/>
          </a:bodyPr>
          <a:lstStyle/>
          <a:p>
            <a:pPr algn="l"/>
            <a:r>
              <a:rPr sz="1000" b="0" i="0">
                <a:solidFill>
                  <a:srgbClr val="373737"/>
                </a:solidFill>
              </a:rPr>
              <a:t>A frame-by-frame physics loop advances the flood state over time: rainfall addition → D8 water routing (12 sub-iterations) → BFS river overflow dilation → Green-Ampt infiltration → channel drainage.</a:t>
            </a:r>
          </a:p>
        </p:txBody>
      </p:sp>
      <p:sp>
        <p:nvSpPr>
          <p:cNvPr id="24" name="Rectangle 23"/>
          <p:cNvSpPr/>
          <p:nvPr/>
        </p:nvSpPr>
        <p:spPr>
          <a:xfrm>
            <a:off x="457200" y="5385816"/>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5422392"/>
            <a:ext cx="1920240" cy="640080"/>
          </a:xfrm>
          <a:prstGeom prst="rect">
            <a:avLst/>
          </a:prstGeom>
          <a:noFill/>
        </p:spPr>
        <p:txBody>
          <a:bodyPr wrap="square">
            <a:spAutoFit/>
          </a:bodyPr>
          <a:lstStyle/>
          <a:p>
            <a:pPr algn="l"/>
            <a:r>
              <a:rPr sz="1000" b="1" i="0">
                <a:solidFill>
                  <a:srgbClr val="1F64AA"/>
                </a:solidFill>
              </a:rPr>
              <a:t>Output Layer</a:t>
            </a:r>
          </a:p>
        </p:txBody>
      </p:sp>
      <p:sp>
        <p:nvSpPr>
          <p:cNvPr id="26" name="TextBox 25"/>
          <p:cNvSpPr txBox="1"/>
          <p:nvPr/>
        </p:nvSpPr>
        <p:spPr>
          <a:xfrm>
            <a:off x="2423160" y="5422392"/>
            <a:ext cx="9281160" cy="640080"/>
          </a:xfrm>
          <a:prstGeom prst="rect">
            <a:avLst/>
          </a:prstGeom>
          <a:noFill/>
        </p:spPr>
        <p:txBody>
          <a:bodyPr wrap="square">
            <a:spAutoFit/>
          </a:bodyPr>
          <a:lstStyle/>
          <a:p>
            <a:pPr algn="l"/>
            <a:r>
              <a:rPr sz="1000" b="0" i="0">
                <a:solidFill>
                  <a:srgbClr val="373737"/>
                </a:solidFill>
              </a:rPr>
              <a:t>Matplotlib renders a multi-layer animated visualization with a live statistics panel. Results are exportable as GIF animations, CSV time-series files, and static risk maps.</a:t>
            </a:r>
          </a:p>
        </p:txBody>
      </p:sp>
      <p:sp>
        <p:nvSpPr>
          <p:cNvPr id="27" name="Rectangle 26"/>
          <p:cNvSpPr/>
          <p:nvPr/>
        </p:nvSpPr>
        <p:spPr>
          <a:xfrm>
            <a:off x="457200" y="6044184"/>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05</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Model Design</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Model Design</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Per-Timestep Physics (5 Operations)</a:t>
            </a:r>
          </a:p>
        </p:txBody>
      </p:sp>
      <p:sp>
        <p:nvSpPr>
          <p:cNvPr id="10" name="TextBox 9"/>
          <p:cNvSpPr txBox="1"/>
          <p:nvPr/>
        </p:nvSpPr>
        <p:spPr>
          <a:xfrm>
            <a:off x="457200" y="1536192"/>
            <a:ext cx="5577840" cy="256032"/>
          </a:xfrm>
          <a:prstGeom prst="rect">
            <a:avLst/>
          </a:prstGeom>
          <a:noFill/>
        </p:spPr>
        <p:txBody>
          <a:bodyPr wrap="square">
            <a:spAutoFit/>
          </a:bodyPr>
          <a:lstStyle/>
          <a:p>
            <a:pPr algn="l"/>
            <a:r>
              <a:rPr sz="1000" b="1" i="0">
                <a:solidFill>
                  <a:srgbClr val="183764"/>
                </a:solidFill>
              </a:rPr>
              <a:t>1.  Rainfall Addition</a:t>
            </a:r>
          </a:p>
        </p:txBody>
      </p:sp>
      <p:sp>
        <p:nvSpPr>
          <p:cNvPr id="11" name="TextBox 10"/>
          <p:cNvSpPr txBox="1"/>
          <p:nvPr/>
        </p:nvSpPr>
        <p:spPr>
          <a:xfrm>
            <a:off x="640080" y="1792224"/>
            <a:ext cx="5394960" cy="594360"/>
          </a:xfrm>
          <a:prstGeom prst="rect">
            <a:avLst/>
          </a:prstGeom>
          <a:noFill/>
        </p:spPr>
        <p:txBody>
          <a:bodyPr wrap="square">
            <a:spAutoFit/>
          </a:bodyPr>
          <a:lstStyle/>
          <a:p>
            <a:pPr algn="l"/>
            <a:r>
              <a:rPr sz="1000" b="0" i="0">
                <a:solidFill>
                  <a:srgbClr val="373737"/>
                </a:solidFill>
              </a:rPr>
              <a:t>Applies a rainfall intensity factor scaled by the storm pattern (uniform, progressive, burst, or decreasing), then adds rainfall to each cell weighted by its runoff coefficient and a wind-direction spatial map.</a:t>
            </a:r>
          </a:p>
        </p:txBody>
      </p:sp>
      <p:sp>
        <p:nvSpPr>
          <p:cNvPr id="12" name="TextBox 11"/>
          <p:cNvSpPr txBox="1"/>
          <p:nvPr/>
        </p:nvSpPr>
        <p:spPr>
          <a:xfrm>
            <a:off x="457200" y="2432304"/>
            <a:ext cx="5577840" cy="256032"/>
          </a:xfrm>
          <a:prstGeom prst="rect">
            <a:avLst/>
          </a:prstGeom>
          <a:noFill/>
        </p:spPr>
        <p:txBody>
          <a:bodyPr wrap="square">
            <a:spAutoFit/>
          </a:bodyPr>
          <a:lstStyle/>
          <a:p>
            <a:pPr algn="l"/>
            <a:r>
              <a:rPr sz="1000" b="1" i="0">
                <a:solidFill>
                  <a:srgbClr val="183764"/>
                </a:solidFill>
              </a:rPr>
              <a:t>2.  Water Routing</a:t>
            </a:r>
          </a:p>
        </p:txBody>
      </p:sp>
      <p:sp>
        <p:nvSpPr>
          <p:cNvPr id="13" name="TextBox 12"/>
          <p:cNvSpPr txBox="1"/>
          <p:nvPr/>
        </p:nvSpPr>
        <p:spPr>
          <a:xfrm>
            <a:off x="640080" y="2688336"/>
            <a:ext cx="5394960" cy="594360"/>
          </a:xfrm>
          <a:prstGeom prst="rect">
            <a:avLst/>
          </a:prstGeom>
          <a:noFill/>
        </p:spPr>
        <p:txBody>
          <a:bodyPr wrap="square">
            <a:spAutoFit/>
          </a:bodyPr>
          <a:lstStyle/>
          <a:p>
            <a:pPr algn="l"/>
            <a:r>
              <a:rPr sz="1000" b="0" i="0">
                <a:solidFill>
                  <a:srgbClr val="373737"/>
                </a:solidFill>
              </a:rPr>
              <a:t>D8 diffusion distributes surface water across 8 neighbours in 12 sub-iterations per timestep. Transfer fraction is clipped between 0.03 and 0.35 based on local slope, capped at 20 % of the source cell’s water per sub-iteration.</a:t>
            </a:r>
          </a:p>
        </p:txBody>
      </p:sp>
      <p:sp>
        <p:nvSpPr>
          <p:cNvPr id="14" name="TextBox 13"/>
          <p:cNvSpPr txBox="1"/>
          <p:nvPr/>
        </p:nvSpPr>
        <p:spPr>
          <a:xfrm>
            <a:off x="457200" y="3328416"/>
            <a:ext cx="5577840" cy="256032"/>
          </a:xfrm>
          <a:prstGeom prst="rect">
            <a:avLst/>
          </a:prstGeom>
          <a:noFill/>
        </p:spPr>
        <p:txBody>
          <a:bodyPr wrap="square">
            <a:spAutoFit/>
          </a:bodyPr>
          <a:lstStyle/>
          <a:p>
            <a:pPr algn="l"/>
            <a:r>
              <a:rPr sz="1000" b="1" i="0">
                <a:solidFill>
                  <a:srgbClr val="183764"/>
                </a:solidFill>
              </a:rPr>
              <a:t>3.  River Overflow (BFS)</a:t>
            </a:r>
          </a:p>
        </p:txBody>
      </p:sp>
      <p:sp>
        <p:nvSpPr>
          <p:cNvPr id="15" name="TextBox 14"/>
          <p:cNvSpPr txBox="1"/>
          <p:nvPr/>
        </p:nvSpPr>
        <p:spPr>
          <a:xfrm>
            <a:off x="640080" y="3584448"/>
            <a:ext cx="5394960" cy="594360"/>
          </a:xfrm>
          <a:prstGeom prst="rect">
            <a:avLst/>
          </a:prstGeom>
          <a:noFill/>
        </p:spPr>
        <p:txBody>
          <a:bodyPr wrap="square">
            <a:spAutoFit/>
          </a:bodyPr>
          <a:lstStyle/>
          <a:p>
            <a:pPr algn="l"/>
            <a:r>
              <a:rPr sz="1000" b="0" i="0">
                <a:solidFill>
                  <a:srgbClr val="373737"/>
                </a:solidFill>
              </a:rPr>
              <a:t>River water level rises each step proportionally to accumulated rainfall. A Breadth-First Search dilation then expands the flood front into adjacent cells whose terrain elevation falls below the current water surface elevation.</a:t>
            </a:r>
          </a:p>
        </p:txBody>
      </p:sp>
      <p:sp>
        <p:nvSpPr>
          <p:cNvPr id="16" name="TextBox 15"/>
          <p:cNvSpPr txBox="1"/>
          <p:nvPr/>
        </p:nvSpPr>
        <p:spPr>
          <a:xfrm>
            <a:off x="457200" y="4224528"/>
            <a:ext cx="5577840" cy="256032"/>
          </a:xfrm>
          <a:prstGeom prst="rect">
            <a:avLst/>
          </a:prstGeom>
          <a:noFill/>
        </p:spPr>
        <p:txBody>
          <a:bodyPr wrap="square">
            <a:spAutoFit/>
          </a:bodyPr>
          <a:lstStyle/>
          <a:p>
            <a:pPr algn="l"/>
            <a:r>
              <a:rPr sz="1000" b="1" i="0">
                <a:solidFill>
                  <a:srgbClr val="183764"/>
                </a:solidFill>
              </a:rPr>
              <a:t>4.  Infiltration</a:t>
            </a:r>
          </a:p>
        </p:txBody>
      </p:sp>
      <p:sp>
        <p:nvSpPr>
          <p:cNvPr id="17" name="TextBox 16"/>
          <p:cNvSpPr txBox="1"/>
          <p:nvPr/>
        </p:nvSpPr>
        <p:spPr>
          <a:xfrm>
            <a:off x="640080" y="4480560"/>
            <a:ext cx="5394960" cy="594360"/>
          </a:xfrm>
          <a:prstGeom prst="rect">
            <a:avLst/>
          </a:prstGeom>
          <a:noFill/>
        </p:spPr>
        <p:txBody>
          <a:bodyPr wrap="square">
            <a:spAutoFit/>
          </a:bodyPr>
          <a:lstStyle/>
          <a:p>
            <a:pPr algn="l"/>
            <a:r>
              <a:rPr sz="1000" b="0" i="0">
                <a:solidFill>
                  <a:srgbClr val="373737"/>
                </a:solidFill>
              </a:rPr>
              <a:t>Soil saturation increases each step. A Green-Ampt-inspired formula removes water from rain_water and river_water at a rate proportional to remaining soil capacity.</a:t>
            </a:r>
          </a:p>
        </p:txBody>
      </p:sp>
      <p:sp>
        <p:nvSpPr>
          <p:cNvPr id="18" name="TextBox 17"/>
          <p:cNvSpPr txBox="1"/>
          <p:nvPr/>
        </p:nvSpPr>
        <p:spPr>
          <a:xfrm>
            <a:off x="457200" y="5120640"/>
            <a:ext cx="5577840" cy="256032"/>
          </a:xfrm>
          <a:prstGeom prst="rect">
            <a:avLst/>
          </a:prstGeom>
          <a:noFill/>
        </p:spPr>
        <p:txBody>
          <a:bodyPr wrap="square">
            <a:spAutoFit/>
          </a:bodyPr>
          <a:lstStyle/>
          <a:p>
            <a:pPr algn="l"/>
            <a:r>
              <a:rPr sz="1000" b="1" i="0">
                <a:solidFill>
                  <a:srgbClr val="183764"/>
                </a:solidFill>
              </a:rPr>
              <a:t>5.  Drainage</a:t>
            </a:r>
          </a:p>
        </p:txBody>
      </p:sp>
      <p:sp>
        <p:nvSpPr>
          <p:cNvPr id="19" name="TextBox 18"/>
          <p:cNvSpPr txBox="1"/>
          <p:nvPr/>
        </p:nvSpPr>
        <p:spPr>
          <a:xfrm>
            <a:off x="640080" y="5376672"/>
            <a:ext cx="5394960" cy="594360"/>
          </a:xfrm>
          <a:prstGeom prst="rect">
            <a:avLst/>
          </a:prstGeom>
          <a:noFill/>
        </p:spPr>
        <p:txBody>
          <a:bodyPr wrap="square">
            <a:spAutoFit/>
          </a:bodyPr>
          <a:lstStyle/>
          <a:p>
            <a:pPr algn="l"/>
            <a:r>
              <a:rPr sz="1000" b="0" i="0">
                <a:solidFill>
                  <a:srgbClr val="373737"/>
                </a:solidFill>
              </a:rPr>
              <a:t>Channel cells drain at an elevated rate (base + 80×flow_weight² mm/hr). Canal cells drain 30× faster than the baseline rate. Very shallow residual water (&lt; 4 mm) decays at 60–65 % per step.</a:t>
            </a:r>
          </a:p>
        </p:txBody>
      </p:sp>
      <p:sp>
        <p:nvSpPr>
          <p:cNvPr id="20" name="TextBox 19"/>
          <p:cNvSpPr txBox="1"/>
          <p:nvPr/>
        </p:nvSpPr>
        <p:spPr>
          <a:xfrm>
            <a:off x="6400800" y="1234440"/>
            <a:ext cx="5486400" cy="274320"/>
          </a:xfrm>
          <a:prstGeom prst="rect">
            <a:avLst/>
          </a:prstGeom>
          <a:noFill/>
        </p:spPr>
        <p:txBody>
          <a:bodyPr wrap="square">
            <a:spAutoFit/>
          </a:bodyPr>
          <a:lstStyle/>
          <a:p>
            <a:pPr algn="l"/>
            <a:r>
              <a:rPr sz="1100" b="1" i="0">
                <a:solidFill>
                  <a:srgbClr val="1F64AA"/>
                </a:solidFill>
              </a:rPr>
              <a:t>Storm Scenarios</a:t>
            </a:r>
          </a:p>
        </p:txBody>
      </p:sp>
      <p:graphicFrame>
        <p:nvGraphicFramePr>
          <p:cNvPr id="21" name="Table 20"/>
          <p:cNvGraphicFramePr>
            <a:graphicFrameLocks noGrp="1"/>
          </p:cNvGraphicFramePr>
          <p:nvPr/>
        </p:nvGraphicFramePr>
        <p:xfrm>
          <a:off x="6400800" y="1508760"/>
          <a:ext cx="5486400" cy="2487168"/>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10896">
                <a:tc>
                  <a:txBody>
                    <a:bodyPr/>
                    <a:lstStyle/>
                    <a:p>
                      <a:pPr algn="ctr"/>
                      <a:r>
                        <a:rPr sz="950" b="1">
                          <a:solidFill>
                            <a:srgbClr val="FFFFFF"/>
                          </a:solidFill>
                        </a:rPr>
                        <a:t>Scenario</a:t>
                      </a:r>
                    </a:p>
                  </a:txBody>
                  <a:tcPr>
                    <a:solidFill>
                      <a:srgbClr val="183764"/>
                    </a:solidFill>
                  </a:tcPr>
                </a:tc>
                <a:tc>
                  <a:txBody>
                    <a:bodyPr/>
                    <a:lstStyle/>
                    <a:p>
                      <a:pPr algn="ctr"/>
                      <a:r>
                        <a:rPr sz="950" b="1">
                          <a:solidFill>
                            <a:srgbClr val="FFFFFF"/>
                          </a:solidFill>
                        </a:rPr>
                        <a:t>Rainfall</a:t>
                      </a:r>
                    </a:p>
                  </a:txBody>
                  <a:tcPr>
                    <a:solidFill>
                      <a:srgbClr val="183764"/>
                    </a:solidFill>
                  </a:tcPr>
                </a:tc>
                <a:tc>
                  <a:txBody>
                    <a:bodyPr/>
                    <a:lstStyle/>
                    <a:p>
                      <a:pPr algn="ctr"/>
                      <a:r>
                        <a:rPr sz="950" b="1">
                          <a:solidFill>
                            <a:srgbClr val="FFFFFF"/>
                          </a:solidFill>
                        </a:rPr>
                        <a:t>Duration</a:t>
                      </a:r>
                    </a:p>
                  </a:txBody>
                  <a:tcPr>
                    <a:solidFill>
                      <a:srgbClr val="183764"/>
                    </a:solidFill>
                  </a:tcPr>
                </a:tc>
                <a:tc>
                  <a:txBody>
                    <a:bodyPr/>
                    <a:lstStyle/>
                    <a:p>
                      <a:pPr algn="ctr"/>
                      <a:r>
                        <a:rPr sz="950" b="1">
                          <a:solidFill>
                            <a:srgbClr val="FFFFFF"/>
                          </a:solidFill>
                        </a:rPr>
                        <a:t>Pattern</a:t>
                      </a:r>
                    </a:p>
                  </a:txBody>
                  <a:tcPr>
                    <a:solidFill>
                      <a:srgbClr val="183764"/>
                    </a:solidFill>
                  </a:tcPr>
                </a:tc>
                <a:extLst>
                  <a:ext uri="{0D108BD9-81ED-4DB2-BD59-A6C34878D82A}">
                    <a16:rowId xmlns:a16="http://schemas.microsoft.com/office/drawing/2014/main" val="10000"/>
                  </a:ext>
                </a:extLst>
              </a:tr>
              <a:tr h="310896">
                <a:tc>
                  <a:txBody>
                    <a:bodyPr/>
                    <a:lstStyle/>
                    <a:p>
                      <a:r>
                        <a:rPr sz="950">
                          <a:solidFill>
                            <a:srgbClr val="1E1E1E"/>
                          </a:solidFill>
                        </a:rPr>
                        <a:t>Light Rain</a:t>
                      </a:r>
                    </a:p>
                  </a:txBody>
                  <a:tcPr>
                    <a:solidFill>
                      <a:srgbClr val="F5F7FA"/>
                    </a:solidFill>
                  </a:tcPr>
                </a:tc>
                <a:tc>
                  <a:txBody>
                    <a:bodyPr/>
                    <a:lstStyle/>
                    <a:p>
                      <a:r>
                        <a:rPr sz="950">
                          <a:solidFill>
                            <a:srgbClr val="1E1E1E"/>
                          </a:solidFill>
                        </a:rPr>
                        <a:t>15 mm</a:t>
                      </a:r>
                    </a:p>
                  </a:txBody>
                  <a:tcPr>
                    <a:solidFill>
                      <a:srgbClr val="F5F7FA"/>
                    </a:solidFill>
                  </a:tcPr>
                </a:tc>
                <a:tc>
                  <a:txBody>
                    <a:bodyPr/>
                    <a:lstStyle/>
                    <a:p>
                      <a:r>
                        <a:rPr sz="950">
                          <a:solidFill>
                            <a:srgbClr val="1E1E1E"/>
                          </a:solidFill>
                        </a:rPr>
                        <a:t>2.0 h</a:t>
                      </a:r>
                    </a:p>
                  </a:txBody>
                  <a:tcPr>
                    <a:solidFill>
                      <a:srgbClr val="F5F7FA"/>
                    </a:solidFill>
                  </a:tcPr>
                </a:tc>
                <a:tc>
                  <a:txBody>
                    <a:bodyPr/>
                    <a:lstStyle/>
                    <a:p>
                      <a:r>
                        <a:rPr sz="950">
                          <a:solidFill>
                            <a:srgbClr val="1E1E1E"/>
                          </a:solidFill>
                        </a:rPr>
                        <a:t>Uniform</a:t>
                      </a:r>
                    </a:p>
                  </a:txBody>
                  <a:tcPr>
                    <a:solidFill>
                      <a:srgbClr val="F5F7FA"/>
                    </a:solidFill>
                  </a:tcPr>
                </a:tc>
                <a:extLst>
                  <a:ext uri="{0D108BD9-81ED-4DB2-BD59-A6C34878D82A}">
                    <a16:rowId xmlns:a16="http://schemas.microsoft.com/office/drawing/2014/main" val="10001"/>
                  </a:ext>
                </a:extLst>
              </a:tr>
              <a:tr h="310896">
                <a:tc>
                  <a:txBody>
                    <a:bodyPr/>
                    <a:lstStyle/>
                    <a:p>
                      <a:r>
                        <a:rPr sz="950">
                          <a:solidFill>
                            <a:srgbClr val="1E1E1E"/>
                          </a:solidFill>
                        </a:rPr>
                        <a:t>Moderate Rain</a:t>
                      </a:r>
                    </a:p>
                  </a:txBody>
                  <a:tcPr>
                    <a:solidFill>
                      <a:srgbClr val="FFFFFF"/>
                    </a:solidFill>
                  </a:tcPr>
                </a:tc>
                <a:tc>
                  <a:txBody>
                    <a:bodyPr/>
                    <a:lstStyle/>
                    <a:p>
                      <a:r>
                        <a:rPr sz="950">
                          <a:solidFill>
                            <a:srgbClr val="1E1E1E"/>
                          </a:solidFill>
                        </a:rPr>
                        <a:t>36 mm</a:t>
                      </a:r>
                    </a:p>
                  </a:txBody>
                  <a:tcPr>
                    <a:solidFill>
                      <a:srgbClr val="FFFFFF"/>
                    </a:solidFill>
                  </a:tcPr>
                </a:tc>
                <a:tc>
                  <a:txBody>
                    <a:bodyPr/>
                    <a:lstStyle/>
                    <a:p>
                      <a:r>
                        <a:rPr sz="950">
                          <a:solidFill>
                            <a:srgbClr val="1E1E1E"/>
                          </a:solidFill>
                        </a:rPr>
                        <a:t>3.0 h</a:t>
                      </a:r>
                    </a:p>
                  </a:txBody>
                  <a:tcPr>
                    <a:solidFill>
                      <a:srgbClr val="FFFFFF"/>
                    </a:solidFill>
                  </a:tcPr>
                </a:tc>
                <a:tc>
                  <a:txBody>
                    <a:bodyPr/>
                    <a:lstStyle/>
                    <a:p>
                      <a:r>
                        <a:rPr sz="950">
                          <a:solidFill>
                            <a:srgbClr val="1E1E1E"/>
                          </a:solidFill>
                        </a:rPr>
                        <a:t>Progressive</a:t>
                      </a:r>
                    </a:p>
                  </a:txBody>
                  <a:tcPr>
                    <a:solidFill>
                      <a:srgbClr val="FFFFFF"/>
                    </a:solidFill>
                  </a:tcPr>
                </a:tc>
                <a:extLst>
                  <a:ext uri="{0D108BD9-81ED-4DB2-BD59-A6C34878D82A}">
                    <a16:rowId xmlns:a16="http://schemas.microsoft.com/office/drawing/2014/main" val="10002"/>
                  </a:ext>
                </a:extLst>
              </a:tr>
              <a:tr h="310896">
                <a:tc>
                  <a:txBody>
                    <a:bodyPr/>
                    <a:lstStyle/>
                    <a:p>
                      <a:r>
                        <a:rPr sz="950">
                          <a:solidFill>
                            <a:srgbClr val="1E1E1E"/>
                          </a:solidFill>
                        </a:rPr>
                        <a:t>Heavy Rain</a:t>
                      </a:r>
                    </a:p>
                  </a:txBody>
                  <a:tcPr>
                    <a:solidFill>
                      <a:srgbClr val="F5F7FA"/>
                    </a:solidFill>
                  </a:tcPr>
                </a:tc>
                <a:tc>
                  <a:txBody>
                    <a:bodyPr/>
                    <a:lstStyle/>
                    <a:p>
                      <a:r>
                        <a:rPr sz="950">
                          <a:solidFill>
                            <a:srgbClr val="1E1E1E"/>
                          </a:solidFill>
                        </a:rPr>
                        <a:t>90 mm</a:t>
                      </a:r>
                    </a:p>
                  </a:txBody>
                  <a:tcPr>
                    <a:solidFill>
                      <a:srgbClr val="F5F7FA"/>
                    </a:solidFill>
                  </a:tcPr>
                </a:tc>
                <a:tc>
                  <a:txBody>
                    <a:bodyPr/>
                    <a:lstStyle/>
                    <a:p>
                      <a:r>
                        <a:rPr sz="950">
                          <a:solidFill>
                            <a:srgbClr val="1E1E1E"/>
                          </a:solidFill>
                        </a:rPr>
                        <a:t>4.0 h</a:t>
                      </a:r>
                    </a:p>
                  </a:txBody>
                  <a:tcPr>
                    <a:solidFill>
                      <a:srgbClr val="F5F7FA"/>
                    </a:solidFill>
                  </a:tcPr>
                </a:tc>
                <a:tc>
                  <a:txBody>
                    <a:bodyPr/>
                    <a:lstStyle/>
                    <a:p>
                      <a:r>
                        <a:rPr sz="950">
                          <a:solidFill>
                            <a:srgbClr val="1E1E1E"/>
                          </a:solidFill>
                        </a:rPr>
                        <a:t>Progressive</a:t>
                      </a:r>
                    </a:p>
                  </a:txBody>
                  <a:tcPr>
                    <a:solidFill>
                      <a:srgbClr val="F5F7FA"/>
                    </a:solidFill>
                  </a:tcPr>
                </a:tc>
                <a:extLst>
                  <a:ext uri="{0D108BD9-81ED-4DB2-BD59-A6C34878D82A}">
                    <a16:rowId xmlns:a16="http://schemas.microsoft.com/office/drawing/2014/main" val="10003"/>
                  </a:ext>
                </a:extLst>
              </a:tr>
              <a:tr h="310896">
                <a:tc>
                  <a:txBody>
                    <a:bodyPr/>
                    <a:lstStyle/>
                    <a:p>
                      <a:r>
                        <a:rPr sz="950">
                          <a:solidFill>
                            <a:srgbClr val="1E1E1E"/>
                          </a:solidFill>
                        </a:rPr>
                        <a:t>Typhoon Signal 1</a:t>
                      </a:r>
                    </a:p>
                  </a:txBody>
                  <a:tcPr>
                    <a:solidFill>
                      <a:srgbClr val="FFFFFF"/>
                    </a:solidFill>
                  </a:tcPr>
                </a:tc>
                <a:tc>
                  <a:txBody>
                    <a:bodyPr/>
                    <a:lstStyle/>
                    <a:p>
                      <a:r>
                        <a:rPr sz="950">
                          <a:solidFill>
                            <a:srgbClr val="1E1E1E"/>
                          </a:solidFill>
                        </a:rPr>
                        <a:t>150 mm</a:t>
                      </a:r>
                    </a:p>
                  </a:txBody>
                  <a:tcPr>
                    <a:solidFill>
                      <a:srgbClr val="FFFFFF"/>
                    </a:solidFill>
                  </a:tcPr>
                </a:tc>
                <a:tc>
                  <a:txBody>
                    <a:bodyPr/>
                    <a:lstStyle/>
                    <a:p>
                      <a:r>
                        <a:rPr sz="950">
                          <a:solidFill>
                            <a:srgbClr val="1E1E1E"/>
                          </a:solidFill>
                        </a:rPr>
                        <a:t>8.0 h</a:t>
                      </a:r>
                    </a:p>
                  </a:txBody>
                  <a:tcPr>
                    <a:solidFill>
                      <a:srgbClr val="FFFFFF"/>
                    </a:solidFill>
                  </a:tcPr>
                </a:tc>
                <a:tc>
                  <a:txBody>
                    <a:bodyPr/>
                    <a:lstStyle/>
                    <a:p>
                      <a:r>
                        <a:rPr sz="950">
                          <a:solidFill>
                            <a:srgbClr val="1E1E1E"/>
                          </a:solidFill>
                        </a:rPr>
                        <a:t>Progressive</a:t>
                      </a:r>
                    </a:p>
                  </a:txBody>
                  <a:tcPr>
                    <a:solidFill>
                      <a:srgbClr val="FFFFFF"/>
                    </a:solidFill>
                  </a:tcPr>
                </a:tc>
                <a:extLst>
                  <a:ext uri="{0D108BD9-81ED-4DB2-BD59-A6C34878D82A}">
                    <a16:rowId xmlns:a16="http://schemas.microsoft.com/office/drawing/2014/main" val="10004"/>
                  </a:ext>
                </a:extLst>
              </a:tr>
              <a:tr h="310896">
                <a:tc>
                  <a:txBody>
                    <a:bodyPr/>
                    <a:lstStyle/>
                    <a:p>
                      <a:r>
                        <a:rPr sz="950">
                          <a:solidFill>
                            <a:srgbClr val="1E1E1E"/>
                          </a:solidFill>
                        </a:rPr>
                        <a:t>Typhoon Signal 2</a:t>
                      </a:r>
                    </a:p>
                  </a:txBody>
                  <a:tcPr>
                    <a:solidFill>
                      <a:srgbClr val="F5F7FA"/>
                    </a:solidFill>
                  </a:tcPr>
                </a:tc>
                <a:tc>
                  <a:txBody>
                    <a:bodyPr/>
                    <a:lstStyle/>
                    <a:p>
                      <a:r>
                        <a:rPr sz="950">
                          <a:solidFill>
                            <a:srgbClr val="1E1E1E"/>
                          </a:solidFill>
                        </a:rPr>
                        <a:t>250 mm</a:t>
                      </a:r>
                    </a:p>
                  </a:txBody>
                  <a:tcPr>
                    <a:solidFill>
                      <a:srgbClr val="F5F7FA"/>
                    </a:solidFill>
                  </a:tcPr>
                </a:tc>
                <a:tc>
                  <a:txBody>
                    <a:bodyPr/>
                    <a:lstStyle/>
                    <a:p>
                      <a:r>
                        <a:rPr sz="950">
                          <a:solidFill>
                            <a:srgbClr val="1E1E1E"/>
                          </a:solidFill>
                        </a:rPr>
                        <a:t>12.0 h</a:t>
                      </a:r>
                    </a:p>
                  </a:txBody>
                  <a:tcPr>
                    <a:solidFill>
                      <a:srgbClr val="F5F7FA"/>
                    </a:solidFill>
                  </a:tcPr>
                </a:tc>
                <a:tc>
                  <a:txBody>
                    <a:bodyPr/>
                    <a:lstStyle/>
                    <a:p>
                      <a:r>
                        <a:rPr sz="950">
                          <a:solidFill>
                            <a:srgbClr val="1E1E1E"/>
                          </a:solidFill>
                        </a:rPr>
                        <a:t>Burst</a:t>
                      </a:r>
                    </a:p>
                  </a:txBody>
                  <a:tcPr>
                    <a:solidFill>
                      <a:srgbClr val="F5F7FA"/>
                    </a:solidFill>
                  </a:tcPr>
                </a:tc>
                <a:extLst>
                  <a:ext uri="{0D108BD9-81ED-4DB2-BD59-A6C34878D82A}">
                    <a16:rowId xmlns:a16="http://schemas.microsoft.com/office/drawing/2014/main" val="10005"/>
                  </a:ext>
                </a:extLst>
              </a:tr>
              <a:tr h="310896">
                <a:tc>
                  <a:txBody>
                    <a:bodyPr/>
                    <a:lstStyle/>
                    <a:p>
                      <a:r>
                        <a:rPr sz="950">
                          <a:solidFill>
                            <a:srgbClr val="1E1E1E"/>
                          </a:solidFill>
                        </a:rPr>
                        <a:t>Typhoon Signal 3</a:t>
                      </a:r>
                    </a:p>
                  </a:txBody>
                  <a:tcPr>
                    <a:solidFill>
                      <a:srgbClr val="FFFFFF"/>
                    </a:solidFill>
                  </a:tcPr>
                </a:tc>
                <a:tc>
                  <a:txBody>
                    <a:bodyPr/>
                    <a:lstStyle/>
                    <a:p>
                      <a:r>
                        <a:rPr sz="950">
                          <a:solidFill>
                            <a:srgbClr val="1E1E1E"/>
                          </a:solidFill>
                        </a:rPr>
                        <a:t>400 mm</a:t>
                      </a:r>
                    </a:p>
                  </a:txBody>
                  <a:tcPr>
                    <a:solidFill>
                      <a:srgbClr val="FFFFFF"/>
                    </a:solidFill>
                  </a:tcPr>
                </a:tc>
                <a:tc>
                  <a:txBody>
                    <a:bodyPr/>
                    <a:lstStyle/>
                    <a:p>
                      <a:r>
                        <a:rPr sz="950">
                          <a:solidFill>
                            <a:srgbClr val="1E1E1E"/>
                          </a:solidFill>
                        </a:rPr>
                        <a:t>18.0 h</a:t>
                      </a:r>
                    </a:p>
                  </a:txBody>
                  <a:tcPr>
                    <a:solidFill>
                      <a:srgbClr val="FFFFFF"/>
                    </a:solidFill>
                  </a:tcPr>
                </a:tc>
                <a:tc>
                  <a:txBody>
                    <a:bodyPr/>
                    <a:lstStyle/>
                    <a:p>
                      <a:r>
                        <a:rPr sz="950">
                          <a:solidFill>
                            <a:srgbClr val="1E1E1E"/>
                          </a:solidFill>
                        </a:rPr>
                        <a:t>Burst</a:t>
                      </a:r>
                    </a:p>
                  </a:txBody>
                  <a:tcPr>
                    <a:solidFill>
                      <a:srgbClr val="FFFFFF"/>
                    </a:solidFill>
                  </a:tcPr>
                </a:tc>
                <a:extLst>
                  <a:ext uri="{0D108BD9-81ED-4DB2-BD59-A6C34878D82A}">
                    <a16:rowId xmlns:a16="http://schemas.microsoft.com/office/drawing/2014/main" val="10006"/>
                  </a:ext>
                </a:extLst>
              </a:tr>
              <a:tr h="310896">
                <a:tc>
                  <a:txBody>
                    <a:bodyPr/>
                    <a:lstStyle/>
                    <a:p>
                      <a:r>
                        <a:rPr sz="950">
                          <a:solidFill>
                            <a:srgbClr val="1E1E1E"/>
                          </a:solidFill>
                        </a:rPr>
                        <a:t>Custom</a:t>
                      </a:r>
                    </a:p>
                  </a:txBody>
                  <a:tcPr>
                    <a:solidFill>
                      <a:srgbClr val="F5F7FA"/>
                    </a:solidFill>
                  </a:tcPr>
                </a:tc>
                <a:tc>
                  <a:txBody>
                    <a:bodyPr/>
                    <a:lstStyle/>
                    <a:p>
                      <a:r>
                        <a:rPr sz="950">
                          <a:solidFill>
                            <a:srgbClr val="1E1E1E"/>
                          </a:solidFill>
                        </a:rPr>
                        <a:t>User</a:t>
                      </a:r>
                    </a:p>
                  </a:txBody>
                  <a:tcPr>
                    <a:solidFill>
                      <a:srgbClr val="F5F7FA"/>
                    </a:solidFill>
                  </a:tcPr>
                </a:tc>
                <a:tc>
                  <a:txBody>
                    <a:bodyPr/>
                    <a:lstStyle/>
                    <a:p>
                      <a:r>
                        <a:rPr sz="950">
                          <a:solidFill>
                            <a:srgbClr val="1E1E1E"/>
                          </a:solidFill>
                        </a:rPr>
                        <a:t>User</a:t>
                      </a:r>
                    </a:p>
                  </a:txBody>
                  <a:tcPr>
                    <a:solidFill>
                      <a:srgbClr val="F5F7FA"/>
                    </a:solidFill>
                  </a:tcPr>
                </a:tc>
                <a:tc>
                  <a:txBody>
                    <a:bodyPr/>
                    <a:lstStyle/>
                    <a:p>
                      <a:r>
                        <a:rPr sz="950">
                          <a:solidFill>
                            <a:srgbClr val="1E1E1E"/>
                          </a:solidFill>
                        </a:rPr>
                        <a:t>User</a:t>
                      </a:r>
                    </a:p>
                  </a:txBody>
                  <a:tcPr>
                    <a:solidFill>
                      <a:srgbClr val="F5F7FA"/>
                    </a:solidFill>
                  </a:tcPr>
                </a:tc>
                <a:extLst>
                  <a:ext uri="{0D108BD9-81ED-4DB2-BD59-A6C34878D82A}">
                    <a16:rowId xmlns:a16="http://schemas.microsoft.com/office/drawing/2014/main" val="10007"/>
                  </a:ext>
                </a:extLst>
              </a:tr>
            </a:tbl>
          </a:graphicData>
        </a:graphic>
      </p:graphicFrame>
      <p:sp>
        <p:nvSpPr>
          <p:cNvPr id="22" name="TextBox 21"/>
          <p:cNvSpPr txBox="1"/>
          <p:nvPr/>
        </p:nvSpPr>
        <p:spPr>
          <a:xfrm>
            <a:off x="6400800" y="4160520"/>
            <a:ext cx="5486400" cy="274320"/>
          </a:xfrm>
          <a:prstGeom prst="rect">
            <a:avLst/>
          </a:prstGeom>
          <a:noFill/>
        </p:spPr>
        <p:txBody>
          <a:bodyPr wrap="square">
            <a:spAutoFit/>
          </a:bodyPr>
          <a:lstStyle/>
          <a:p>
            <a:pPr algn="l"/>
            <a:r>
              <a:rPr sz="1100" b="1" i="0">
                <a:solidFill>
                  <a:srgbClr val="1F64AA"/>
                </a:solidFill>
              </a:rPr>
              <a:t>Prevention Measures</a:t>
            </a:r>
          </a:p>
        </p:txBody>
      </p:sp>
      <p:graphicFrame>
        <p:nvGraphicFramePr>
          <p:cNvPr id="23" name="Table 22"/>
          <p:cNvGraphicFramePr>
            <a:graphicFrameLocks noGrp="1"/>
          </p:cNvGraphicFramePr>
          <p:nvPr/>
        </p:nvGraphicFramePr>
        <p:xfrm>
          <a:off x="6400800" y="4434840"/>
          <a:ext cx="5486400" cy="183489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algn="ctr"/>
                      <a:r>
                        <a:rPr sz="950" b="1">
                          <a:solidFill>
                            <a:srgbClr val="FFFFFF"/>
                          </a:solidFill>
                        </a:rPr>
                        <a:t>Measure</a:t>
                      </a:r>
                    </a:p>
                  </a:txBody>
                  <a:tcPr>
                    <a:solidFill>
                      <a:srgbClr val="183764"/>
                    </a:solidFill>
                  </a:tcPr>
                </a:tc>
                <a:tc>
                  <a:txBody>
                    <a:bodyPr/>
                    <a:lstStyle/>
                    <a:p>
                      <a:pPr algn="ctr"/>
                      <a:r>
                        <a:rPr sz="950" b="1">
                          <a:solidFill>
                            <a:srgbClr val="FFFFFF"/>
                          </a:solidFill>
                        </a:rPr>
                        <a:t>Build</a:t>
                      </a:r>
                    </a:p>
                  </a:txBody>
                  <a:tcPr>
                    <a:solidFill>
                      <a:srgbClr val="183764"/>
                    </a:solidFill>
                  </a:tcPr>
                </a:tc>
                <a:tc>
                  <a:txBody>
                    <a:bodyPr/>
                    <a:lstStyle/>
                    <a:p>
                      <a:pPr algn="ctr"/>
                      <a:r>
                        <a:rPr sz="950" b="1">
                          <a:solidFill>
                            <a:srgbClr val="FFFFFF"/>
                          </a:solidFill>
                        </a:rPr>
                        <a:t>Mechanism</a:t>
                      </a:r>
                    </a:p>
                  </a:txBody>
                  <a:tcPr>
                    <a:solidFill>
                      <a:srgbClr val="183764"/>
                    </a:solidFill>
                  </a:tcPr>
                </a:tc>
                <a:extLst>
                  <a:ext uri="{0D108BD9-81ED-4DB2-BD59-A6C34878D82A}">
                    <a16:rowId xmlns:a16="http://schemas.microsoft.com/office/drawing/2014/main" val="10000"/>
                  </a:ext>
                </a:extLst>
              </a:tr>
              <a:tr h="310896">
                <a:tc>
                  <a:txBody>
                    <a:bodyPr/>
                    <a:lstStyle/>
                    <a:p>
                      <a:r>
                        <a:rPr sz="950">
                          <a:solidFill>
                            <a:srgbClr val="1E1E1E"/>
                          </a:solidFill>
                        </a:rPr>
                        <a:t>Riverbank Floodwall</a:t>
                      </a:r>
                    </a:p>
                  </a:txBody>
                  <a:tcPr>
                    <a:solidFill>
                      <a:srgbClr val="F5F7FA"/>
                    </a:solidFill>
                  </a:tcPr>
                </a:tc>
                <a:tc>
                  <a:txBody>
                    <a:bodyPr/>
                    <a:lstStyle/>
                    <a:p>
                      <a:r>
                        <a:rPr sz="950">
                          <a:solidFill>
                            <a:srgbClr val="1E1E1E"/>
                          </a:solidFill>
                        </a:rPr>
                        <a:t>50% + 75%</a:t>
                      </a:r>
                    </a:p>
                  </a:txBody>
                  <a:tcPr>
                    <a:solidFill>
                      <a:srgbClr val="F5F7FA"/>
                    </a:solidFill>
                  </a:tcPr>
                </a:tc>
                <a:tc>
                  <a:txBody>
                    <a:bodyPr/>
                    <a:lstStyle/>
                    <a:p>
                      <a:r>
                        <a:rPr sz="950">
                          <a:solidFill>
                            <a:srgbClr val="1E1E1E"/>
                          </a:solidFill>
                        </a:rPr>
                        <a:t>Raises river bank cells; blocks overflow until overtopped</a:t>
                      </a:r>
                    </a:p>
                  </a:txBody>
                  <a:tcPr>
                    <a:solidFill>
                      <a:srgbClr val="F5F7FA"/>
                    </a:solidFill>
                  </a:tcPr>
                </a:tc>
                <a:extLst>
                  <a:ext uri="{0D108BD9-81ED-4DB2-BD59-A6C34878D82A}">
                    <a16:rowId xmlns:a16="http://schemas.microsoft.com/office/drawing/2014/main" val="10001"/>
                  </a:ext>
                </a:extLst>
              </a:tr>
              <a:tr h="310896">
                <a:tc>
                  <a:txBody>
                    <a:bodyPr/>
                    <a:lstStyle/>
                    <a:p>
                      <a:r>
                        <a:rPr sz="950">
                          <a:solidFill>
                            <a:srgbClr val="1E1E1E"/>
                          </a:solidFill>
                        </a:rPr>
                        <a:t>Drainage Canal Network</a:t>
                      </a:r>
                    </a:p>
                  </a:txBody>
                  <a:tcPr>
                    <a:solidFill>
                      <a:srgbClr val="FFFFFF"/>
                    </a:solidFill>
                  </a:tcPr>
                </a:tc>
                <a:tc>
                  <a:txBody>
                    <a:bodyPr/>
                    <a:lstStyle/>
                    <a:p>
                      <a:r>
                        <a:rPr sz="950">
                          <a:solidFill>
                            <a:srgbClr val="1E1E1E"/>
                          </a:solidFill>
                        </a:rPr>
                        <a:t>50% + 75%</a:t>
                      </a:r>
                    </a:p>
                  </a:txBody>
                  <a:tcPr>
                    <a:solidFill>
                      <a:srgbClr val="FFFFFF"/>
                    </a:solidFill>
                  </a:tcPr>
                </a:tc>
                <a:tc>
                  <a:txBody>
                    <a:bodyPr/>
                    <a:lstStyle/>
                    <a:p>
                      <a:r>
                        <a:rPr sz="950">
                          <a:solidFill>
                            <a:srgbClr val="1E1E1E"/>
                          </a:solidFill>
                        </a:rPr>
                        <a:t>Lowers E/S corridor; 30× faster drainage</a:t>
                      </a:r>
                    </a:p>
                  </a:txBody>
                  <a:tcPr>
                    <a:solidFill>
                      <a:srgbClr val="FFFFFF"/>
                    </a:solidFill>
                  </a:tcPr>
                </a:tc>
                <a:extLst>
                  <a:ext uri="{0D108BD9-81ED-4DB2-BD59-A6C34878D82A}">
                    <a16:rowId xmlns:a16="http://schemas.microsoft.com/office/drawing/2014/main" val="10002"/>
                  </a:ext>
                </a:extLst>
              </a:tr>
              <a:tr h="310896">
                <a:tc>
                  <a:txBody>
                    <a:bodyPr/>
                    <a:lstStyle/>
                    <a:p>
                      <a:r>
                        <a:rPr sz="950">
                          <a:solidFill>
                            <a:srgbClr val="1E1E1E"/>
                          </a:solidFill>
                        </a:rPr>
                        <a:t>Retention Basin</a:t>
                      </a:r>
                    </a:p>
                  </a:txBody>
                  <a:tcPr>
                    <a:solidFill>
                      <a:srgbClr val="F5F7FA"/>
                    </a:solidFill>
                  </a:tcPr>
                </a:tc>
                <a:tc>
                  <a:txBody>
                    <a:bodyPr/>
                    <a:lstStyle/>
                    <a:p>
                      <a:r>
                        <a:rPr sz="950">
                          <a:solidFill>
                            <a:srgbClr val="1E1E1E"/>
                          </a:solidFill>
                        </a:rPr>
                        <a:t>75% only</a:t>
                      </a:r>
                    </a:p>
                  </a:txBody>
                  <a:tcPr>
                    <a:solidFill>
                      <a:srgbClr val="F5F7FA"/>
                    </a:solidFill>
                  </a:tcPr>
                </a:tc>
                <a:tc>
                  <a:txBody>
                    <a:bodyPr/>
                    <a:lstStyle/>
                    <a:p>
                      <a:r>
                        <a:rPr sz="950">
                          <a:solidFill>
                            <a:srgbClr val="1E1E1E"/>
                          </a:solidFill>
                        </a:rPr>
                        <a:t>Excavates depression in open outer-perimeter land</a:t>
                      </a:r>
                    </a:p>
                  </a:txBody>
                  <a:tcPr>
                    <a:solidFill>
                      <a:srgbClr val="F5F7FA"/>
                    </a:solidFill>
                  </a:tcPr>
                </a:tc>
                <a:extLst>
                  <a:ext uri="{0D108BD9-81ED-4DB2-BD59-A6C34878D82A}">
                    <a16:rowId xmlns:a16="http://schemas.microsoft.com/office/drawing/2014/main" val="10003"/>
                  </a:ext>
                </a:extLst>
              </a:tr>
              <a:tr h="310896">
                <a:tc>
                  <a:txBody>
                    <a:bodyPr/>
                    <a:lstStyle/>
                    <a:p>
                      <a:r>
                        <a:rPr sz="950">
                          <a:solidFill>
                            <a:srgbClr val="1E1E1E"/>
                          </a:solidFill>
                        </a:rPr>
                        <a:t>Elevated Emergency Road</a:t>
                      </a:r>
                    </a:p>
                  </a:txBody>
                  <a:tcPr>
                    <a:solidFill>
                      <a:srgbClr val="FFFFFF"/>
                    </a:solidFill>
                  </a:tcPr>
                </a:tc>
                <a:tc>
                  <a:txBody>
                    <a:bodyPr/>
                    <a:lstStyle/>
                    <a:p>
                      <a:r>
                        <a:rPr sz="950">
                          <a:solidFill>
                            <a:srgbClr val="1E1E1E"/>
                          </a:solidFill>
                        </a:rPr>
                        <a:t>75% only</a:t>
                      </a:r>
                    </a:p>
                  </a:txBody>
                  <a:tcPr>
                    <a:solidFill>
                      <a:srgbClr val="FFFFFF"/>
                    </a:solidFill>
                  </a:tcPr>
                </a:tc>
                <a:tc>
                  <a:txBody>
                    <a:bodyPr/>
                    <a:lstStyle/>
                    <a:p>
                      <a:r>
                        <a:rPr sz="950">
                          <a:solidFill>
                            <a:srgbClr val="1E1E1E"/>
                          </a:solidFill>
                        </a:rPr>
                        <a:t>Raises E-W corridor; deflects surface flow laterally</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06</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Assumptions</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Assumptions</a:t>
            </a:r>
          </a:p>
        </p:txBody>
      </p:sp>
      <p:sp>
        <p:nvSpPr>
          <p:cNvPr id="9" name="TextBox 8"/>
          <p:cNvSpPr txBox="1"/>
          <p:nvPr/>
        </p:nvSpPr>
        <p:spPr>
          <a:xfrm>
            <a:off x="457200" y="1234440"/>
            <a:ext cx="11274552" cy="365760"/>
          </a:xfrm>
          <a:prstGeom prst="rect">
            <a:avLst/>
          </a:prstGeom>
          <a:noFill/>
        </p:spPr>
        <p:txBody>
          <a:bodyPr wrap="square">
            <a:spAutoFit/>
          </a:bodyPr>
          <a:lstStyle/>
          <a:p>
            <a:pPr algn="l"/>
            <a:r>
              <a:rPr sz="1100" b="0" i="0">
                <a:solidFill>
                  <a:srgbClr val="373737"/>
                </a:solidFill>
              </a:rPr>
              <a:t>The following assumptions and simplifications govern the simulation model. They are standard practice in raster-based hydrological simulation at this scale.</a:t>
            </a:r>
          </a:p>
        </p:txBody>
      </p:sp>
      <p:sp>
        <p:nvSpPr>
          <p:cNvPr id="10" name="TextBox 9"/>
          <p:cNvSpPr txBox="1"/>
          <p:nvPr/>
        </p:nvSpPr>
        <p:spPr>
          <a:xfrm>
            <a:off x="457200" y="1691640"/>
            <a:ext cx="5669280" cy="246888"/>
          </a:xfrm>
          <a:prstGeom prst="rect">
            <a:avLst/>
          </a:prstGeom>
          <a:noFill/>
        </p:spPr>
        <p:txBody>
          <a:bodyPr wrap="square">
            <a:spAutoFit/>
          </a:bodyPr>
          <a:lstStyle/>
          <a:p>
            <a:pPr algn="l"/>
            <a:r>
              <a:rPr sz="1000" b="1" i="0">
                <a:solidFill>
                  <a:srgbClr val="183764"/>
                </a:solidFill>
              </a:rPr>
              <a:t>Single-Direction Flow (D8)</a:t>
            </a:r>
          </a:p>
        </p:txBody>
      </p:sp>
      <p:sp>
        <p:nvSpPr>
          <p:cNvPr id="11" name="TextBox 10"/>
          <p:cNvSpPr txBox="1"/>
          <p:nvPr/>
        </p:nvSpPr>
        <p:spPr>
          <a:xfrm>
            <a:off x="457200" y="1947672"/>
            <a:ext cx="5669280" cy="640080"/>
          </a:xfrm>
          <a:prstGeom prst="rect">
            <a:avLst/>
          </a:prstGeom>
          <a:noFill/>
        </p:spPr>
        <p:txBody>
          <a:bodyPr wrap="square">
            <a:spAutoFit/>
          </a:bodyPr>
          <a:lstStyle/>
          <a:p>
            <a:pPr algn="l"/>
            <a:r>
              <a:rPr sz="950" b="0" i="0">
                <a:solidFill>
                  <a:srgbClr val="373737"/>
                </a:solidFill>
              </a:rPr>
              <a:t>Each terrain cell routes water to exactly one of its eight neighbours — the steepest descent direction. Real flow may split across multiple paths; D8 is an accepted simplification in raster hydrology.</a:t>
            </a:r>
          </a:p>
        </p:txBody>
      </p:sp>
      <p:sp>
        <p:nvSpPr>
          <p:cNvPr id="12" name="Rectangle 11"/>
          <p:cNvSpPr/>
          <p:nvPr/>
        </p:nvSpPr>
        <p:spPr>
          <a:xfrm>
            <a:off x="457200" y="2587752"/>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691640"/>
            <a:ext cx="5669280" cy="246888"/>
          </a:xfrm>
          <a:prstGeom prst="rect">
            <a:avLst/>
          </a:prstGeom>
          <a:noFill/>
        </p:spPr>
        <p:txBody>
          <a:bodyPr wrap="square">
            <a:spAutoFit/>
          </a:bodyPr>
          <a:lstStyle/>
          <a:p>
            <a:pPr algn="l"/>
            <a:r>
              <a:rPr sz="1000" b="1" i="0">
                <a:solidFill>
                  <a:srgbClr val="183764"/>
                </a:solidFill>
              </a:rPr>
              <a:t>Static DEM</a:t>
            </a:r>
          </a:p>
        </p:txBody>
      </p:sp>
      <p:sp>
        <p:nvSpPr>
          <p:cNvPr id="14" name="TextBox 13"/>
          <p:cNvSpPr txBox="1"/>
          <p:nvPr/>
        </p:nvSpPr>
        <p:spPr>
          <a:xfrm>
            <a:off x="6263640" y="1947672"/>
            <a:ext cx="5669280" cy="640080"/>
          </a:xfrm>
          <a:prstGeom prst="rect">
            <a:avLst/>
          </a:prstGeom>
          <a:noFill/>
        </p:spPr>
        <p:txBody>
          <a:bodyPr wrap="square">
            <a:spAutoFit/>
          </a:bodyPr>
          <a:lstStyle/>
          <a:p>
            <a:pPr algn="l"/>
            <a:r>
              <a:rPr sz="950" b="0" i="0">
                <a:solidFill>
                  <a:srgbClr val="373737"/>
                </a:solidFill>
              </a:rPr>
              <a:t>The DEM does not change during simulation. Erosion, sedimentation, and structural collapse are not modeled. Prevention measure modifications are applied once at the start and remain fixed throughout.</a:t>
            </a:r>
          </a:p>
        </p:txBody>
      </p:sp>
      <p:sp>
        <p:nvSpPr>
          <p:cNvPr id="15" name="Rectangle 14"/>
          <p:cNvSpPr/>
          <p:nvPr/>
        </p:nvSpPr>
        <p:spPr>
          <a:xfrm>
            <a:off x="457200" y="2587752"/>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642616"/>
            <a:ext cx="5669280" cy="246888"/>
          </a:xfrm>
          <a:prstGeom prst="rect">
            <a:avLst/>
          </a:prstGeom>
          <a:noFill/>
        </p:spPr>
        <p:txBody>
          <a:bodyPr wrap="square">
            <a:spAutoFit/>
          </a:bodyPr>
          <a:lstStyle/>
          <a:p>
            <a:pPr algn="l"/>
            <a:r>
              <a:rPr sz="1000" b="1" i="0">
                <a:solidFill>
                  <a:srgbClr val="183764"/>
                </a:solidFill>
              </a:rPr>
              <a:t>Uniform Soil Properties</a:t>
            </a:r>
          </a:p>
        </p:txBody>
      </p:sp>
      <p:sp>
        <p:nvSpPr>
          <p:cNvPr id="17" name="TextBox 16"/>
          <p:cNvSpPr txBox="1"/>
          <p:nvPr/>
        </p:nvSpPr>
        <p:spPr>
          <a:xfrm>
            <a:off x="457200" y="2898648"/>
            <a:ext cx="5669280" cy="640080"/>
          </a:xfrm>
          <a:prstGeom prst="rect">
            <a:avLst/>
          </a:prstGeom>
          <a:noFill/>
        </p:spPr>
        <p:txBody>
          <a:bodyPr wrap="square">
            <a:spAutoFit/>
          </a:bodyPr>
          <a:lstStyle/>
          <a:p>
            <a:pPr algn="l"/>
            <a:r>
              <a:rPr sz="950" b="0" i="0">
                <a:solidFill>
                  <a:srgbClr val="373737"/>
                </a:solidFill>
              </a:rPr>
              <a:t>Initial soil saturation is spatially uniform (user-specified). Elevation is used as a proxy for soil drainage class. Real soils vary in texture, porosity, and hydraulic conductivity across the site.</a:t>
            </a:r>
          </a:p>
        </p:txBody>
      </p:sp>
      <p:sp>
        <p:nvSpPr>
          <p:cNvPr id="18" name="Rectangle 17"/>
          <p:cNvSpPr/>
          <p:nvPr/>
        </p:nvSpPr>
        <p:spPr>
          <a:xfrm>
            <a:off x="457200" y="353872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2642616"/>
            <a:ext cx="5669280" cy="246888"/>
          </a:xfrm>
          <a:prstGeom prst="rect">
            <a:avLst/>
          </a:prstGeom>
          <a:noFill/>
        </p:spPr>
        <p:txBody>
          <a:bodyPr wrap="square">
            <a:spAutoFit/>
          </a:bodyPr>
          <a:lstStyle/>
          <a:p>
            <a:pPr algn="l"/>
            <a:r>
              <a:rPr sz="1000" b="1" i="0">
                <a:solidFill>
                  <a:srgbClr val="183764"/>
                </a:solidFill>
              </a:rPr>
              <a:t>Simplified Infiltration</a:t>
            </a:r>
          </a:p>
        </p:txBody>
      </p:sp>
      <p:sp>
        <p:nvSpPr>
          <p:cNvPr id="20" name="TextBox 19"/>
          <p:cNvSpPr txBox="1"/>
          <p:nvPr/>
        </p:nvSpPr>
        <p:spPr>
          <a:xfrm>
            <a:off x="6263640" y="2898648"/>
            <a:ext cx="5669280" cy="640080"/>
          </a:xfrm>
          <a:prstGeom prst="rect">
            <a:avLst/>
          </a:prstGeom>
          <a:noFill/>
        </p:spPr>
        <p:txBody>
          <a:bodyPr wrap="square">
            <a:spAutoFit/>
          </a:bodyPr>
          <a:lstStyle/>
          <a:p>
            <a:pPr algn="l"/>
            <a:r>
              <a:rPr sz="950" b="0" i="0">
                <a:solidFill>
                  <a:srgbClr val="373737"/>
                </a:solidFill>
              </a:rPr>
              <a:t>The infiltration model is inspired by Green-Ampt but is a scalar approximation. Capillary suction head, wetting front depth, and detailed soil hydraulics are not explicitly computed.</a:t>
            </a:r>
          </a:p>
        </p:txBody>
      </p:sp>
      <p:sp>
        <p:nvSpPr>
          <p:cNvPr id="21" name="Rectangle 20"/>
          <p:cNvSpPr/>
          <p:nvPr/>
        </p:nvSpPr>
        <p:spPr>
          <a:xfrm>
            <a:off x="457200" y="3538728"/>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593592"/>
            <a:ext cx="5669280" cy="246888"/>
          </a:xfrm>
          <a:prstGeom prst="rect">
            <a:avLst/>
          </a:prstGeom>
          <a:noFill/>
        </p:spPr>
        <p:txBody>
          <a:bodyPr wrap="square">
            <a:spAutoFit/>
          </a:bodyPr>
          <a:lstStyle/>
          <a:p>
            <a:pPr algn="l"/>
            <a:r>
              <a:rPr sz="1000" b="1" i="0">
                <a:solidFill>
                  <a:srgbClr val="183764"/>
                </a:solidFill>
              </a:rPr>
              <a:t>BFS Overflow Approximation</a:t>
            </a:r>
          </a:p>
        </p:txBody>
      </p:sp>
      <p:sp>
        <p:nvSpPr>
          <p:cNvPr id="23" name="TextBox 22"/>
          <p:cNvSpPr txBox="1"/>
          <p:nvPr/>
        </p:nvSpPr>
        <p:spPr>
          <a:xfrm>
            <a:off x="457200" y="3849624"/>
            <a:ext cx="5669280" cy="640080"/>
          </a:xfrm>
          <a:prstGeom prst="rect">
            <a:avLst/>
          </a:prstGeom>
          <a:noFill/>
        </p:spPr>
        <p:txBody>
          <a:bodyPr wrap="square">
            <a:spAutoFit/>
          </a:bodyPr>
          <a:lstStyle/>
          <a:p>
            <a:pPr algn="l"/>
            <a:r>
              <a:rPr sz="950" b="0" i="0">
                <a:solidFill>
                  <a:srgbClr val="373737"/>
                </a:solidFill>
              </a:rPr>
              <a:t>River overflow spreading uses Breadth-First Search dilation rather than a full shallow-water equation solver. This is computationally efficient and visually representative but does not model wave celerity or backwater effects.</a:t>
            </a:r>
          </a:p>
        </p:txBody>
      </p:sp>
      <p:sp>
        <p:nvSpPr>
          <p:cNvPr id="24" name="Rectangle 23"/>
          <p:cNvSpPr/>
          <p:nvPr/>
        </p:nvSpPr>
        <p:spPr>
          <a:xfrm>
            <a:off x="457200" y="4489704"/>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63640" y="3593592"/>
            <a:ext cx="5669280" cy="246888"/>
          </a:xfrm>
          <a:prstGeom prst="rect">
            <a:avLst/>
          </a:prstGeom>
          <a:noFill/>
        </p:spPr>
        <p:txBody>
          <a:bodyPr wrap="square">
            <a:spAutoFit/>
          </a:bodyPr>
          <a:lstStyle/>
          <a:p>
            <a:pPr algn="l"/>
            <a:r>
              <a:rPr sz="1000" b="1" i="0">
                <a:solidFill>
                  <a:srgbClr val="183764"/>
                </a:solidFill>
              </a:rPr>
              <a:t>Instantaneous Prevention Deployment</a:t>
            </a:r>
          </a:p>
        </p:txBody>
      </p:sp>
      <p:sp>
        <p:nvSpPr>
          <p:cNvPr id="26" name="TextBox 25"/>
          <p:cNvSpPr txBox="1"/>
          <p:nvPr/>
        </p:nvSpPr>
        <p:spPr>
          <a:xfrm>
            <a:off x="6263640" y="3849624"/>
            <a:ext cx="5669280" cy="640080"/>
          </a:xfrm>
          <a:prstGeom prst="rect">
            <a:avLst/>
          </a:prstGeom>
          <a:noFill/>
        </p:spPr>
        <p:txBody>
          <a:bodyPr wrap="square">
            <a:spAutoFit/>
          </a:bodyPr>
          <a:lstStyle/>
          <a:p>
            <a:pPr algn="l"/>
            <a:r>
              <a:rPr sz="950" b="0" i="0">
                <a:solidFill>
                  <a:srgbClr val="373737"/>
                </a:solidFill>
              </a:rPr>
              <a:t>All prevention measures are fully effective from timestep 0. Construction time, soil settlement, and partial effectiveness during construction are not modeled.</a:t>
            </a:r>
          </a:p>
        </p:txBody>
      </p:sp>
      <p:sp>
        <p:nvSpPr>
          <p:cNvPr id="27" name="Rectangle 26"/>
          <p:cNvSpPr/>
          <p:nvPr/>
        </p:nvSpPr>
        <p:spPr>
          <a:xfrm>
            <a:off x="457200" y="4489704"/>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544568"/>
            <a:ext cx="5669280" cy="246888"/>
          </a:xfrm>
          <a:prstGeom prst="rect">
            <a:avLst/>
          </a:prstGeom>
          <a:noFill/>
        </p:spPr>
        <p:txBody>
          <a:bodyPr wrap="square">
            <a:spAutoFit/>
          </a:bodyPr>
          <a:lstStyle/>
          <a:p>
            <a:pPr algn="l"/>
            <a:r>
              <a:rPr sz="1000" b="1" i="0">
                <a:solidFill>
                  <a:srgbClr val="183764"/>
                </a:solidFill>
              </a:rPr>
              <a:t>No Groundwater Interaction</a:t>
            </a:r>
          </a:p>
        </p:txBody>
      </p:sp>
      <p:sp>
        <p:nvSpPr>
          <p:cNvPr id="29" name="TextBox 28"/>
          <p:cNvSpPr txBox="1"/>
          <p:nvPr/>
        </p:nvSpPr>
        <p:spPr>
          <a:xfrm>
            <a:off x="457200" y="4800600"/>
            <a:ext cx="5669280" cy="640080"/>
          </a:xfrm>
          <a:prstGeom prst="rect">
            <a:avLst/>
          </a:prstGeom>
          <a:noFill/>
        </p:spPr>
        <p:txBody>
          <a:bodyPr wrap="square">
            <a:spAutoFit/>
          </a:bodyPr>
          <a:lstStyle/>
          <a:p>
            <a:pPr algn="l"/>
            <a:r>
              <a:rPr sz="950" b="0" i="0">
                <a:solidFill>
                  <a:srgbClr val="373737"/>
                </a:solidFill>
              </a:rPr>
              <a:t>Subsurface flow, groundwater table rise, and sewer system interactions are excluded. This is a surface hydrology simulation only.</a:t>
            </a:r>
          </a:p>
        </p:txBody>
      </p:sp>
      <p:sp>
        <p:nvSpPr>
          <p:cNvPr id="30" name="Rectangle 29"/>
          <p:cNvSpPr/>
          <p:nvPr/>
        </p:nvSpPr>
        <p:spPr>
          <a:xfrm>
            <a:off x="457200" y="5440680"/>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4544568"/>
            <a:ext cx="5669280" cy="246888"/>
          </a:xfrm>
          <a:prstGeom prst="rect">
            <a:avLst/>
          </a:prstGeom>
          <a:noFill/>
        </p:spPr>
        <p:txBody>
          <a:bodyPr wrap="square">
            <a:spAutoFit/>
          </a:bodyPr>
          <a:lstStyle/>
          <a:p>
            <a:pPr algn="l"/>
            <a:r>
              <a:rPr sz="1000" b="1" i="0">
                <a:solidFill>
                  <a:srgbClr val="183764"/>
                </a:solidFill>
              </a:rPr>
              <a:t>Constant Wind Field</a:t>
            </a:r>
          </a:p>
        </p:txBody>
      </p:sp>
      <p:sp>
        <p:nvSpPr>
          <p:cNvPr id="32" name="TextBox 31"/>
          <p:cNvSpPr txBox="1"/>
          <p:nvPr/>
        </p:nvSpPr>
        <p:spPr>
          <a:xfrm>
            <a:off x="6263640" y="4800600"/>
            <a:ext cx="5669280" cy="640080"/>
          </a:xfrm>
          <a:prstGeom prst="rect">
            <a:avLst/>
          </a:prstGeom>
          <a:noFill/>
        </p:spPr>
        <p:txBody>
          <a:bodyPr wrap="square">
            <a:spAutoFit/>
          </a:bodyPr>
          <a:lstStyle/>
          <a:p>
            <a:pPr algn="l"/>
            <a:r>
              <a:rPr sz="950" b="0" i="0">
                <a:solidFill>
                  <a:srgbClr val="373737"/>
                </a:solidFill>
              </a:rPr>
              <a:t>Wind speed and direction are assumed constant throughout the storm duration. Spatial variation within the study area is not modeled.</a:t>
            </a:r>
          </a:p>
        </p:txBody>
      </p:sp>
      <p:sp>
        <p:nvSpPr>
          <p:cNvPr id="33" name="Rectangle 32"/>
          <p:cNvSpPr/>
          <p:nvPr/>
        </p:nvSpPr>
        <p:spPr>
          <a:xfrm>
            <a:off x="457200" y="5440680"/>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5495544"/>
            <a:ext cx="5669280" cy="246888"/>
          </a:xfrm>
          <a:prstGeom prst="rect">
            <a:avLst/>
          </a:prstGeom>
          <a:noFill/>
        </p:spPr>
        <p:txBody>
          <a:bodyPr wrap="square">
            <a:spAutoFit/>
          </a:bodyPr>
          <a:lstStyle/>
          <a:p>
            <a:pPr algn="l"/>
            <a:r>
              <a:rPr sz="1000" b="1" i="0">
                <a:solidFill>
                  <a:srgbClr val="183764"/>
                </a:solidFill>
              </a:rPr>
              <a:t>Grid Resolution Limitation</a:t>
            </a:r>
          </a:p>
        </p:txBody>
      </p:sp>
      <p:sp>
        <p:nvSpPr>
          <p:cNvPr id="35" name="TextBox 34"/>
          <p:cNvSpPr txBox="1"/>
          <p:nvPr/>
        </p:nvSpPr>
        <p:spPr>
          <a:xfrm>
            <a:off x="457200" y="5751576"/>
            <a:ext cx="5669280" cy="640080"/>
          </a:xfrm>
          <a:prstGeom prst="rect">
            <a:avLst/>
          </a:prstGeom>
          <a:noFill/>
        </p:spPr>
        <p:txBody>
          <a:bodyPr wrap="square">
            <a:spAutoFit/>
          </a:bodyPr>
          <a:lstStyle/>
          <a:p>
            <a:pPr algn="l"/>
            <a:r>
              <a:rPr sz="950" b="0" i="0">
                <a:solidFill>
                  <a:srgbClr val="373737"/>
                </a:solidFill>
              </a:rPr>
              <a:t>The 57×61 grid at ~30.64 m/cell cannot resolve sub-cell features such as individual buildings, drainage pipes, or roads. Their effects are approximated through the runoff coefficient and drainage capacity parameters.</a:t>
            </a:r>
          </a:p>
        </p:txBody>
      </p:sp>
      <p:sp>
        <p:nvSpPr>
          <p:cNvPr id="36" name="Rectangle 35"/>
          <p:cNvSpPr/>
          <p:nvPr/>
        </p:nvSpPr>
        <p:spPr>
          <a:xfrm>
            <a:off x="457200" y="6391656"/>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63640" y="5495544"/>
            <a:ext cx="5669280" cy="246888"/>
          </a:xfrm>
          <a:prstGeom prst="rect">
            <a:avLst/>
          </a:prstGeom>
          <a:noFill/>
        </p:spPr>
        <p:txBody>
          <a:bodyPr wrap="square">
            <a:spAutoFit/>
          </a:bodyPr>
          <a:lstStyle/>
          <a:p>
            <a:pPr algn="l"/>
            <a:r>
              <a:rPr sz="1000" b="1" i="0">
                <a:solidFill>
                  <a:srgbClr val="183764"/>
                </a:solidFill>
              </a:rPr>
              <a:t>Retention Basin Instantaneous Fill</a:t>
            </a:r>
          </a:p>
        </p:txBody>
      </p:sp>
      <p:sp>
        <p:nvSpPr>
          <p:cNvPr id="38" name="TextBox 37"/>
          <p:cNvSpPr txBox="1"/>
          <p:nvPr/>
        </p:nvSpPr>
        <p:spPr>
          <a:xfrm>
            <a:off x="6263640" y="5751576"/>
            <a:ext cx="5669280" cy="640080"/>
          </a:xfrm>
          <a:prstGeom prst="rect">
            <a:avLst/>
          </a:prstGeom>
          <a:noFill/>
        </p:spPr>
        <p:txBody>
          <a:bodyPr wrap="square">
            <a:spAutoFit/>
          </a:bodyPr>
          <a:lstStyle/>
          <a:p>
            <a:pPr algn="l"/>
            <a:r>
              <a:rPr sz="950" b="0" i="0">
                <a:solidFill>
                  <a:srgbClr val="373737"/>
                </a:solidFill>
              </a:rPr>
              <a:t>The retention basin stores water immediately once excavated in the DEM. Real effectiveness depends on inlet design, spillways, and outlet control structures not modeled here.</a:t>
            </a:r>
          </a:p>
        </p:txBody>
      </p:sp>
      <p:sp>
        <p:nvSpPr>
          <p:cNvPr id="39" name="Rectangle 38"/>
          <p:cNvSpPr/>
          <p:nvPr/>
        </p:nvSpPr>
        <p:spPr>
          <a:xfrm>
            <a:off x="457200" y="6391656"/>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07</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Simulation Setup</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Simulation Setup</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Software &amp; Input Files</a:t>
            </a:r>
          </a:p>
        </p:txBody>
      </p:sp>
      <p:sp>
        <p:nvSpPr>
          <p:cNvPr id="10" name="TextBox 9"/>
          <p:cNvSpPr txBox="1"/>
          <p:nvPr/>
        </p:nvSpPr>
        <p:spPr>
          <a:xfrm>
            <a:off x="457200" y="1536192"/>
            <a:ext cx="5394960" cy="914400"/>
          </a:xfrm>
          <a:prstGeom prst="rect">
            <a:avLst/>
          </a:prstGeom>
          <a:noFill/>
        </p:spPr>
        <p:txBody>
          <a:bodyPr wrap="square">
            <a:spAutoFit/>
          </a:bodyPr>
          <a:lstStyle/>
          <a:p>
            <a:pPr algn="l"/>
            <a:r>
              <a:rPr sz="1100" b="0" i="0" dirty="0">
                <a:solidFill>
                  <a:srgbClr val="373737"/>
                </a:solidFill>
              </a:rPr>
              <a:t>The simulation runs on Python 3.10 or higher inside a virtual environment. Required libraries: NumPy, SciPy, Matplotlib, </a:t>
            </a:r>
            <a:r>
              <a:rPr sz="1100" b="0" i="0" dirty="0" err="1">
                <a:solidFill>
                  <a:srgbClr val="373737"/>
                </a:solidFill>
              </a:rPr>
              <a:t>rasterio</a:t>
            </a:r>
            <a:r>
              <a:rPr sz="1100" b="0" i="0" dirty="0">
                <a:solidFill>
                  <a:srgbClr val="373737"/>
                </a:solidFill>
              </a:rPr>
              <a:t>, Pillow, and pandas. The mandatory input files are the </a:t>
            </a:r>
            <a:r>
              <a:rPr sz="1100" b="0" i="0" dirty="0" err="1">
                <a:solidFill>
                  <a:srgbClr val="373737"/>
                </a:solidFill>
              </a:rPr>
              <a:t>GeoTIFF</a:t>
            </a:r>
            <a:r>
              <a:rPr sz="1100" b="0" i="0" dirty="0">
                <a:solidFill>
                  <a:srgbClr val="373737"/>
                </a:solidFill>
              </a:rPr>
              <a:t> DEM (</a:t>
            </a:r>
            <a:r>
              <a:rPr sz="1100" b="0" i="0" dirty="0" err="1">
                <a:solidFill>
                  <a:srgbClr val="373737"/>
                </a:solidFill>
              </a:rPr>
              <a:t>JVS_Simulation.tif</a:t>
            </a:r>
            <a:r>
              <a:rPr sz="1100" b="0" i="0" dirty="0">
                <a:solidFill>
                  <a:srgbClr val="373737"/>
                </a:solidFill>
              </a:rPr>
              <a:t>) and the JPEG satellite background (JVS_2D.jpg), both located in the Map Topography folder.</a:t>
            </a:r>
          </a:p>
        </p:txBody>
      </p:sp>
      <p:sp>
        <p:nvSpPr>
          <p:cNvPr id="11" name="TextBox 10"/>
          <p:cNvSpPr txBox="1"/>
          <p:nvPr/>
        </p:nvSpPr>
        <p:spPr>
          <a:xfrm>
            <a:off x="457200" y="2542032"/>
            <a:ext cx="11274552" cy="274320"/>
          </a:xfrm>
          <a:prstGeom prst="rect">
            <a:avLst/>
          </a:prstGeom>
          <a:noFill/>
        </p:spPr>
        <p:txBody>
          <a:bodyPr wrap="square">
            <a:spAutoFit/>
          </a:bodyPr>
          <a:lstStyle/>
          <a:p>
            <a:pPr algn="l"/>
            <a:r>
              <a:rPr sz="1100" b="1" i="0">
                <a:solidFill>
                  <a:srgbClr val="1F64AA"/>
                </a:solidFill>
              </a:rPr>
              <a:t>How to Run</a:t>
            </a:r>
          </a:p>
        </p:txBody>
      </p:sp>
      <p:sp>
        <p:nvSpPr>
          <p:cNvPr id="12" name="TextBox 11"/>
          <p:cNvSpPr txBox="1"/>
          <p:nvPr/>
        </p:nvSpPr>
        <p:spPr>
          <a:xfrm>
            <a:off x="457200" y="2834640"/>
            <a:ext cx="5394960" cy="4572000"/>
          </a:xfrm>
          <a:prstGeom prst="rect">
            <a:avLst/>
          </a:prstGeom>
          <a:noFill/>
        </p:spPr>
        <p:txBody>
          <a:bodyPr wrap="square">
            <a:spAutoFit/>
          </a:bodyPr>
          <a:lstStyle/>
          <a:p>
            <a:pPr>
              <a:spcBef>
                <a:spcPts val="400"/>
              </a:spcBef>
            </a:pPr>
            <a:r>
              <a:rPr sz="1000">
                <a:solidFill>
                  <a:srgbClr val="373737"/>
                </a:solidFill>
              </a:rPr>
              <a:t>—  Baseline only: python "Main/flood_simulation_25%.py"</a:t>
            </a:r>
          </a:p>
          <a:p>
            <a:pPr>
              <a:spcBef>
                <a:spcPts val="400"/>
              </a:spcBef>
            </a:pPr>
            <a:r>
              <a:rPr sz="1000">
                <a:solidFill>
                  <a:srgbClr val="373737"/>
                </a:solidFill>
              </a:rPr>
              <a:t>—  With 2 measures: python "Main/flood_simulation_50%.py"</a:t>
            </a:r>
          </a:p>
          <a:p>
            <a:pPr>
              <a:spcBef>
                <a:spcPts val="400"/>
              </a:spcBef>
            </a:pPr>
            <a:r>
              <a:rPr sz="1000">
                <a:solidFill>
                  <a:srgbClr val="373737"/>
                </a:solidFill>
              </a:rPr>
              <a:t>—  With 4 measures: python "Main/flood_simulation_75%.py"</a:t>
            </a:r>
          </a:p>
        </p:txBody>
      </p:sp>
      <p:sp>
        <p:nvSpPr>
          <p:cNvPr id="13" name="TextBox 12"/>
          <p:cNvSpPr txBox="1"/>
          <p:nvPr/>
        </p:nvSpPr>
        <p:spPr>
          <a:xfrm>
            <a:off x="457200" y="3611880"/>
            <a:ext cx="11274552" cy="274320"/>
          </a:xfrm>
          <a:prstGeom prst="rect">
            <a:avLst/>
          </a:prstGeom>
          <a:noFill/>
        </p:spPr>
        <p:txBody>
          <a:bodyPr wrap="square">
            <a:spAutoFit/>
          </a:bodyPr>
          <a:lstStyle/>
          <a:p>
            <a:pPr algn="l"/>
            <a:r>
              <a:rPr sz="1100" b="1" i="0">
                <a:solidFill>
                  <a:srgbClr val="1F64AA"/>
                </a:solidFill>
              </a:rPr>
              <a:t>Output Files</a:t>
            </a:r>
          </a:p>
        </p:txBody>
      </p:sp>
      <p:sp>
        <p:nvSpPr>
          <p:cNvPr id="14" name="TextBox 13"/>
          <p:cNvSpPr txBox="1"/>
          <p:nvPr/>
        </p:nvSpPr>
        <p:spPr>
          <a:xfrm>
            <a:off x="457200" y="3913632"/>
            <a:ext cx="5394960" cy="4572000"/>
          </a:xfrm>
          <a:prstGeom prst="rect">
            <a:avLst/>
          </a:prstGeom>
          <a:noFill/>
        </p:spPr>
        <p:txBody>
          <a:bodyPr wrap="square">
            <a:spAutoFit/>
          </a:bodyPr>
          <a:lstStyle/>
          <a:p>
            <a:pPr>
              <a:spcBef>
                <a:spcPts val="400"/>
              </a:spcBef>
            </a:pPr>
            <a:r>
              <a:rPr sz="1000">
                <a:solidFill>
                  <a:srgbClr val="373737"/>
                </a:solidFill>
              </a:rPr>
              <a:t>—  Results/animations/ — GIF animation for each run</a:t>
            </a:r>
          </a:p>
          <a:p>
            <a:pPr>
              <a:spcBef>
                <a:spcPts val="400"/>
              </a:spcBef>
            </a:pPr>
            <a:r>
              <a:rPr sz="1000">
                <a:solidFill>
                  <a:srgbClr val="373737"/>
                </a:solidFill>
              </a:rPr>
              <a:t>—  Results/data/ — CSV time-series, .npy terrain arrays, risk report</a:t>
            </a:r>
          </a:p>
          <a:p>
            <a:pPr>
              <a:spcBef>
                <a:spcPts val="400"/>
              </a:spcBef>
            </a:pPr>
            <a:r>
              <a:rPr sz="1000">
                <a:solidFill>
                  <a:srgbClr val="373737"/>
                </a:solidFill>
              </a:rPr>
              <a:t>—  Results/maps/ — static risk zone and HAND model map images</a:t>
            </a:r>
          </a:p>
        </p:txBody>
      </p:sp>
      <p:sp>
        <p:nvSpPr>
          <p:cNvPr id="15" name="TextBox 14"/>
          <p:cNvSpPr txBox="1"/>
          <p:nvPr/>
        </p:nvSpPr>
        <p:spPr>
          <a:xfrm>
            <a:off x="457200" y="4736592"/>
            <a:ext cx="11274552" cy="274320"/>
          </a:xfrm>
          <a:prstGeom prst="rect">
            <a:avLst/>
          </a:prstGeom>
          <a:noFill/>
        </p:spPr>
        <p:txBody>
          <a:bodyPr wrap="square">
            <a:spAutoFit/>
          </a:bodyPr>
          <a:lstStyle/>
          <a:p>
            <a:pPr algn="l"/>
            <a:r>
              <a:rPr sz="1100" b="1" i="0">
                <a:solidFill>
                  <a:srgbClr val="1F64AA"/>
                </a:solidFill>
              </a:rPr>
              <a:t>Key Numerical Configuration</a:t>
            </a:r>
          </a:p>
        </p:txBody>
      </p:sp>
      <p:graphicFrame>
        <p:nvGraphicFramePr>
          <p:cNvPr id="16" name="Table 15"/>
          <p:cNvGraphicFramePr>
            <a:graphicFrameLocks noGrp="1"/>
          </p:cNvGraphicFramePr>
          <p:nvPr/>
        </p:nvGraphicFramePr>
        <p:xfrm>
          <a:off x="457200" y="5029200"/>
          <a:ext cx="5394960" cy="219456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274320">
                <a:tc>
                  <a:txBody>
                    <a:bodyPr/>
                    <a:lstStyle/>
                    <a:p>
                      <a:pPr algn="ctr"/>
                      <a:r>
                        <a:rPr sz="950" b="1">
                          <a:solidFill>
                            <a:srgbClr val="FFFFFF"/>
                          </a:solidFill>
                        </a:rPr>
                        <a:t>Parameter</a:t>
                      </a:r>
                    </a:p>
                  </a:txBody>
                  <a:tcPr>
                    <a:solidFill>
                      <a:srgbClr val="183764"/>
                    </a:solidFill>
                  </a:tcPr>
                </a:tc>
                <a:tc>
                  <a:txBody>
                    <a:bodyPr/>
                    <a:lstStyle/>
                    <a:p>
                      <a:pPr algn="ctr"/>
                      <a:r>
                        <a:rPr sz="950" b="1">
                          <a:solidFill>
                            <a:srgbClr val="FFFFFF"/>
                          </a:solidFill>
                        </a:rPr>
                        <a:t>Value</a:t>
                      </a:r>
                    </a:p>
                  </a:txBody>
                  <a:tcPr>
                    <a:solidFill>
                      <a:srgbClr val="183764"/>
                    </a:solidFill>
                  </a:tcPr>
                </a:tc>
                <a:extLst>
                  <a:ext uri="{0D108BD9-81ED-4DB2-BD59-A6C34878D82A}">
                    <a16:rowId xmlns:a16="http://schemas.microsoft.com/office/drawing/2014/main" val="10000"/>
                  </a:ext>
                </a:extLst>
              </a:tr>
              <a:tr h="274320">
                <a:tc>
                  <a:txBody>
                    <a:bodyPr/>
                    <a:lstStyle/>
                    <a:p>
                      <a:r>
                        <a:rPr sz="950">
                          <a:solidFill>
                            <a:srgbClr val="1E1E1E"/>
                          </a:solidFill>
                        </a:rPr>
                        <a:t>DEM Grid</a:t>
                      </a:r>
                    </a:p>
                  </a:txBody>
                  <a:tcPr>
                    <a:solidFill>
                      <a:srgbClr val="F5F7FA"/>
                    </a:solidFill>
                  </a:tcPr>
                </a:tc>
                <a:tc>
                  <a:txBody>
                    <a:bodyPr/>
                    <a:lstStyle/>
                    <a:p>
                      <a:r>
                        <a:rPr sz="950">
                          <a:solidFill>
                            <a:srgbClr val="1E1E1E"/>
                          </a:solidFill>
                        </a:rPr>
                        <a:t>57 rows × 61 columns</a:t>
                      </a:r>
                    </a:p>
                  </a:txBody>
                  <a:tcPr>
                    <a:solidFill>
                      <a:srgbClr val="F5F7FA"/>
                    </a:solidFill>
                  </a:tcPr>
                </a:tc>
                <a:extLst>
                  <a:ext uri="{0D108BD9-81ED-4DB2-BD59-A6C34878D82A}">
                    <a16:rowId xmlns:a16="http://schemas.microsoft.com/office/drawing/2014/main" val="10001"/>
                  </a:ext>
                </a:extLst>
              </a:tr>
              <a:tr h="274320">
                <a:tc>
                  <a:txBody>
                    <a:bodyPr/>
                    <a:lstStyle/>
                    <a:p>
                      <a:r>
                        <a:rPr sz="950">
                          <a:solidFill>
                            <a:srgbClr val="1E1E1E"/>
                          </a:solidFill>
                        </a:rPr>
                        <a:t>Cell Size</a:t>
                      </a:r>
                    </a:p>
                  </a:txBody>
                  <a:tcPr>
                    <a:solidFill>
                      <a:srgbClr val="FFFFFF"/>
                    </a:solidFill>
                  </a:tcPr>
                </a:tc>
                <a:tc>
                  <a:txBody>
                    <a:bodyPr/>
                    <a:lstStyle/>
                    <a:p>
                      <a:r>
                        <a:rPr sz="950">
                          <a:solidFill>
                            <a:srgbClr val="1E1E1E"/>
                          </a:solidFill>
                        </a:rPr>
                        <a:t>30.64 m</a:t>
                      </a:r>
                    </a:p>
                  </a:txBody>
                  <a:tcPr>
                    <a:solidFill>
                      <a:srgbClr val="FFFFFF"/>
                    </a:solidFill>
                  </a:tcPr>
                </a:tc>
                <a:extLst>
                  <a:ext uri="{0D108BD9-81ED-4DB2-BD59-A6C34878D82A}">
                    <a16:rowId xmlns:a16="http://schemas.microsoft.com/office/drawing/2014/main" val="10002"/>
                  </a:ext>
                </a:extLst>
              </a:tr>
              <a:tr h="274320">
                <a:tc>
                  <a:txBody>
                    <a:bodyPr/>
                    <a:lstStyle/>
                    <a:p>
                      <a:r>
                        <a:rPr sz="950">
                          <a:solidFill>
                            <a:srgbClr val="1E1E1E"/>
                          </a:solidFill>
                        </a:rPr>
                        <a:t>Total Area</a:t>
                      </a:r>
                    </a:p>
                  </a:txBody>
                  <a:tcPr>
                    <a:solidFill>
                      <a:srgbClr val="F5F7FA"/>
                    </a:solidFill>
                  </a:tcPr>
                </a:tc>
                <a:tc>
                  <a:txBody>
                    <a:bodyPr/>
                    <a:lstStyle/>
                    <a:p>
                      <a:r>
                        <a:rPr sz="950">
                          <a:solidFill>
                            <a:srgbClr val="1E1E1E"/>
                          </a:solidFill>
                        </a:rPr>
                        <a:t>326.44 ha</a:t>
                      </a:r>
                    </a:p>
                  </a:txBody>
                  <a:tcPr>
                    <a:solidFill>
                      <a:srgbClr val="F5F7FA"/>
                    </a:solidFill>
                  </a:tcPr>
                </a:tc>
                <a:extLst>
                  <a:ext uri="{0D108BD9-81ED-4DB2-BD59-A6C34878D82A}">
                    <a16:rowId xmlns:a16="http://schemas.microsoft.com/office/drawing/2014/main" val="10003"/>
                  </a:ext>
                </a:extLst>
              </a:tr>
              <a:tr h="274320">
                <a:tc>
                  <a:txBody>
                    <a:bodyPr/>
                    <a:lstStyle/>
                    <a:p>
                      <a:r>
                        <a:rPr sz="950">
                          <a:solidFill>
                            <a:srgbClr val="1E1E1E"/>
                          </a:solidFill>
                        </a:rPr>
                        <a:t>Elevation Range</a:t>
                      </a:r>
                    </a:p>
                  </a:txBody>
                  <a:tcPr>
                    <a:solidFill>
                      <a:srgbClr val="FFFFFF"/>
                    </a:solidFill>
                  </a:tcPr>
                </a:tc>
                <a:tc>
                  <a:txBody>
                    <a:bodyPr/>
                    <a:lstStyle/>
                    <a:p>
                      <a:r>
                        <a:rPr sz="950">
                          <a:solidFill>
                            <a:srgbClr val="1E1E1E"/>
                          </a:solidFill>
                        </a:rPr>
                        <a:t>2.00 – 71.75 m (mean 20.74 m)</a:t>
                      </a:r>
                    </a:p>
                  </a:txBody>
                  <a:tcPr>
                    <a:solidFill>
                      <a:srgbClr val="FFFFFF"/>
                    </a:solidFill>
                  </a:tcPr>
                </a:tc>
                <a:extLst>
                  <a:ext uri="{0D108BD9-81ED-4DB2-BD59-A6C34878D82A}">
                    <a16:rowId xmlns:a16="http://schemas.microsoft.com/office/drawing/2014/main" val="10004"/>
                  </a:ext>
                </a:extLst>
              </a:tr>
              <a:tr h="274320">
                <a:tc>
                  <a:txBody>
                    <a:bodyPr/>
                    <a:lstStyle/>
                    <a:p>
                      <a:r>
                        <a:rPr sz="950">
                          <a:solidFill>
                            <a:srgbClr val="1E1E1E"/>
                          </a:solidFill>
                        </a:rPr>
                        <a:t>Stream Threshold</a:t>
                      </a:r>
                    </a:p>
                  </a:txBody>
                  <a:tcPr>
                    <a:solidFill>
                      <a:srgbClr val="F5F7FA"/>
                    </a:solidFill>
                  </a:tcPr>
                </a:tc>
                <a:tc>
                  <a:txBody>
                    <a:bodyPr/>
                    <a:lstStyle/>
                    <a:p>
                      <a:r>
                        <a:rPr sz="950">
                          <a:solidFill>
                            <a:srgbClr val="1E1E1E"/>
                          </a:solidFill>
                        </a:rPr>
                        <a:t>Top 8% of flow accumulation (92nd percentile)</a:t>
                      </a:r>
                    </a:p>
                  </a:txBody>
                  <a:tcPr>
                    <a:solidFill>
                      <a:srgbClr val="F5F7FA"/>
                    </a:solidFill>
                  </a:tcPr>
                </a:tc>
                <a:extLst>
                  <a:ext uri="{0D108BD9-81ED-4DB2-BD59-A6C34878D82A}">
                    <a16:rowId xmlns:a16="http://schemas.microsoft.com/office/drawing/2014/main" val="10005"/>
                  </a:ext>
                </a:extLst>
              </a:tr>
              <a:tr h="274320">
                <a:tc>
                  <a:txBody>
                    <a:bodyPr/>
                    <a:lstStyle/>
                    <a:p>
                      <a:r>
                        <a:rPr sz="950">
                          <a:solidFill>
                            <a:srgbClr val="1E1E1E"/>
                          </a:solidFill>
                        </a:rPr>
                        <a:t>Routing Sub-iters</a:t>
                      </a:r>
                    </a:p>
                  </a:txBody>
                  <a:tcPr>
                    <a:solidFill>
                      <a:srgbClr val="FFFFFF"/>
                    </a:solidFill>
                  </a:tcPr>
                </a:tc>
                <a:tc>
                  <a:txBody>
                    <a:bodyPr/>
                    <a:lstStyle/>
                    <a:p>
                      <a:r>
                        <a:rPr sz="950">
                          <a:solidFill>
                            <a:srgbClr val="1E1E1E"/>
                          </a:solidFill>
                        </a:rPr>
                        <a:t>12 per timestep</a:t>
                      </a:r>
                    </a:p>
                  </a:txBody>
                  <a:tcPr>
                    <a:solidFill>
                      <a:srgbClr val="FFFFFF"/>
                    </a:solidFill>
                  </a:tcPr>
                </a:tc>
                <a:extLst>
                  <a:ext uri="{0D108BD9-81ED-4DB2-BD59-A6C34878D82A}">
                    <a16:rowId xmlns:a16="http://schemas.microsoft.com/office/drawing/2014/main" val="10006"/>
                  </a:ext>
                </a:extLst>
              </a:tr>
              <a:tr h="274320">
                <a:tc>
                  <a:txBody>
                    <a:bodyPr/>
                    <a:lstStyle/>
                    <a:p>
                      <a:r>
                        <a:rPr sz="950">
                          <a:solidFill>
                            <a:srgbClr val="1E1E1E"/>
                          </a:solidFill>
                        </a:rPr>
                        <a:t>BFS Hops</a:t>
                      </a:r>
                    </a:p>
                  </a:txBody>
                  <a:tcPr>
                    <a:solidFill>
                      <a:srgbClr val="F5F7FA"/>
                    </a:solidFill>
                  </a:tcPr>
                </a:tc>
                <a:tc>
                  <a:txBody>
                    <a:bodyPr/>
                    <a:lstStyle/>
                    <a:p>
                      <a:r>
                        <a:rPr sz="950">
                          <a:solidFill>
                            <a:srgbClr val="1E1E1E"/>
                          </a:solidFill>
                        </a:rPr>
                        <a:t>1 (light) → 2 (moderate) → 4–6 (typhoon)</a:t>
                      </a:r>
                    </a:p>
                  </a:txBody>
                  <a:tcPr>
                    <a:solidFill>
                      <a:srgbClr val="F5F7FA"/>
                    </a:solidFill>
                  </a:tcPr>
                </a:tc>
                <a:extLst>
                  <a:ext uri="{0D108BD9-81ED-4DB2-BD59-A6C34878D82A}">
                    <a16:rowId xmlns:a16="http://schemas.microsoft.com/office/drawing/2014/main" val="10007"/>
                  </a:ext>
                </a:extLst>
              </a:tr>
            </a:tbl>
          </a:graphicData>
        </a:graphic>
      </p:graphicFrame>
      <p:sp>
        <p:nvSpPr>
          <p:cNvPr id="17" name="TextBox 16"/>
          <p:cNvSpPr txBox="1"/>
          <p:nvPr/>
        </p:nvSpPr>
        <p:spPr>
          <a:xfrm>
            <a:off x="457200" y="1097280"/>
            <a:ext cx="11274552" cy="274320"/>
          </a:xfrm>
          <a:prstGeom prst="rect">
            <a:avLst/>
          </a:prstGeom>
          <a:noFill/>
        </p:spPr>
        <p:txBody>
          <a:bodyPr wrap="square">
            <a:spAutoFit/>
          </a:bodyPr>
          <a:lstStyle/>
          <a:p>
            <a:pPr algn="l"/>
            <a:r>
              <a:rPr sz="1100" b="1" i="0" dirty="0">
                <a:solidFill>
                  <a:srgbClr val="1F64AA"/>
                </a:solidFill>
              </a:rPr>
              <a:t>GUI Operation Sequence</a:t>
            </a:r>
          </a:p>
        </p:txBody>
      </p:sp>
      <p:sp>
        <p:nvSpPr>
          <p:cNvPr id="18" name="TextBox 17"/>
          <p:cNvSpPr txBox="1"/>
          <p:nvPr/>
        </p:nvSpPr>
        <p:spPr>
          <a:xfrm>
            <a:off x="6492240" y="1536192"/>
            <a:ext cx="5394960" cy="246888"/>
          </a:xfrm>
          <a:prstGeom prst="rect">
            <a:avLst/>
          </a:prstGeom>
          <a:noFill/>
        </p:spPr>
        <p:txBody>
          <a:bodyPr wrap="square">
            <a:spAutoFit/>
          </a:bodyPr>
          <a:lstStyle/>
          <a:p>
            <a:pPr algn="l"/>
            <a:r>
              <a:rPr sz="1000" b="1" i="0">
                <a:solidFill>
                  <a:srgbClr val="183764"/>
                </a:solidFill>
              </a:rPr>
              <a:t>Step 1 — Select Scenario</a:t>
            </a:r>
          </a:p>
        </p:txBody>
      </p:sp>
      <p:sp>
        <p:nvSpPr>
          <p:cNvPr id="19" name="TextBox 18"/>
          <p:cNvSpPr txBox="1"/>
          <p:nvPr/>
        </p:nvSpPr>
        <p:spPr>
          <a:xfrm>
            <a:off x="6492240" y="1783080"/>
            <a:ext cx="5394960" cy="457200"/>
          </a:xfrm>
          <a:prstGeom prst="rect">
            <a:avLst/>
          </a:prstGeom>
          <a:noFill/>
        </p:spPr>
        <p:txBody>
          <a:bodyPr wrap="square">
            <a:spAutoFit/>
          </a:bodyPr>
          <a:lstStyle/>
          <a:p>
            <a:pPr algn="l"/>
            <a:r>
              <a:rPr sz="1000" b="0" i="0">
                <a:solidFill>
                  <a:srgbClr val="373737"/>
                </a:solidFill>
              </a:rPr>
              <a:t>Choose a storm preset from the dropdown (Scenarios 1–6) or select Custom (Scenario 7) and manually enter rainfall and duration.</a:t>
            </a:r>
          </a:p>
        </p:txBody>
      </p:sp>
      <p:sp>
        <p:nvSpPr>
          <p:cNvPr id="20" name="TextBox 19"/>
          <p:cNvSpPr txBox="1"/>
          <p:nvPr/>
        </p:nvSpPr>
        <p:spPr>
          <a:xfrm>
            <a:off x="6492240" y="2331720"/>
            <a:ext cx="5394960" cy="246888"/>
          </a:xfrm>
          <a:prstGeom prst="rect">
            <a:avLst/>
          </a:prstGeom>
          <a:noFill/>
        </p:spPr>
        <p:txBody>
          <a:bodyPr wrap="square">
            <a:spAutoFit/>
          </a:bodyPr>
          <a:lstStyle/>
          <a:p>
            <a:pPr algn="l"/>
            <a:r>
              <a:rPr sz="1000" b="1" i="0">
                <a:solidFill>
                  <a:srgbClr val="183764"/>
                </a:solidFill>
              </a:rPr>
              <a:t>Step 2 — Adjust Parameters</a:t>
            </a:r>
          </a:p>
        </p:txBody>
      </p:sp>
      <p:sp>
        <p:nvSpPr>
          <p:cNvPr id="21" name="TextBox 20"/>
          <p:cNvSpPr txBox="1"/>
          <p:nvPr/>
        </p:nvSpPr>
        <p:spPr>
          <a:xfrm>
            <a:off x="6492240" y="2578608"/>
            <a:ext cx="5394960" cy="457200"/>
          </a:xfrm>
          <a:prstGeom prst="rect">
            <a:avLst/>
          </a:prstGeom>
          <a:noFill/>
        </p:spPr>
        <p:txBody>
          <a:bodyPr wrap="square">
            <a:spAutoFit/>
          </a:bodyPr>
          <a:lstStyle/>
          <a:p>
            <a:pPr algn="l"/>
            <a:r>
              <a:rPr sz="1000" b="0" i="0">
                <a:solidFill>
                  <a:srgbClr val="373737"/>
                </a:solidFill>
              </a:rPr>
              <a:t>Set Timestep, Wind Speed/Direction, Soil Saturation, Drainage Capacity, and Rainfall Pattern using the sliders provided.</a:t>
            </a:r>
          </a:p>
        </p:txBody>
      </p:sp>
      <p:sp>
        <p:nvSpPr>
          <p:cNvPr id="22" name="TextBox 21"/>
          <p:cNvSpPr txBox="1"/>
          <p:nvPr/>
        </p:nvSpPr>
        <p:spPr>
          <a:xfrm>
            <a:off x="6492240" y="3127248"/>
            <a:ext cx="5394960" cy="246888"/>
          </a:xfrm>
          <a:prstGeom prst="rect">
            <a:avLst/>
          </a:prstGeom>
          <a:noFill/>
        </p:spPr>
        <p:txBody>
          <a:bodyPr wrap="square">
            <a:spAutoFit/>
          </a:bodyPr>
          <a:lstStyle/>
          <a:p>
            <a:pPr algn="l"/>
            <a:r>
              <a:rPr sz="1000" b="1" i="0">
                <a:solidFill>
                  <a:srgbClr val="183764"/>
                </a:solidFill>
              </a:rPr>
              <a:t>Step 3 — Configure Prevention Measures</a:t>
            </a:r>
          </a:p>
        </p:txBody>
      </p:sp>
      <p:sp>
        <p:nvSpPr>
          <p:cNvPr id="23" name="TextBox 22"/>
          <p:cNvSpPr txBox="1"/>
          <p:nvPr/>
        </p:nvSpPr>
        <p:spPr>
          <a:xfrm>
            <a:off x="6492240" y="3374136"/>
            <a:ext cx="5394960" cy="457200"/>
          </a:xfrm>
          <a:prstGeom prst="rect">
            <a:avLst/>
          </a:prstGeom>
          <a:noFill/>
        </p:spPr>
        <p:txBody>
          <a:bodyPr wrap="square">
            <a:spAutoFit/>
          </a:bodyPr>
          <a:lstStyle/>
          <a:p>
            <a:pPr algn="l"/>
            <a:r>
              <a:rPr sz="1000" b="0" i="0">
                <a:solidFill>
                  <a:srgbClr val="373737"/>
                </a:solidFill>
              </a:rPr>
              <a:t>(50 % / 75 % builds only) Switch to the Prevention Measures tab, toggle desired measures ON, and adjust their depth or height parameters.</a:t>
            </a:r>
          </a:p>
        </p:txBody>
      </p:sp>
      <p:sp>
        <p:nvSpPr>
          <p:cNvPr id="24" name="TextBox 23"/>
          <p:cNvSpPr txBox="1"/>
          <p:nvPr/>
        </p:nvSpPr>
        <p:spPr>
          <a:xfrm>
            <a:off x="6492240" y="3922776"/>
            <a:ext cx="5394960" cy="246888"/>
          </a:xfrm>
          <a:prstGeom prst="rect">
            <a:avLst/>
          </a:prstGeom>
          <a:noFill/>
        </p:spPr>
        <p:txBody>
          <a:bodyPr wrap="square">
            <a:spAutoFit/>
          </a:bodyPr>
          <a:lstStyle/>
          <a:p>
            <a:pPr algn="l"/>
            <a:r>
              <a:rPr sz="1000" b="1" i="0">
                <a:solidFill>
                  <a:srgbClr val="183764"/>
                </a:solidFill>
              </a:rPr>
              <a:t>Step 4 — Run</a:t>
            </a:r>
          </a:p>
        </p:txBody>
      </p:sp>
      <p:sp>
        <p:nvSpPr>
          <p:cNvPr id="25" name="TextBox 24"/>
          <p:cNvSpPr txBox="1"/>
          <p:nvPr/>
        </p:nvSpPr>
        <p:spPr>
          <a:xfrm>
            <a:off x="6492240" y="4169664"/>
            <a:ext cx="5394960" cy="457200"/>
          </a:xfrm>
          <a:prstGeom prst="rect">
            <a:avLst/>
          </a:prstGeom>
          <a:noFill/>
        </p:spPr>
        <p:txBody>
          <a:bodyPr wrap="square">
            <a:spAutoFit/>
          </a:bodyPr>
          <a:lstStyle/>
          <a:p>
            <a:pPr algn="l"/>
            <a:r>
              <a:rPr sz="1000" b="0" i="0">
                <a:solidFill>
                  <a:srgbClr val="373737"/>
                </a:solidFill>
              </a:rPr>
              <a:t>Click RUN. The GUI closes, preprocessing runs in the console, and the animated figure window opens automatically when ready.</a:t>
            </a:r>
          </a:p>
        </p:txBody>
      </p:sp>
      <p:sp>
        <p:nvSpPr>
          <p:cNvPr id="26" name="TextBox 25"/>
          <p:cNvSpPr txBox="1"/>
          <p:nvPr/>
        </p:nvSpPr>
        <p:spPr>
          <a:xfrm>
            <a:off x="6492240" y="4718304"/>
            <a:ext cx="5394960" cy="246888"/>
          </a:xfrm>
          <a:prstGeom prst="rect">
            <a:avLst/>
          </a:prstGeom>
          <a:noFill/>
        </p:spPr>
        <p:txBody>
          <a:bodyPr wrap="square">
            <a:spAutoFit/>
          </a:bodyPr>
          <a:lstStyle/>
          <a:p>
            <a:pPr algn="l"/>
            <a:r>
              <a:rPr sz="1000" b="1" i="0">
                <a:solidFill>
                  <a:srgbClr val="183764"/>
                </a:solidFill>
              </a:rPr>
              <a:t>Step 5 — Interact with Playback</a:t>
            </a:r>
          </a:p>
        </p:txBody>
      </p:sp>
      <p:sp>
        <p:nvSpPr>
          <p:cNvPr id="27" name="TextBox 26"/>
          <p:cNvSpPr txBox="1"/>
          <p:nvPr/>
        </p:nvSpPr>
        <p:spPr>
          <a:xfrm>
            <a:off x="6492240" y="4965192"/>
            <a:ext cx="5394960" cy="457200"/>
          </a:xfrm>
          <a:prstGeom prst="rect">
            <a:avLst/>
          </a:prstGeom>
          <a:noFill/>
        </p:spPr>
        <p:txBody>
          <a:bodyPr wrap="square">
            <a:spAutoFit/>
          </a:bodyPr>
          <a:lstStyle/>
          <a:p>
            <a:pPr algn="l"/>
            <a:r>
              <a:rPr sz="1000" b="0" i="0">
                <a:solidFill>
                  <a:srgbClr val="373737"/>
                </a:solidFill>
              </a:rPr>
              <a:t>Use Play/Pause, the frame scrubber, speed slider, and step buttons to explore any point in the simulation timeline.</a:t>
            </a:r>
          </a:p>
        </p:txBody>
      </p:sp>
      <p:sp>
        <p:nvSpPr>
          <p:cNvPr id="28" name="TextBox 27"/>
          <p:cNvSpPr txBox="1"/>
          <p:nvPr/>
        </p:nvSpPr>
        <p:spPr>
          <a:xfrm>
            <a:off x="6492240" y="5513832"/>
            <a:ext cx="5394960" cy="246888"/>
          </a:xfrm>
          <a:prstGeom prst="rect">
            <a:avLst/>
          </a:prstGeom>
          <a:noFill/>
        </p:spPr>
        <p:txBody>
          <a:bodyPr wrap="square">
            <a:spAutoFit/>
          </a:bodyPr>
          <a:lstStyle/>
          <a:p>
            <a:pPr algn="l"/>
            <a:r>
              <a:rPr sz="1000" b="1" i="0">
                <a:solidFill>
                  <a:srgbClr val="183764"/>
                </a:solidFill>
              </a:rPr>
              <a:t>Step 6 — Export</a:t>
            </a:r>
          </a:p>
        </p:txBody>
      </p:sp>
      <p:sp>
        <p:nvSpPr>
          <p:cNvPr id="29" name="TextBox 28"/>
          <p:cNvSpPr txBox="1"/>
          <p:nvPr/>
        </p:nvSpPr>
        <p:spPr>
          <a:xfrm>
            <a:off x="6492240" y="5760720"/>
            <a:ext cx="5394960" cy="457200"/>
          </a:xfrm>
          <a:prstGeom prst="rect">
            <a:avLst/>
          </a:prstGeom>
          <a:noFill/>
        </p:spPr>
        <p:txBody>
          <a:bodyPr wrap="square">
            <a:spAutoFit/>
          </a:bodyPr>
          <a:lstStyle/>
          <a:p>
            <a:pPr algn="l"/>
            <a:r>
              <a:rPr sz="1000" b="0" i="0">
                <a:solidFill>
                  <a:srgbClr val="373737"/>
                </a:solidFill>
              </a:rPr>
              <a:t>Click SAVE GIF or SAVE CSV to export the animation or time-series data to the Results folder.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08</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Results and Analysis</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Results and Analysis</a:t>
            </a:r>
          </a:p>
        </p:txBody>
      </p:sp>
      <p:sp>
        <p:nvSpPr>
          <p:cNvPr id="9" name="TextBox 8"/>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HAND Model Risk Zone Classification</a:t>
            </a:r>
          </a:p>
        </p:txBody>
      </p:sp>
      <p:sp>
        <p:nvSpPr>
          <p:cNvPr id="10" name="TextBox 9"/>
          <p:cNvSpPr txBox="1"/>
          <p:nvPr/>
        </p:nvSpPr>
        <p:spPr>
          <a:xfrm>
            <a:off x="457200" y="1536192"/>
            <a:ext cx="5440680" cy="640080"/>
          </a:xfrm>
          <a:prstGeom prst="rect">
            <a:avLst/>
          </a:prstGeom>
          <a:noFill/>
        </p:spPr>
        <p:txBody>
          <a:bodyPr wrap="square">
            <a:spAutoFit/>
          </a:bodyPr>
          <a:lstStyle/>
          <a:p>
            <a:pPr algn="l"/>
            <a:r>
              <a:rPr sz="1100" b="0" i="0">
                <a:solidFill>
                  <a:srgbClr val="373737"/>
                </a:solidFill>
              </a:rPr>
              <a:t>The Height Above Nearest Drainage (HAND) model was applied to classify every terrain cell by flood susceptibility. Five risk zones were identified based on HAND thresholds corresponding to storm return periods:</a:t>
            </a:r>
          </a:p>
        </p:txBody>
      </p:sp>
      <p:graphicFrame>
        <p:nvGraphicFramePr>
          <p:cNvPr id="11" name="Table 10"/>
          <p:cNvGraphicFramePr>
            <a:graphicFrameLocks noGrp="1"/>
          </p:cNvGraphicFramePr>
          <p:nvPr/>
        </p:nvGraphicFramePr>
        <p:xfrm>
          <a:off x="457200" y="2240280"/>
          <a:ext cx="5440680" cy="2215896"/>
        </p:xfrm>
        <a:graphic>
          <a:graphicData uri="http://schemas.openxmlformats.org/drawingml/2006/table">
            <a:tbl>
              <a:tblPr firstRow="1" bandRow="1">
                <a:tableStyleId>{5C22544A-7EE6-4342-B048-85BDC9FD1C3A}</a:tableStyleId>
              </a:tblPr>
              <a:tblGrid>
                <a:gridCol w="1360170">
                  <a:extLst>
                    <a:ext uri="{9D8B030D-6E8A-4147-A177-3AD203B41FA5}">
                      <a16:colId xmlns:a16="http://schemas.microsoft.com/office/drawing/2014/main" val="20000"/>
                    </a:ext>
                  </a:extLst>
                </a:gridCol>
                <a:gridCol w="1360170">
                  <a:extLst>
                    <a:ext uri="{9D8B030D-6E8A-4147-A177-3AD203B41FA5}">
                      <a16:colId xmlns:a16="http://schemas.microsoft.com/office/drawing/2014/main" val="20001"/>
                    </a:ext>
                  </a:extLst>
                </a:gridCol>
                <a:gridCol w="1360170">
                  <a:extLst>
                    <a:ext uri="{9D8B030D-6E8A-4147-A177-3AD203B41FA5}">
                      <a16:colId xmlns:a16="http://schemas.microsoft.com/office/drawing/2014/main" val="20002"/>
                    </a:ext>
                  </a:extLst>
                </a:gridCol>
                <a:gridCol w="1360170">
                  <a:extLst>
                    <a:ext uri="{9D8B030D-6E8A-4147-A177-3AD203B41FA5}">
                      <a16:colId xmlns:a16="http://schemas.microsoft.com/office/drawing/2014/main" val="20003"/>
                    </a:ext>
                  </a:extLst>
                </a:gridCol>
              </a:tblGrid>
              <a:tr h="310896">
                <a:tc>
                  <a:txBody>
                    <a:bodyPr/>
                    <a:lstStyle/>
                    <a:p>
                      <a:pPr algn="ctr"/>
                      <a:r>
                        <a:rPr sz="950" b="1">
                          <a:solidFill>
                            <a:srgbClr val="FFFFFF"/>
                          </a:solidFill>
                        </a:rPr>
                        <a:t>Risk Zone</a:t>
                      </a:r>
                    </a:p>
                  </a:txBody>
                  <a:tcPr>
                    <a:solidFill>
                      <a:srgbClr val="183764"/>
                    </a:solidFill>
                  </a:tcPr>
                </a:tc>
                <a:tc>
                  <a:txBody>
                    <a:bodyPr/>
                    <a:lstStyle/>
                    <a:p>
                      <a:pPr algn="ctr"/>
                      <a:r>
                        <a:rPr sz="950" b="1">
                          <a:solidFill>
                            <a:srgbClr val="FFFFFF"/>
                          </a:solidFill>
                        </a:rPr>
                        <a:t>Area</a:t>
                      </a:r>
                    </a:p>
                  </a:txBody>
                  <a:tcPr>
                    <a:solidFill>
                      <a:srgbClr val="183764"/>
                    </a:solidFill>
                  </a:tcPr>
                </a:tc>
                <a:tc>
                  <a:txBody>
                    <a:bodyPr/>
                    <a:lstStyle/>
                    <a:p>
                      <a:pPr algn="ctr"/>
                      <a:r>
                        <a:rPr sz="950" b="1">
                          <a:solidFill>
                            <a:srgbClr val="FFFFFF"/>
                          </a:solidFill>
                        </a:rPr>
                        <a:t>% of Total</a:t>
                      </a:r>
                    </a:p>
                  </a:txBody>
                  <a:tcPr>
                    <a:solidFill>
                      <a:srgbClr val="183764"/>
                    </a:solidFill>
                  </a:tcPr>
                </a:tc>
                <a:tc>
                  <a:txBody>
                    <a:bodyPr/>
                    <a:lstStyle/>
                    <a:p>
                      <a:pPr algn="ctr"/>
                      <a:r>
                        <a:rPr sz="950" b="1">
                          <a:solidFill>
                            <a:srgbClr val="FFFFFF"/>
                          </a:solidFill>
                        </a:rPr>
                        <a:t>Flood Threshold</a:t>
                      </a:r>
                    </a:p>
                  </a:txBody>
                  <a:tcPr>
                    <a:solidFill>
                      <a:srgbClr val="183764"/>
                    </a:solidFill>
                  </a:tcPr>
                </a:tc>
                <a:extLst>
                  <a:ext uri="{0D108BD9-81ED-4DB2-BD59-A6C34878D82A}">
                    <a16:rowId xmlns:a16="http://schemas.microsoft.com/office/drawing/2014/main" val="10000"/>
                  </a:ext>
                </a:extLst>
              </a:tr>
              <a:tr h="310896">
                <a:tc>
                  <a:txBody>
                    <a:bodyPr/>
                    <a:lstStyle/>
                    <a:p>
                      <a:r>
                        <a:rPr sz="950">
                          <a:solidFill>
                            <a:srgbClr val="1E1E1E"/>
                          </a:solidFill>
                        </a:rPr>
                        <a:t>Very High</a:t>
                      </a:r>
                    </a:p>
                  </a:txBody>
                  <a:tcPr>
                    <a:solidFill>
                      <a:srgbClr val="F5F7FA"/>
                    </a:solidFill>
                  </a:tcPr>
                </a:tc>
                <a:tc>
                  <a:txBody>
                    <a:bodyPr/>
                    <a:lstStyle/>
                    <a:p>
                      <a:r>
                        <a:rPr sz="950">
                          <a:solidFill>
                            <a:srgbClr val="1E1E1E"/>
                          </a:solidFill>
                        </a:rPr>
                        <a:t>26.66 ha</a:t>
                      </a:r>
                    </a:p>
                  </a:txBody>
                  <a:tcPr>
                    <a:solidFill>
                      <a:srgbClr val="F5F7FA"/>
                    </a:solidFill>
                  </a:tcPr>
                </a:tc>
                <a:tc>
                  <a:txBody>
                    <a:bodyPr/>
                    <a:lstStyle/>
                    <a:p>
                      <a:r>
                        <a:rPr sz="950">
                          <a:solidFill>
                            <a:srgbClr val="1E1E1E"/>
                          </a:solidFill>
                        </a:rPr>
                        <a:t>8.2%</a:t>
                      </a:r>
                    </a:p>
                  </a:txBody>
                  <a:tcPr>
                    <a:solidFill>
                      <a:srgbClr val="F5F7FA"/>
                    </a:solidFill>
                  </a:tcPr>
                </a:tc>
                <a:tc>
                  <a:txBody>
                    <a:bodyPr/>
                    <a:lstStyle/>
                    <a:p>
                      <a:r>
                        <a:rPr sz="950">
                          <a:solidFill>
                            <a:srgbClr val="1E1E1E"/>
                          </a:solidFill>
                        </a:rPr>
                        <a:t>Floods at Heavy Rain (≥90 mm)</a:t>
                      </a:r>
                    </a:p>
                  </a:txBody>
                  <a:tcPr>
                    <a:solidFill>
                      <a:srgbClr val="F5F7FA"/>
                    </a:solidFill>
                  </a:tcPr>
                </a:tc>
                <a:extLst>
                  <a:ext uri="{0D108BD9-81ED-4DB2-BD59-A6C34878D82A}">
                    <a16:rowId xmlns:a16="http://schemas.microsoft.com/office/drawing/2014/main" val="10001"/>
                  </a:ext>
                </a:extLst>
              </a:tr>
              <a:tr h="310896">
                <a:tc>
                  <a:txBody>
                    <a:bodyPr/>
                    <a:lstStyle/>
                    <a:p>
                      <a:r>
                        <a:rPr sz="950">
                          <a:solidFill>
                            <a:srgbClr val="1E1E1E"/>
                          </a:solidFill>
                        </a:rPr>
                        <a:t>High</a:t>
                      </a:r>
                    </a:p>
                  </a:txBody>
                  <a:tcPr>
                    <a:solidFill>
                      <a:srgbClr val="FFFFFF"/>
                    </a:solidFill>
                  </a:tcPr>
                </a:tc>
                <a:tc>
                  <a:txBody>
                    <a:bodyPr/>
                    <a:lstStyle/>
                    <a:p>
                      <a:r>
                        <a:rPr sz="950">
                          <a:solidFill>
                            <a:srgbClr val="1E1E1E"/>
                          </a:solidFill>
                        </a:rPr>
                        <a:t>31.83 ha</a:t>
                      </a:r>
                    </a:p>
                  </a:txBody>
                  <a:tcPr>
                    <a:solidFill>
                      <a:srgbClr val="FFFFFF"/>
                    </a:solidFill>
                  </a:tcPr>
                </a:tc>
                <a:tc>
                  <a:txBody>
                    <a:bodyPr/>
                    <a:lstStyle/>
                    <a:p>
                      <a:r>
                        <a:rPr sz="950">
                          <a:solidFill>
                            <a:srgbClr val="1E1E1E"/>
                          </a:solidFill>
                        </a:rPr>
                        <a:t>9.7%</a:t>
                      </a:r>
                    </a:p>
                  </a:txBody>
                  <a:tcPr>
                    <a:solidFill>
                      <a:srgbClr val="FFFFFF"/>
                    </a:solidFill>
                  </a:tcPr>
                </a:tc>
                <a:tc>
                  <a:txBody>
                    <a:bodyPr/>
                    <a:lstStyle/>
                    <a:p>
                      <a:r>
                        <a:rPr sz="950">
                          <a:solidFill>
                            <a:srgbClr val="1E1E1E"/>
                          </a:solidFill>
                        </a:rPr>
                        <a:t>Floods at Typhoon Signal 1 (≥150 mm)</a:t>
                      </a:r>
                    </a:p>
                  </a:txBody>
                  <a:tcPr>
                    <a:solidFill>
                      <a:srgbClr val="FFFFFF"/>
                    </a:solidFill>
                  </a:tcPr>
                </a:tc>
                <a:extLst>
                  <a:ext uri="{0D108BD9-81ED-4DB2-BD59-A6C34878D82A}">
                    <a16:rowId xmlns:a16="http://schemas.microsoft.com/office/drawing/2014/main" val="10002"/>
                  </a:ext>
                </a:extLst>
              </a:tr>
              <a:tr h="310896">
                <a:tc>
                  <a:txBody>
                    <a:bodyPr/>
                    <a:lstStyle/>
                    <a:p>
                      <a:r>
                        <a:rPr sz="950">
                          <a:solidFill>
                            <a:srgbClr val="1E1E1E"/>
                          </a:solidFill>
                        </a:rPr>
                        <a:t>Medium</a:t>
                      </a:r>
                    </a:p>
                  </a:txBody>
                  <a:tcPr>
                    <a:solidFill>
                      <a:srgbClr val="F5F7FA"/>
                    </a:solidFill>
                  </a:tcPr>
                </a:tc>
                <a:tc>
                  <a:txBody>
                    <a:bodyPr/>
                    <a:lstStyle/>
                    <a:p>
                      <a:r>
                        <a:rPr sz="950">
                          <a:solidFill>
                            <a:srgbClr val="1E1E1E"/>
                          </a:solidFill>
                        </a:rPr>
                        <a:t>32.30 ha</a:t>
                      </a:r>
                    </a:p>
                  </a:txBody>
                  <a:tcPr>
                    <a:solidFill>
                      <a:srgbClr val="F5F7FA"/>
                    </a:solidFill>
                  </a:tcPr>
                </a:tc>
                <a:tc>
                  <a:txBody>
                    <a:bodyPr/>
                    <a:lstStyle/>
                    <a:p>
                      <a:r>
                        <a:rPr sz="950">
                          <a:solidFill>
                            <a:srgbClr val="1E1E1E"/>
                          </a:solidFill>
                        </a:rPr>
                        <a:t>9.9%</a:t>
                      </a:r>
                    </a:p>
                  </a:txBody>
                  <a:tcPr>
                    <a:solidFill>
                      <a:srgbClr val="F5F7FA"/>
                    </a:solidFill>
                  </a:tcPr>
                </a:tc>
                <a:tc>
                  <a:txBody>
                    <a:bodyPr/>
                    <a:lstStyle/>
                    <a:p>
                      <a:r>
                        <a:rPr sz="950">
                          <a:solidFill>
                            <a:srgbClr val="1E1E1E"/>
                          </a:solidFill>
                        </a:rPr>
                        <a:t>Floods at Typhoon Signal 2 (≥250 mm)</a:t>
                      </a:r>
                    </a:p>
                  </a:txBody>
                  <a:tcPr>
                    <a:solidFill>
                      <a:srgbClr val="F5F7FA"/>
                    </a:solidFill>
                  </a:tcPr>
                </a:tc>
                <a:extLst>
                  <a:ext uri="{0D108BD9-81ED-4DB2-BD59-A6C34878D82A}">
                    <a16:rowId xmlns:a16="http://schemas.microsoft.com/office/drawing/2014/main" val="10003"/>
                  </a:ext>
                </a:extLst>
              </a:tr>
              <a:tr h="310896">
                <a:tc>
                  <a:txBody>
                    <a:bodyPr/>
                    <a:lstStyle/>
                    <a:p>
                      <a:r>
                        <a:rPr sz="950">
                          <a:solidFill>
                            <a:srgbClr val="1E1E1E"/>
                          </a:solidFill>
                        </a:rPr>
                        <a:t>Low</a:t>
                      </a:r>
                    </a:p>
                  </a:txBody>
                  <a:tcPr>
                    <a:solidFill>
                      <a:srgbClr val="FFFFFF"/>
                    </a:solidFill>
                  </a:tcPr>
                </a:tc>
                <a:tc>
                  <a:txBody>
                    <a:bodyPr/>
                    <a:lstStyle/>
                    <a:p>
                      <a:r>
                        <a:rPr sz="950">
                          <a:solidFill>
                            <a:srgbClr val="1E1E1E"/>
                          </a:solidFill>
                        </a:rPr>
                        <a:t>35.86 ha</a:t>
                      </a:r>
                    </a:p>
                  </a:txBody>
                  <a:tcPr>
                    <a:solidFill>
                      <a:srgbClr val="FFFFFF"/>
                    </a:solidFill>
                  </a:tcPr>
                </a:tc>
                <a:tc>
                  <a:txBody>
                    <a:bodyPr/>
                    <a:lstStyle/>
                    <a:p>
                      <a:r>
                        <a:rPr sz="950">
                          <a:solidFill>
                            <a:srgbClr val="1E1E1E"/>
                          </a:solidFill>
                        </a:rPr>
                        <a:t>11.0%</a:t>
                      </a:r>
                    </a:p>
                  </a:txBody>
                  <a:tcPr>
                    <a:solidFill>
                      <a:srgbClr val="FFFFFF"/>
                    </a:solidFill>
                  </a:tcPr>
                </a:tc>
                <a:tc>
                  <a:txBody>
                    <a:bodyPr/>
                    <a:lstStyle/>
                    <a:p>
                      <a:r>
                        <a:rPr sz="950">
                          <a:solidFill>
                            <a:srgbClr val="1E1E1E"/>
                          </a:solidFill>
                        </a:rPr>
                        <a:t>Floods at Typhoon Signal 3 (≥400 mm)</a:t>
                      </a:r>
                    </a:p>
                  </a:txBody>
                  <a:tcPr>
                    <a:solidFill>
                      <a:srgbClr val="FFFFFF"/>
                    </a:solidFill>
                  </a:tcPr>
                </a:tc>
                <a:extLst>
                  <a:ext uri="{0D108BD9-81ED-4DB2-BD59-A6C34878D82A}">
                    <a16:rowId xmlns:a16="http://schemas.microsoft.com/office/drawing/2014/main" val="10004"/>
                  </a:ext>
                </a:extLst>
              </a:tr>
              <a:tr h="310896">
                <a:tc>
                  <a:txBody>
                    <a:bodyPr/>
                    <a:lstStyle/>
                    <a:p>
                      <a:r>
                        <a:rPr sz="950">
                          <a:solidFill>
                            <a:srgbClr val="1E1E1E"/>
                          </a:solidFill>
                        </a:rPr>
                        <a:t>Safe</a:t>
                      </a:r>
                    </a:p>
                  </a:txBody>
                  <a:tcPr>
                    <a:solidFill>
                      <a:srgbClr val="F5F7FA"/>
                    </a:solidFill>
                  </a:tcPr>
                </a:tc>
                <a:tc>
                  <a:txBody>
                    <a:bodyPr/>
                    <a:lstStyle/>
                    <a:p>
                      <a:r>
                        <a:rPr sz="950">
                          <a:solidFill>
                            <a:srgbClr val="1E1E1E"/>
                          </a:solidFill>
                        </a:rPr>
                        <a:t>174.81 ha</a:t>
                      </a:r>
                    </a:p>
                  </a:txBody>
                  <a:tcPr>
                    <a:solidFill>
                      <a:srgbClr val="F5F7FA"/>
                    </a:solidFill>
                  </a:tcPr>
                </a:tc>
                <a:tc>
                  <a:txBody>
                    <a:bodyPr/>
                    <a:lstStyle/>
                    <a:p>
                      <a:r>
                        <a:rPr sz="950">
                          <a:solidFill>
                            <a:srgbClr val="1E1E1E"/>
                          </a:solidFill>
                        </a:rPr>
                        <a:t>53.6%</a:t>
                      </a:r>
                    </a:p>
                  </a:txBody>
                  <a:tcPr>
                    <a:solidFill>
                      <a:srgbClr val="F5F7FA"/>
                    </a:solidFill>
                  </a:tcPr>
                </a:tc>
                <a:tc>
                  <a:txBody>
                    <a:bodyPr/>
                    <a:lstStyle/>
                    <a:p>
                      <a:r>
                        <a:rPr sz="950">
                          <a:solidFill>
                            <a:srgbClr val="1E1E1E"/>
                          </a:solidFill>
                        </a:rPr>
                        <a:t>Above 100-year flood level</a:t>
                      </a:r>
                    </a:p>
                  </a:txBody>
                  <a:tcPr>
                    <a:solidFill>
                      <a:srgbClr val="F5F7FA"/>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457200" y="4023360"/>
            <a:ext cx="11274552" cy="274320"/>
          </a:xfrm>
          <a:prstGeom prst="rect">
            <a:avLst/>
          </a:prstGeom>
          <a:noFill/>
        </p:spPr>
        <p:txBody>
          <a:bodyPr wrap="square">
            <a:spAutoFit/>
          </a:bodyPr>
          <a:lstStyle/>
          <a:p>
            <a:pPr algn="l"/>
            <a:r>
              <a:rPr sz="1100" b="1" i="0">
                <a:solidFill>
                  <a:srgbClr val="1F64AA"/>
                </a:solidFill>
              </a:rPr>
              <a:t>Return Period Flood Extents</a:t>
            </a:r>
          </a:p>
        </p:txBody>
      </p:sp>
      <p:graphicFrame>
        <p:nvGraphicFramePr>
          <p:cNvPr id="13" name="Table 12"/>
          <p:cNvGraphicFramePr>
            <a:graphicFrameLocks noGrp="1"/>
          </p:cNvGraphicFramePr>
          <p:nvPr/>
        </p:nvGraphicFramePr>
        <p:xfrm>
          <a:off x="457200" y="4315968"/>
          <a:ext cx="5440680" cy="1834896"/>
        </p:xfrm>
        <a:graphic>
          <a:graphicData uri="http://schemas.openxmlformats.org/drawingml/2006/table">
            <a:tbl>
              <a:tblPr firstRow="1" bandRow="1">
                <a:tableStyleId>{5C22544A-7EE6-4342-B048-85BDC9FD1C3A}</a:tableStyleId>
              </a:tblPr>
              <a:tblGrid>
                <a:gridCol w="1088136">
                  <a:extLst>
                    <a:ext uri="{9D8B030D-6E8A-4147-A177-3AD203B41FA5}">
                      <a16:colId xmlns:a16="http://schemas.microsoft.com/office/drawing/2014/main" val="20000"/>
                    </a:ext>
                  </a:extLst>
                </a:gridCol>
                <a:gridCol w="1088136">
                  <a:extLst>
                    <a:ext uri="{9D8B030D-6E8A-4147-A177-3AD203B41FA5}">
                      <a16:colId xmlns:a16="http://schemas.microsoft.com/office/drawing/2014/main" val="20001"/>
                    </a:ext>
                  </a:extLst>
                </a:gridCol>
                <a:gridCol w="1088136">
                  <a:extLst>
                    <a:ext uri="{9D8B030D-6E8A-4147-A177-3AD203B41FA5}">
                      <a16:colId xmlns:a16="http://schemas.microsoft.com/office/drawing/2014/main" val="20002"/>
                    </a:ext>
                  </a:extLst>
                </a:gridCol>
                <a:gridCol w="1088136">
                  <a:extLst>
                    <a:ext uri="{9D8B030D-6E8A-4147-A177-3AD203B41FA5}">
                      <a16:colId xmlns:a16="http://schemas.microsoft.com/office/drawing/2014/main" val="20003"/>
                    </a:ext>
                  </a:extLst>
                </a:gridCol>
                <a:gridCol w="1088136">
                  <a:extLst>
                    <a:ext uri="{9D8B030D-6E8A-4147-A177-3AD203B41FA5}">
                      <a16:colId xmlns:a16="http://schemas.microsoft.com/office/drawing/2014/main" val="20004"/>
                    </a:ext>
                  </a:extLst>
                </a:gridCol>
              </a:tblGrid>
              <a:tr h="310896">
                <a:tc>
                  <a:txBody>
                    <a:bodyPr/>
                    <a:lstStyle/>
                    <a:p>
                      <a:pPr algn="ctr"/>
                      <a:r>
                        <a:rPr sz="950" b="1">
                          <a:solidFill>
                            <a:srgbClr val="FFFFFF"/>
                          </a:solidFill>
                        </a:rPr>
                        <a:t>Scenario</a:t>
                      </a:r>
                    </a:p>
                  </a:txBody>
                  <a:tcPr>
                    <a:solidFill>
                      <a:srgbClr val="183764"/>
                    </a:solidFill>
                  </a:tcPr>
                </a:tc>
                <a:tc>
                  <a:txBody>
                    <a:bodyPr/>
                    <a:lstStyle/>
                    <a:p>
                      <a:pPr algn="ctr"/>
                      <a:r>
                        <a:rPr sz="950" b="1">
                          <a:solidFill>
                            <a:srgbClr val="FFFFFF"/>
                          </a:solidFill>
                        </a:rPr>
                        <a:t>Flooded Area</a:t>
                      </a:r>
                    </a:p>
                  </a:txBody>
                  <a:tcPr>
                    <a:solidFill>
                      <a:srgbClr val="183764"/>
                    </a:solidFill>
                  </a:tcPr>
                </a:tc>
                <a:tc>
                  <a:txBody>
                    <a:bodyPr/>
                    <a:lstStyle/>
                    <a:p>
                      <a:pPr algn="ctr"/>
                      <a:r>
                        <a:rPr sz="950" b="1">
                          <a:solidFill>
                            <a:srgbClr val="FFFFFF"/>
                          </a:solidFill>
                        </a:rPr>
                        <a:t>% Area</a:t>
                      </a:r>
                    </a:p>
                  </a:txBody>
                  <a:tcPr>
                    <a:solidFill>
                      <a:srgbClr val="183764"/>
                    </a:solidFill>
                  </a:tcPr>
                </a:tc>
                <a:tc>
                  <a:txBody>
                    <a:bodyPr/>
                    <a:lstStyle/>
                    <a:p>
                      <a:pPr algn="ctr"/>
                      <a:r>
                        <a:rPr sz="950" b="1">
                          <a:solidFill>
                            <a:srgbClr val="FFFFFF"/>
                          </a:solidFill>
                        </a:rPr>
                        <a:t>Mean Depth</a:t>
                      </a:r>
                    </a:p>
                  </a:txBody>
                  <a:tcPr>
                    <a:solidFill>
                      <a:srgbClr val="183764"/>
                    </a:solidFill>
                  </a:tcPr>
                </a:tc>
                <a:tc>
                  <a:txBody>
                    <a:bodyPr/>
                    <a:lstStyle/>
                    <a:p>
                      <a:pPr algn="ctr"/>
                      <a:r>
                        <a:rPr sz="950" b="1">
                          <a:solidFill>
                            <a:srgbClr val="FFFFFF"/>
                          </a:solidFill>
                        </a:rPr>
                        <a:t>Max Depth</a:t>
                      </a:r>
                    </a:p>
                  </a:txBody>
                  <a:tcPr>
                    <a:solidFill>
                      <a:srgbClr val="183764"/>
                    </a:solidFill>
                  </a:tcPr>
                </a:tc>
                <a:extLst>
                  <a:ext uri="{0D108BD9-81ED-4DB2-BD59-A6C34878D82A}">
                    <a16:rowId xmlns:a16="http://schemas.microsoft.com/office/drawing/2014/main" val="10000"/>
                  </a:ext>
                </a:extLst>
              </a:tr>
              <a:tr h="310896">
                <a:tc>
                  <a:txBody>
                    <a:bodyPr/>
                    <a:lstStyle/>
                    <a:p>
                      <a:r>
                        <a:rPr sz="950">
                          <a:solidFill>
                            <a:srgbClr val="1E1E1E"/>
                          </a:solidFill>
                        </a:rPr>
                        <a:t>5-Year (1.0 m HAND)</a:t>
                      </a:r>
                    </a:p>
                  </a:txBody>
                  <a:tcPr>
                    <a:solidFill>
                      <a:srgbClr val="F5F7FA"/>
                    </a:solidFill>
                  </a:tcPr>
                </a:tc>
                <a:tc>
                  <a:txBody>
                    <a:bodyPr/>
                    <a:lstStyle/>
                    <a:p>
                      <a:r>
                        <a:rPr sz="950">
                          <a:solidFill>
                            <a:srgbClr val="1E1E1E"/>
                          </a:solidFill>
                        </a:rPr>
                        <a:t>51.64 ha</a:t>
                      </a:r>
                    </a:p>
                  </a:txBody>
                  <a:tcPr>
                    <a:solidFill>
                      <a:srgbClr val="F5F7FA"/>
                    </a:solidFill>
                  </a:tcPr>
                </a:tc>
                <a:tc>
                  <a:txBody>
                    <a:bodyPr/>
                    <a:lstStyle/>
                    <a:p>
                      <a:r>
                        <a:rPr sz="950">
                          <a:solidFill>
                            <a:srgbClr val="1E1E1E"/>
                          </a:solidFill>
                        </a:rPr>
                        <a:t>15.8%</a:t>
                      </a:r>
                    </a:p>
                  </a:txBody>
                  <a:tcPr>
                    <a:solidFill>
                      <a:srgbClr val="F5F7FA"/>
                    </a:solidFill>
                  </a:tcPr>
                </a:tc>
                <a:tc>
                  <a:txBody>
                    <a:bodyPr/>
                    <a:lstStyle/>
                    <a:p>
                      <a:r>
                        <a:rPr sz="950">
                          <a:solidFill>
                            <a:srgbClr val="1E1E1E"/>
                          </a:solidFill>
                        </a:rPr>
                        <a:t>0.73 m mean</a:t>
                      </a:r>
                    </a:p>
                  </a:txBody>
                  <a:tcPr>
                    <a:solidFill>
                      <a:srgbClr val="F5F7FA"/>
                    </a:solidFill>
                  </a:tcPr>
                </a:tc>
                <a:tc>
                  <a:txBody>
                    <a:bodyPr/>
                    <a:lstStyle/>
                    <a:p>
                      <a:r>
                        <a:rPr sz="950">
                          <a:solidFill>
                            <a:srgbClr val="1E1E1E"/>
                          </a:solidFill>
                        </a:rPr>
                        <a:t>1.00 m max</a:t>
                      </a:r>
                    </a:p>
                  </a:txBody>
                  <a:tcPr>
                    <a:solidFill>
                      <a:srgbClr val="F5F7FA"/>
                    </a:solidFill>
                  </a:tcPr>
                </a:tc>
                <a:extLst>
                  <a:ext uri="{0D108BD9-81ED-4DB2-BD59-A6C34878D82A}">
                    <a16:rowId xmlns:a16="http://schemas.microsoft.com/office/drawing/2014/main" val="10001"/>
                  </a:ext>
                </a:extLst>
              </a:tr>
              <a:tr h="310896">
                <a:tc>
                  <a:txBody>
                    <a:bodyPr/>
                    <a:lstStyle/>
                    <a:p>
                      <a:r>
                        <a:rPr sz="950">
                          <a:solidFill>
                            <a:srgbClr val="1E1E1E"/>
                          </a:solidFill>
                        </a:rPr>
                        <a:t>10-Year (2.0 m HAND)</a:t>
                      </a:r>
                    </a:p>
                  </a:txBody>
                  <a:tcPr>
                    <a:solidFill>
                      <a:srgbClr val="FFFFFF"/>
                    </a:solidFill>
                  </a:tcPr>
                </a:tc>
                <a:tc>
                  <a:txBody>
                    <a:bodyPr/>
                    <a:lstStyle/>
                    <a:p>
                      <a:r>
                        <a:rPr sz="950">
                          <a:solidFill>
                            <a:srgbClr val="1E1E1E"/>
                          </a:solidFill>
                        </a:rPr>
                        <a:t>70.04 ha</a:t>
                      </a:r>
                    </a:p>
                  </a:txBody>
                  <a:tcPr>
                    <a:solidFill>
                      <a:srgbClr val="FFFFFF"/>
                    </a:solidFill>
                  </a:tcPr>
                </a:tc>
                <a:tc>
                  <a:txBody>
                    <a:bodyPr/>
                    <a:lstStyle/>
                    <a:p>
                      <a:r>
                        <a:rPr sz="950">
                          <a:solidFill>
                            <a:srgbClr val="1E1E1E"/>
                          </a:solidFill>
                        </a:rPr>
                        <a:t>21.5%</a:t>
                      </a:r>
                    </a:p>
                  </a:txBody>
                  <a:tcPr>
                    <a:solidFill>
                      <a:srgbClr val="FFFFFF"/>
                    </a:solidFill>
                  </a:tcPr>
                </a:tc>
                <a:tc>
                  <a:txBody>
                    <a:bodyPr/>
                    <a:lstStyle/>
                    <a:p>
                      <a:r>
                        <a:rPr sz="950">
                          <a:solidFill>
                            <a:srgbClr val="1E1E1E"/>
                          </a:solidFill>
                        </a:rPr>
                        <a:t>1.41 m mean</a:t>
                      </a:r>
                    </a:p>
                  </a:txBody>
                  <a:tcPr>
                    <a:solidFill>
                      <a:srgbClr val="FFFFFF"/>
                    </a:solidFill>
                  </a:tcPr>
                </a:tc>
                <a:tc>
                  <a:txBody>
                    <a:bodyPr/>
                    <a:lstStyle/>
                    <a:p>
                      <a:r>
                        <a:rPr sz="950">
                          <a:solidFill>
                            <a:srgbClr val="1E1E1E"/>
                          </a:solidFill>
                        </a:rPr>
                        <a:t>2.00 m max</a:t>
                      </a:r>
                    </a:p>
                  </a:txBody>
                  <a:tcPr>
                    <a:solidFill>
                      <a:srgbClr val="FFFFFF"/>
                    </a:solidFill>
                  </a:tcPr>
                </a:tc>
                <a:extLst>
                  <a:ext uri="{0D108BD9-81ED-4DB2-BD59-A6C34878D82A}">
                    <a16:rowId xmlns:a16="http://schemas.microsoft.com/office/drawing/2014/main" val="10002"/>
                  </a:ext>
                </a:extLst>
              </a:tr>
              <a:tr h="310896">
                <a:tc>
                  <a:txBody>
                    <a:bodyPr/>
                    <a:lstStyle/>
                    <a:p>
                      <a:r>
                        <a:rPr sz="950">
                          <a:solidFill>
                            <a:srgbClr val="1E1E1E"/>
                          </a:solidFill>
                        </a:rPr>
                        <a:t>25-Year (3.5 m HAND)</a:t>
                      </a:r>
                    </a:p>
                  </a:txBody>
                  <a:tcPr>
                    <a:solidFill>
                      <a:srgbClr val="F5F7FA"/>
                    </a:solidFill>
                  </a:tcPr>
                </a:tc>
                <a:tc>
                  <a:txBody>
                    <a:bodyPr/>
                    <a:lstStyle/>
                    <a:p>
                      <a:r>
                        <a:rPr sz="950">
                          <a:solidFill>
                            <a:srgbClr val="1E1E1E"/>
                          </a:solidFill>
                        </a:rPr>
                        <a:t>90.03 ha</a:t>
                      </a:r>
                    </a:p>
                  </a:txBody>
                  <a:tcPr>
                    <a:solidFill>
                      <a:srgbClr val="F5F7FA"/>
                    </a:solidFill>
                  </a:tcPr>
                </a:tc>
                <a:tc>
                  <a:txBody>
                    <a:bodyPr/>
                    <a:lstStyle/>
                    <a:p>
                      <a:r>
                        <a:rPr sz="950">
                          <a:solidFill>
                            <a:srgbClr val="1E1E1E"/>
                          </a:solidFill>
                        </a:rPr>
                        <a:t>27.6%</a:t>
                      </a:r>
                    </a:p>
                  </a:txBody>
                  <a:tcPr>
                    <a:solidFill>
                      <a:srgbClr val="F5F7FA"/>
                    </a:solidFill>
                  </a:tcPr>
                </a:tc>
                <a:tc>
                  <a:txBody>
                    <a:bodyPr/>
                    <a:lstStyle/>
                    <a:p>
                      <a:r>
                        <a:rPr sz="950">
                          <a:solidFill>
                            <a:srgbClr val="1E1E1E"/>
                          </a:solidFill>
                        </a:rPr>
                        <a:t>2.43 m mean</a:t>
                      </a:r>
                    </a:p>
                  </a:txBody>
                  <a:tcPr>
                    <a:solidFill>
                      <a:srgbClr val="F5F7FA"/>
                    </a:solidFill>
                  </a:tcPr>
                </a:tc>
                <a:tc>
                  <a:txBody>
                    <a:bodyPr/>
                    <a:lstStyle/>
                    <a:p>
                      <a:r>
                        <a:rPr sz="950">
                          <a:solidFill>
                            <a:srgbClr val="1E1E1E"/>
                          </a:solidFill>
                        </a:rPr>
                        <a:t>3.50 m max</a:t>
                      </a:r>
                    </a:p>
                  </a:txBody>
                  <a:tcPr>
                    <a:solidFill>
                      <a:srgbClr val="F5F7FA"/>
                    </a:solidFill>
                  </a:tcPr>
                </a:tc>
                <a:extLst>
                  <a:ext uri="{0D108BD9-81ED-4DB2-BD59-A6C34878D82A}">
                    <a16:rowId xmlns:a16="http://schemas.microsoft.com/office/drawing/2014/main" val="10003"/>
                  </a:ext>
                </a:extLst>
              </a:tr>
              <a:tr h="310896">
                <a:tc>
                  <a:txBody>
                    <a:bodyPr/>
                    <a:lstStyle/>
                    <a:p>
                      <a:r>
                        <a:rPr sz="950">
                          <a:solidFill>
                            <a:srgbClr val="1E1E1E"/>
                          </a:solidFill>
                        </a:rPr>
                        <a:t>100-Year (6.0 m HAND)</a:t>
                      </a:r>
                    </a:p>
                  </a:txBody>
                  <a:tcPr>
                    <a:solidFill>
                      <a:srgbClr val="FFFFFF"/>
                    </a:solidFill>
                  </a:tcPr>
                </a:tc>
                <a:tc>
                  <a:txBody>
                    <a:bodyPr/>
                    <a:lstStyle/>
                    <a:p>
                      <a:r>
                        <a:rPr sz="950">
                          <a:solidFill>
                            <a:srgbClr val="1E1E1E"/>
                          </a:solidFill>
                        </a:rPr>
                        <a:t>115.76 ha</a:t>
                      </a:r>
                    </a:p>
                  </a:txBody>
                  <a:tcPr>
                    <a:solidFill>
                      <a:srgbClr val="FFFFFF"/>
                    </a:solidFill>
                  </a:tcPr>
                </a:tc>
                <a:tc>
                  <a:txBody>
                    <a:bodyPr/>
                    <a:lstStyle/>
                    <a:p>
                      <a:r>
                        <a:rPr sz="950">
                          <a:solidFill>
                            <a:srgbClr val="1E1E1E"/>
                          </a:solidFill>
                        </a:rPr>
                        <a:t>35.5%</a:t>
                      </a:r>
                    </a:p>
                  </a:txBody>
                  <a:tcPr>
                    <a:solidFill>
                      <a:srgbClr val="FFFFFF"/>
                    </a:solidFill>
                  </a:tcPr>
                </a:tc>
                <a:tc>
                  <a:txBody>
                    <a:bodyPr/>
                    <a:lstStyle/>
                    <a:p>
                      <a:r>
                        <a:rPr sz="950">
                          <a:solidFill>
                            <a:srgbClr val="1E1E1E"/>
                          </a:solidFill>
                        </a:rPr>
                        <a:t>4.12 m mean</a:t>
                      </a:r>
                    </a:p>
                  </a:txBody>
                  <a:tcPr>
                    <a:solidFill>
                      <a:srgbClr val="FFFFFF"/>
                    </a:solidFill>
                  </a:tcPr>
                </a:tc>
                <a:tc>
                  <a:txBody>
                    <a:bodyPr/>
                    <a:lstStyle/>
                    <a:p>
                      <a:r>
                        <a:rPr sz="950">
                          <a:solidFill>
                            <a:srgbClr val="1E1E1E"/>
                          </a:solidFill>
                        </a:rPr>
                        <a:t>6.00 m max</a:t>
                      </a:r>
                    </a:p>
                  </a:txBody>
                  <a:tcPr>
                    <a:solidFill>
                      <a:srgbClr val="FFFFFF"/>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457200" y="5943600"/>
            <a:ext cx="5440680" cy="411480"/>
          </a:xfrm>
          <a:prstGeom prst="rect">
            <a:avLst/>
          </a:prstGeom>
          <a:noFill/>
        </p:spPr>
        <p:txBody>
          <a:bodyPr wrap="square">
            <a:spAutoFit/>
          </a:bodyPr>
          <a:lstStyle/>
          <a:p>
            <a:pPr algn="l"/>
            <a:r>
              <a:rPr sz="1000" b="0" i="1">
                <a:solidFill>
                  <a:srgbClr val="6E6E6E"/>
                </a:solidFill>
              </a:rPr>
              <a:t>Flooded area grows 2.2× from the 5-year to the 100-year event. Mean depth increases from 0.73 m to 4.12 m.</a:t>
            </a:r>
          </a:p>
        </p:txBody>
      </p:sp>
      <p:sp>
        <p:nvSpPr>
          <p:cNvPr id="15" name="TextBox 14"/>
          <p:cNvSpPr txBox="1"/>
          <p:nvPr/>
        </p:nvSpPr>
        <p:spPr>
          <a:xfrm>
            <a:off x="457200" y="1234440"/>
            <a:ext cx="11274552" cy="274320"/>
          </a:xfrm>
          <a:prstGeom prst="rect">
            <a:avLst/>
          </a:prstGeom>
          <a:noFill/>
        </p:spPr>
        <p:txBody>
          <a:bodyPr wrap="square">
            <a:spAutoFit/>
          </a:bodyPr>
          <a:lstStyle/>
          <a:p>
            <a:pPr algn="l"/>
            <a:r>
              <a:rPr sz="1100" b="1" i="0">
                <a:solidFill>
                  <a:srgbClr val="1F64AA"/>
                </a:solidFill>
              </a:rPr>
              <a:t>Prevention Measure Findings</a:t>
            </a:r>
          </a:p>
        </p:txBody>
      </p:sp>
      <p:sp>
        <p:nvSpPr>
          <p:cNvPr id="16" name="TextBox 15"/>
          <p:cNvSpPr txBox="1"/>
          <p:nvPr/>
        </p:nvSpPr>
        <p:spPr>
          <a:xfrm>
            <a:off x="6263640" y="1536192"/>
            <a:ext cx="5623560" cy="246888"/>
          </a:xfrm>
          <a:prstGeom prst="rect">
            <a:avLst/>
          </a:prstGeom>
          <a:noFill/>
        </p:spPr>
        <p:txBody>
          <a:bodyPr wrap="square">
            <a:spAutoFit/>
          </a:bodyPr>
          <a:lstStyle/>
          <a:p>
            <a:pPr algn="l"/>
            <a:r>
              <a:rPr sz="1000" b="1" i="0">
                <a:solidFill>
                  <a:srgbClr val="183764"/>
                </a:solidFill>
              </a:rPr>
              <a:t>Riverbank Floodwall</a:t>
            </a:r>
          </a:p>
        </p:txBody>
      </p:sp>
      <p:sp>
        <p:nvSpPr>
          <p:cNvPr id="17" name="TextBox 16"/>
          <p:cNvSpPr txBox="1"/>
          <p:nvPr/>
        </p:nvSpPr>
        <p:spPr>
          <a:xfrm>
            <a:off x="6263640" y="1783080"/>
            <a:ext cx="5623560" cy="685800"/>
          </a:xfrm>
          <a:prstGeom prst="rect">
            <a:avLst/>
          </a:prstGeom>
          <a:noFill/>
        </p:spPr>
        <p:txBody>
          <a:bodyPr wrap="square">
            <a:spAutoFit/>
          </a:bodyPr>
          <a:lstStyle/>
          <a:p>
            <a:pPr algn="l"/>
            <a:r>
              <a:rPr sz="1000" b="0" i="0">
                <a:solidFill>
                  <a:srgbClr val="373737"/>
                </a:solidFill>
              </a:rPr>
              <a:t>Effectively delays river overflow into the residential core. Water must overtop the raised crest before spreading onto adjacent land, buying critical time for evacuation during typhoon events.</a:t>
            </a:r>
          </a:p>
        </p:txBody>
      </p:sp>
      <p:sp>
        <p:nvSpPr>
          <p:cNvPr id="18" name="Rectangle 17"/>
          <p:cNvSpPr/>
          <p:nvPr/>
        </p:nvSpPr>
        <p:spPr>
          <a:xfrm>
            <a:off x="457200" y="2542032"/>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2578607"/>
            <a:ext cx="5623560" cy="246888"/>
          </a:xfrm>
          <a:prstGeom prst="rect">
            <a:avLst/>
          </a:prstGeom>
          <a:noFill/>
        </p:spPr>
        <p:txBody>
          <a:bodyPr wrap="square">
            <a:spAutoFit/>
          </a:bodyPr>
          <a:lstStyle/>
          <a:p>
            <a:pPr algn="l"/>
            <a:r>
              <a:rPr sz="1000" b="1" i="0">
                <a:solidFill>
                  <a:srgbClr val="183764"/>
                </a:solidFill>
              </a:rPr>
              <a:t>Drainage Canal Network</a:t>
            </a:r>
          </a:p>
        </p:txBody>
      </p:sp>
      <p:sp>
        <p:nvSpPr>
          <p:cNvPr id="20" name="TextBox 19"/>
          <p:cNvSpPr txBox="1"/>
          <p:nvPr/>
        </p:nvSpPr>
        <p:spPr>
          <a:xfrm>
            <a:off x="6263640" y="2825495"/>
            <a:ext cx="5623560" cy="685800"/>
          </a:xfrm>
          <a:prstGeom prst="rect">
            <a:avLst/>
          </a:prstGeom>
          <a:noFill/>
        </p:spPr>
        <p:txBody>
          <a:bodyPr wrap="square">
            <a:spAutoFit/>
          </a:bodyPr>
          <a:lstStyle/>
          <a:p>
            <a:pPr algn="l"/>
            <a:r>
              <a:rPr sz="1000" b="0" i="0">
                <a:solidFill>
                  <a:srgbClr val="373737"/>
                </a:solidFill>
              </a:rPr>
              <a:t>Accelerates runoff evacuation from the flat central zone. Canal cells drain 30× faster than the base rate, significantly reducing peak rain_water accumulation in areas that would otherwise drain slowly.</a:t>
            </a:r>
          </a:p>
        </p:txBody>
      </p:sp>
      <p:sp>
        <p:nvSpPr>
          <p:cNvPr id="21" name="Rectangle 20"/>
          <p:cNvSpPr/>
          <p:nvPr/>
        </p:nvSpPr>
        <p:spPr>
          <a:xfrm>
            <a:off x="457200" y="3584447"/>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3621022"/>
            <a:ext cx="5623560" cy="246888"/>
          </a:xfrm>
          <a:prstGeom prst="rect">
            <a:avLst/>
          </a:prstGeom>
          <a:noFill/>
        </p:spPr>
        <p:txBody>
          <a:bodyPr wrap="square">
            <a:spAutoFit/>
          </a:bodyPr>
          <a:lstStyle/>
          <a:p>
            <a:pPr algn="l"/>
            <a:r>
              <a:rPr sz="1000" b="1" i="0">
                <a:solidFill>
                  <a:srgbClr val="183764"/>
                </a:solidFill>
              </a:rPr>
              <a:t>Retention Basin (75% Build)</a:t>
            </a:r>
          </a:p>
        </p:txBody>
      </p:sp>
      <p:sp>
        <p:nvSpPr>
          <p:cNvPr id="23" name="TextBox 22"/>
          <p:cNvSpPr txBox="1"/>
          <p:nvPr/>
        </p:nvSpPr>
        <p:spPr>
          <a:xfrm>
            <a:off x="6263640" y="3867910"/>
            <a:ext cx="5623560" cy="685800"/>
          </a:xfrm>
          <a:prstGeom prst="rect">
            <a:avLst/>
          </a:prstGeom>
          <a:noFill/>
        </p:spPr>
        <p:txBody>
          <a:bodyPr wrap="square">
            <a:spAutoFit/>
          </a:bodyPr>
          <a:lstStyle/>
          <a:p>
            <a:pPr algn="l"/>
            <a:r>
              <a:rPr sz="1000" b="0" i="0">
                <a:solidFill>
                  <a:srgbClr val="373737"/>
                </a:solidFill>
              </a:rPr>
              <a:t>Provides the most significant reduction in peak inundation depth by capturing excess floodwater at the primary topographic sink before it spreads over residential land. Sited in open outer-perimeter land to avoid displacing any existing structures.</a:t>
            </a:r>
          </a:p>
        </p:txBody>
      </p:sp>
      <p:sp>
        <p:nvSpPr>
          <p:cNvPr id="24" name="Rectangle 23"/>
          <p:cNvSpPr/>
          <p:nvPr/>
        </p:nvSpPr>
        <p:spPr>
          <a:xfrm>
            <a:off x="457200" y="4626862"/>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63640" y="4663437"/>
            <a:ext cx="5623560" cy="246888"/>
          </a:xfrm>
          <a:prstGeom prst="rect">
            <a:avLst/>
          </a:prstGeom>
          <a:noFill/>
        </p:spPr>
        <p:txBody>
          <a:bodyPr wrap="square">
            <a:spAutoFit/>
          </a:bodyPr>
          <a:lstStyle/>
          <a:p>
            <a:pPr algn="l"/>
            <a:r>
              <a:rPr sz="1000" b="1" i="0">
                <a:solidFill>
                  <a:srgbClr val="183764"/>
                </a:solidFill>
              </a:rPr>
              <a:t>Elevated Emergency Road (75% Build)</a:t>
            </a:r>
          </a:p>
        </p:txBody>
      </p:sp>
      <p:sp>
        <p:nvSpPr>
          <p:cNvPr id="26" name="TextBox 25"/>
          <p:cNvSpPr txBox="1"/>
          <p:nvPr/>
        </p:nvSpPr>
        <p:spPr>
          <a:xfrm>
            <a:off x="6263640" y="4910325"/>
            <a:ext cx="5623560" cy="685800"/>
          </a:xfrm>
          <a:prstGeom prst="rect">
            <a:avLst/>
          </a:prstGeom>
          <a:noFill/>
        </p:spPr>
        <p:txBody>
          <a:bodyPr wrap="square">
            <a:spAutoFit/>
          </a:bodyPr>
          <a:lstStyle/>
          <a:p>
            <a:pPr algn="l"/>
            <a:r>
              <a:rPr sz="1000" b="0" i="0">
                <a:solidFill>
                  <a:srgbClr val="373737"/>
                </a:solidFill>
              </a:rPr>
              <a:t>Maintains critical cross-subdivision access for emergency vehicles at design flood level. The raised berm also deflects surface flow laterally, reducing water pooling in the central zone.</a:t>
            </a:r>
          </a:p>
        </p:txBody>
      </p:sp>
      <p:sp>
        <p:nvSpPr>
          <p:cNvPr id="27" name="Rectangle 26"/>
          <p:cNvSpPr/>
          <p:nvPr/>
        </p:nvSpPr>
        <p:spPr>
          <a:xfrm>
            <a:off x="457200" y="5669277"/>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640080" cy="685800"/>
          </a:xfrm>
          <a:prstGeom prst="rect">
            <a:avLst/>
          </a:prstGeom>
          <a:noFill/>
        </p:spPr>
        <p:txBody>
          <a:bodyPr wrap="square">
            <a:spAutoFit/>
          </a:bodyPr>
          <a:lstStyle/>
          <a:p>
            <a:pPr algn="ctr"/>
            <a:r>
              <a:rPr sz="2400" b="1" i="0">
                <a:solidFill>
                  <a:srgbClr val="FFFFFF"/>
                </a:solidFill>
              </a:rPr>
              <a:t>09</a:t>
            </a:r>
          </a:p>
        </p:txBody>
      </p:sp>
      <p:sp>
        <p:nvSpPr>
          <p:cNvPr id="6" name="TextBox 5"/>
          <p:cNvSpPr txBox="1"/>
          <p:nvPr/>
        </p:nvSpPr>
        <p:spPr>
          <a:xfrm>
            <a:off x="1051560" y="201168"/>
            <a:ext cx="10515600" cy="658368"/>
          </a:xfrm>
          <a:prstGeom prst="rect">
            <a:avLst/>
          </a:prstGeom>
          <a:noFill/>
        </p:spPr>
        <p:txBody>
          <a:bodyPr wrap="square">
            <a:spAutoFit/>
          </a:bodyPr>
          <a:lstStyle/>
          <a:p>
            <a:pPr algn="l"/>
            <a:r>
              <a:rPr sz="2200" b="1" i="0">
                <a:solidFill>
                  <a:srgbClr val="FFFFFF"/>
                </a:solidFill>
              </a:rPr>
              <a:t>Recommendations</a:t>
            </a:r>
          </a:p>
        </p:txBody>
      </p:sp>
      <p:sp>
        <p:nvSpPr>
          <p:cNvPr id="7" name="Rectangle 6"/>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6574536"/>
            <a:ext cx="12188952" cy="256032"/>
          </a:xfrm>
          <a:prstGeom prst="rect">
            <a:avLst/>
          </a:prstGeom>
          <a:noFill/>
        </p:spPr>
        <p:txBody>
          <a:bodyPr wrap="square">
            <a:spAutoFit/>
          </a:bodyPr>
          <a:lstStyle/>
          <a:p>
            <a:pPr algn="ctr"/>
            <a:r>
              <a:rPr sz="800" b="0" i="0">
                <a:solidFill>
                  <a:srgbClr val="B4CDE6"/>
                </a:solidFill>
              </a:rPr>
              <a:t>Jade Valley Flood Risk Simulation  •  Recommendations</a:t>
            </a:r>
          </a:p>
        </p:txBody>
      </p:sp>
      <p:sp>
        <p:nvSpPr>
          <p:cNvPr id="9" name="TextBox 8"/>
          <p:cNvSpPr txBox="1"/>
          <p:nvPr/>
        </p:nvSpPr>
        <p:spPr>
          <a:xfrm>
            <a:off x="457200" y="1234440"/>
            <a:ext cx="11274552" cy="365760"/>
          </a:xfrm>
          <a:prstGeom prst="rect">
            <a:avLst/>
          </a:prstGeom>
          <a:noFill/>
        </p:spPr>
        <p:txBody>
          <a:bodyPr wrap="square">
            <a:spAutoFit/>
          </a:bodyPr>
          <a:lstStyle/>
          <a:p>
            <a:pPr algn="l"/>
            <a:r>
              <a:rPr sz="1100" b="0" i="0">
                <a:solidFill>
                  <a:srgbClr val="373737"/>
                </a:solidFill>
              </a:rPr>
              <a:t>Based on the simulation results and HAND model risk zone classification, the following recommendations are proposed to reduce flood risk in Jade Valley Subdivision:</a:t>
            </a:r>
          </a:p>
        </p:txBody>
      </p:sp>
      <p:sp>
        <p:nvSpPr>
          <p:cNvPr id="10" name="TextBox 9"/>
          <p:cNvSpPr txBox="1"/>
          <p:nvPr/>
        </p:nvSpPr>
        <p:spPr>
          <a:xfrm>
            <a:off x="457200" y="1664208"/>
            <a:ext cx="11274552" cy="246888"/>
          </a:xfrm>
          <a:prstGeom prst="rect">
            <a:avLst/>
          </a:prstGeom>
          <a:noFill/>
        </p:spPr>
        <p:txBody>
          <a:bodyPr wrap="square">
            <a:spAutoFit/>
          </a:bodyPr>
          <a:lstStyle/>
          <a:p>
            <a:pPr algn="l"/>
            <a:r>
              <a:rPr sz="1050" b="1" i="0">
                <a:solidFill>
                  <a:srgbClr val="183764"/>
                </a:solidFill>
              </a:rPr>
              <a:t>1.  Priority Infrastructure Upgrades</a:t>
            </a:r>
          </a:p>
        </p:txBody>
      </p:sp>
      <p:sp>
        <p:nvSpPr>
          <p:cNvPr id="11" name="TextBox 10"/>
          <p:cNvSpPr txBox="1"/>
          <p:nvPr/>
        </p:nvSpPr>
        <p:spPr>
          <a:xfrm>
            <a:off x="640080" y="1911096"/>
            <a:ext cx="11091672" cy="402336"/>
          </a:xfrm>
          <a:prstGeom prst="rect">
            <a:avLst/>
          </a:prstGeom>
          <a:noFill/>
        </p:spPr>
        <p:txBody>
          <a:bodyPr wrap="square">
            <a:spAutoFit/>
          </a:bodyPr>
          <a:lstStyle/>
          <a:p>
            <a:pPr algn="l"/>
            <a:r>
              <a:rPr sz="1000" b="0" i="0">
                <a:solidFill>
                  <a:srgbClr val="373737"/>
                </a:solidFill>
              </a:rPr>
              <a:t>Drainage infrastructure upgrades should be prioritized in the Very High and High Risk zones, which together cover 58.49 ha (17.9 %) of the subdivision. These areas experience flooding at rainfall thresholds as low as 90 mm and require immediate action.</a:t>
            </a:r>
          </a:p>
        </p:txBody>
      </p:sp>
      <p:sp>
        <p:nvSpPr>
          <p:cNvPr id="12" name="TextBox 11"/>
          <p:cNvSpPr txBox="1"/>
          <p:nvPr/>
        </p:nvSpPr>
        <p:spPr>
          <a:xfrm>
            <a:off x="457200" y="2331720"/>
            <a:ext cx="11274552" cy="246888"/>
          </a:xfrm>
          <a:prstGeom prst="rect">
            <a:avLst/>
          </a:prstGeom>
          <a:noFill/>
        </p:spPr>
        <p:txBody>
          <a:bodyPr wrap="square">
            <a:spAutoFit/>
          </a:bodyPr>
          <a:lstStyle/>
          <a:p>
            <a:pPr algn="l"/>
            <a:r>
              <a:rPr sz="1050" b="1" i="0">
                <a:solidFill>
                  <a:srgbClr val="183764"/>
                </a:solidFill>
              </a:rPr>
              <a:t>2.  Early Warning Systems</a:t>
            </a:r>
          </a:p>
        </p:txBody>
      </p:sp>
      <p:sp>
        <p:nvSpPr>
          <p:cNvPr id="13" name="TextBox 12"/>
          <p:cNvSpPr txBox="1"/>
          <p:nvPr/>
        </p:nvSpPr>
        <p:spPr>
          <a:xfrm>
            <a:off x="640080" y="2578608"/>
            <a:ext cx="11091672" cy="402336"/>
          </a:xfrm>
          <a:prstGeom prst="rect">
            <a:avLst/>
          </a:prstGeom>
          <a:noFill/>
        </p:spPr>
        <p:txBody>
          <a:bodyPr wrap="square">
            <a:spAutoFit/>
          </a:bodyPr>
          <a:lstStyle/>
          <a:p>
            <a:pPr algn="l"/>
            <a:r>
              <a:rPr sz="1000" b="0" i="0">
                <a:solidFill>
                  <a:srgbClr val="373737"/>
                </a:solidFill>
              </a:rPr>
              <a:t>Flood early warning systems should be calibrated to HAND thresholds: issue an advisory when accumulation approaches the 1.0 m level (5-year scenario) and trigger evacuation orders at the 2.0 m level (10-year scenario).</a:t>
            </a:r>
          </a:p>
        </p:txBody>
      </p:sp>
      <p:sp>
        <p:nvSpPr>
          <p:cNvPr id="14" name="TextBox 13"/>
          <p:cNvSpPr txBox="1"/>
          <p:nvPr/>
        </p:nvSpPr>
        <p:spPr>
          <a:xfrm>
            <a:off x="457200" y="2999232"/>
            <a:ext cx="11274552" cy="246888"/>
          </a:xfrm>
          <a:prstGeom prst="rect">
            <a:avLst/>
          </a:prstGeom>
          <a:noFill/>
        </p:spPr>
        <p:txBody>
          <a:bodyPr wrap="square">
            <a:spAutoFit/>
          </a:bodyPr>
          <a:lstStyle/>
          <a:p>
            <a:pPr algn="l"/>
            <a:r>
              <a:rPr sz="1050" b="1" i="0">
                <a:solidFill>
                  <a:srgbClr val="183764"/>
                </a:solidFill>
              </a:rPr>
              <a:t>3.  Regulated Land Use</a:t>
            </a:r>
          </a:p>
        </p:txBody>
      </p:sp>
      <p:sp>
        <p:nvSpPr>
          <p:cNvPr id="15" name="TextBox 14"/>
          <p:cNvSpPr txBox="1"/>
          <p:nvPr/>
        </p:nvSpPr>
        <p:spPr>
          <a:xfrm>
            <a:off x="640080" y="3246120"/>
            <a:ext cx="11091672" cy="402336"/>
          </a:xfrm>
          <a:prstGeom prst="rect">
            <a:avLst/>
          </a:prstGeom>
          <a:noFill/>
        </p:spPr>
        <p:txBody>
          <a:bodyPr wrap="square">
            <a:spAutoFit/>
          </a:bodyPr>
          <a:lstStyle/>
          <a:p>
            <a:pPr algn="l"/>
            <a:r>
              <a:rPr sz="1000" b="0" i="0">
                <a:solidFill>
                  <a:srgbClr val="373737"/>
                </a:solidFill>
              </a:rPr>
              <a:t>High-density residential development and critical infrastructure should be restricted in areas with HAND values below 1.0 m. These Very High Risk cells are the first to flood and sustain the deepest inundation during storm events.</a:t>
            </a:r>
          </a:p>
        </p:txBody>
      </p:sp>
      <p:sp>
        <p:nvSpPr>
          <p:cNvPr id="16" name="TextBox 15"/>
          <p:cNvSpPr txBox="1"/>
          <p:nvPr/>
        </p:nvSpPr>
        <p:spPr>
          <a:xfrm>
            <a:off x="457200" y="3666744"/>
            <a:ext cx="11274552" cy="246888"/>
          </a:xfrm>
          <a:prstGeom prst="rect">
            <a:avLst/>
          </a:prstGeom>
          <a:noFill/>
        </p:spPr>
        <p:txBody>
          <a:bodyPr wrap="square">
            <a:spAutoFit/>
          </a:bodyPr>
          <a:lstStyle/>
          <a:p>
            <a:pPr algn="l"/>
            <a:r>
              <a:rPr sz="1050" b="1" i="0">
                <a:solidFill>
                  <a:srgbClr val="183764"/>
                </a:solidFill>
              </a:rPr>
              <a:t>4.  Retention Basin Construction</a:t>
            </a:r>
          </a:p>
        </p:txBody>
      </p:sp>
      <p:sp>
        <p:nvSpPr>
          <p:cNvPr id="17" name="TextBox 16"/>
          <p:cNvSpPr txBox="1"/>
          <p:nvPr/>
        </p:nvSpPr>
        <p:spPr>
          <a:xfrm>
            <a:off x="640080" y="3913632"/>
            <a:ext cx="11091672" cy="402336"/>
          </a:xfrm>
          <a:prstGeom prst="rect">
            <a:avLst/>
          </a:prstGeom>
          <a:noFill/>
        </p:spPr>
        <p:txBody>
          <a:bodyPr wrap="square">
            <a:spAutoFit/>
          </a:bodyPr>
          <a:lstStyle/>
          <a:p>
            <a:pPr algn="l"/>
            <a:r>
              <a:rPr sz="1000" b="0" i="0">
                <a:solidFill>
                  <a:srgbClr val="373737"/>
                </a:solidFill>
              </a:rPr>
              <a:t>Retention basins should be constructed in designated open land at the outer perimeter of the subdivision. Siting must avoid the residential core, as demonstrated in the 75 % build model, where the basin was placed in the outer 20 % of the grid.</a:t>
            </a:r>
          </a:p>
        </p:txBody>
      </p:sp>
      <p:sp>
        <p:nvSpPr>
          <p:cNvPr id="18" name="TextBox 17"/>
          <p:cNvSpPr txBox="1"/>
          <p:nvPr/>
        </p:nvSpPr>
        <p:spPr>
          <a:xfrm>
            <a:off x="457200" y="4334256"/>
            <a:ext cx="11274552" cy="246888"/>
          </a:xfrm>
          <a:prstGeom prst="rect">
            <a:avLst/>
          </a:prstGeom>
          <a:noFill/>
        </p:spPr>
        <p:txBody>
          <a:bodyPr wrap="square">
            <a:spAutoFit/>
          </a:bodyPr>
          <a:lstStyle/>
          <a:p>
            <a:pPr algn="l"/>
            <a:r>
              <a:rPr sz="1050" b="1" i="0">
                <a:solidFill>
                  <a:srgbClr val="183764"/>
                </a:solidFill>
              </a:rPr>
              <a:t>5.  Riverbank Floodwall Installation</a:t>
            </a:r>
          </a:p>
        </p:txBody>
      </p:sp>
      <p:sp>
        <p:nvSpPr>
          <p:cNvPr id="19" name="TextBox 18"/>
          <p:cNvSpPr txBox="1"/>
          <p:nvPr/>
        </p:nvSpPr>
        <p:spPr>
          <a:xfrm>
            <a:off x="640080" y="4581144"/>
            <a:ext cx="11091672" cy="402336"/>
          </a:xfrm>
          <a:prstGeom prst="rect">
            <a:avLst/>
          </a:prstGeom>
          <a:noFill/>
        </p:spPr>
        <p:txBody>
          <a:bodyPr wrap="square">
            <a:spAutoFit/>
          </a:bodyPr>
          <a:lstStyle/>
          <a:p>
            <a:pPr algn="l"/>
            <a:r>
              <a:rPr sz="1000" b="0" i="0">
                <a:solidFill>
                  <a:srgbClr val="373737"/>
                </a:solidFill>
              </a:rPr>
              <a:t>A riverbank floodwall should be installed along the western bank channel. Minimum design height should correspond to the 10-year return period flood level (2.0 m HAND threshold) to provide meaningful protection against frequent events.</a:t>
            </a:r>
          </a:p>
        </p:txBody>
      </p:sp>
      <p:sp>
        <p:nvSpPr>
          <p:cNvPr id="20" name="TextBox 19"/>
          <p:cNvSpPr txBox="1"/>
          <p:nvPr/>
        </p:nvSpPr>
        <p:spPr>
          <a:xfrm>
            <a:off x="457200" y="5001768"/>
            <a:ext cx="11274552" cy="246888"/>
          </a:xfrm>
          <a:prstGeom prst="rect">
            <a:avLst/>
          </a:prstGeom>
          <a:noFill/>
        </p:spPr>
        <p:txBody>
          <a:bodyPr wrap="square">
            <a:spAutoFit/>
          </a:bodyPr>
          <a:lstStyle/>
          <a:p>
            <a:pPr algn="l"/>
            <a:r>
              <a:rPr sz="1050" b="1" i="0">
                <a:solidFill>
                  <a:srgbClr val="183764"/>
                </a:solidFill>
              </a:rPr>
              <a:t>6.  Evacuation Zone Designation</a:t>
            </a:r>
          </a:p>
        </p:txBody>
      </p:sp>
      <p:sp>
        <p:nvSpPr>
          <p:cNvPr id="21" name="TextBox 20"/>
          <p:cNvSpPr txBox="1"/>
          <p:nvPr/>
        </p:nvSpPr>
        <p:spPr>
          <a:xfrm>
            <a:off x="640080" y="5248656"/>
            <a:ext cx="11091672" cy="402336"/>
          </a:xfrm>
          <a:prstGeom prst="rect">
            <a:avLst/>
          </a:prstGeom>
          <a:noFill/>
        </p:spPr>
        <p:txBody>
          <a:bodyPr wrap="square">
            <a:spAutoFit/>
          </a:bodyPr>
          <a:lstStyle/>
          <a:p>
            <a:pPr algn="l"/>
            <a:r>
              <a:rPr sz="1000" b="0" i="0">
                <a:solidFill>
                  <a:srgbClr val="373737"/>
                </a:solidFill>
              </a:rPr>
              <a:t>The 53.6 % Safe Zone (174.81 ha) above the 100-year flood level should be formally designated as official evacuation areas, with pre-positioned emergency supplies and clearly marked access routes connecting at-risk zones to safe elevated ground.</a:t>
            </a:r>
          </a:p>
        </p:txBody>
      </p:sp>
      <p:sp>
        <p:nvSpPr>
          <p:cNvPr id="22" name="TextBox 21"/>
          <p:cNvSpPr txBox="1"/>
          <p:nvPr/>
        </p:nvSpPr>
        <p:spPr>
          <a:xfrm>
            <a:off x="457200" y="5669280"/>
            <a:ext cx="11274552" cy="246888"/>
          </a:xfrm>
          <a:prstGeom prst="rect">
            <a:avLst/>
          </a:prstGeom>
          <a:noFill/>
        </p:spPr>
        <p:txBody>
          <a:bodyPr wrap="square">
            <a:spAutoFit/>
          </a:bodyPr>
          <a:lstStyle/>
          <a:p>
            <a:pPr algn="l"/>
            <a:r>
              <a:rPr sz="1050" b="1" i="0">
                <a:solidFill>
                  <a:srgbClr val="183764"/>
                </a:solidFill>
              </a:rPr>
              <a:t>7.  Community Flood Preparedness</a:t>
            </a:r>
          </a:p>
        </p:txBody>
      </p:sp>
      <p:sp>
        <p:nvSpPr>
          <p:cNvPr id="23" name="TextBox 22"/>
          <p:cNvSpPr txBox="1"/>
          <p:nvPr/>
        </p:nvSpPr>
        <p:spPr>
          <a:xfrm>
            <a:off x="640080" y="5916168"/>
            <a:ext cx="11091672" cy="402336"/>
          </a:xfrm>
          <a:prstGeom prst="rect">
            <a:avLst/>
          </a:prstGeom>
          <a:noFill/>
        </p:spPr>
        <p:txBody>
          <a:bodyPr wrap="square">
            <a:spAutoFit/>
          </a:bodyPr>
          <a:lstStyle/>
          <a:p>
            <a:pPr algn="l"/>
            <a:r>
              <a:rPr sz="1000" b="0" i="0">
                <a:solidFill>
                  <a:srgbClr val="373737"/>
                </a:solidFill>
              </a:rPr>
              <a:t>Community flood drills and education programs should familiarize residents with risk zone classifications. Distributing risk zone maps showing Very High, High, Medium, and Low Risk areas relative to residents’ homes will improve preparedness.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468880"/>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468880"/>
            <a:ext cx="12188952" cy="18000"/>
          </a:xfrm>
          <a:prstGeom prst="rect">
            <a:avLst/>
          </a:prstGeom>
          <a:solidFill>
            <a:srgbClr val="1F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11480"/>
            <a:ext cx="12188952" cy="822960"/>
          </a:xfrm>
          <a:prstGeom prst="rect">
            <a:avLst/>
          </a:prstGeom>
          <a:noFill/>
        </p:spPr>
        <p:txBody>
          <a:bodyPr wrap="square">
            <a:spAutoFit/>
          </a:bodyPr>
          <a:lstStyle/>
          <a:p>
            <a:pPr algn="ctr"/>
            <a:r>
              <a:rPr sz="4800" b="1" i="0">
                <a:solidFill>
                  <a:srgbClr val="FFFFFF"/>
                </a:solidFill>
              </a:rPr>
              <a:t>Thank You</a:t>
            </a:r>
          </a:p>
        </p:txBody>
      </p:sp>
      <p:sp>
        <p:nvSpPr>
          <p:cNvPr id="6" name="TextBox 5"/>
          <p:cNvSpPr txBox="1"/>
          <p:nvPr/>
        </p:nvSpPr>
        <p:spPr>
          <a:xfrm>
            <a:off x="0" y="1261872"/>
            <a:ext cx="12188952" cy="548640"/>
          </a:xfrm>
          <a:prstGeom prst="rect">
            <a:avLst/>
          </a:prstGeom>
          <a:noFill/>
        </p:spPr>
        <p:txBody>
          <a:bodyPr wrap="square">
            <a:spAutoFit/>
          </a:bodyPr>
          <a:lstStyle/>
          <a:p>
            <a:pPr algn="ctr"/>
            <a:r>
              <a:rPr sz="2000" b="0" i="0">
                <a:solidFill>
                  <a:srgbClr val="B4D2F0"/>
                </a:solidFill>
              </a:rPr>
              <a:t>Questions &amp; Discussion</a:t>
            </a:r>
          </a:p>
        </p:txBody>
      </p:sp>
      <p:sp>
        <p:nvSpPr>
          <p:cNvPr id="7" name="Rectangle 6"/>
          <p:cNvSpPr/>
          <p:nvPr/>
        </p:nvSpPr>
        <p:spPr>
          <a:xfrm>
            <a:off x="685800" y="2743200"/>
            <a:ext cx="2560320" cy="123444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788920"/>
            <a:ext cx="2560320" cy="594360"/>
          </a:xfrm>
          <a:prstGeom prst="rect">
            <a:avLst/>
          </a:prstGeom>
          <a:noFill/>
        </p:spPr>
        <p:txBody>
          <a:bodyPr wrap="square">
            <a:spAutoFit/>
          </a:bodyPr>
          <a:lstStyle/>
          <a:p>
            <a:pPr algn="ctr"/>
            <a:r>
              <a:rPr sz="3000" b="1" i="0">
                <a:solidFill>
                  <a:srgbClr val="183764"/>
                </a:solidFill>
              </a:rPr>
              <a:t>326 ha</a:t>
            </a:r>
          </a:p>
        </p:txBody>
      </p:sp>
      <p:sp>
        <p:nvSpPr>
          <p:cNvPr id="9" name="TextBox 8"/>
          <p:cNvSpPr txBox="1"/>
          <p:nvPr/>
        </p:nvSpPr>
        <p:spPr>
          <a:xfrm>
            <a:off x="685800" y="3337560"/>
            <a:ext cx="2560320" cy="365760"/>
          </a:xfrm>
          <a:prstGeom prst="rect">
            <a:avLst/>
          </a:prstGeom>
          <a:noFill/>
        </p:spPr>
        <p:txBody>
          <a:bodyPr wrap="square">
            <a:spAutoFit/>
          </a:bodyPr>
          <a:lstStyle/>
          <a:p>
            <a:pPr algn="ctr"/>
            <a:r>
              <a:rPr sz="1100" b="0" i="0">
                <a:solidFill>
                  <a:srgbClr val="6E6E6E"/>
                </a:solidFill>
              </a:rPr>
              <a:t>Total Study Area</a:t>
            </a:r>
          </a:p>
        </p:txBody>
      </p:sp>
      <p:sp>
        <p:nvSpPr>
          <p:cNvPr id="10" name="Rectangle 9"/>
          <p:cNvSpPr/>
          <p:nvPr/>
        </p:nvSpPr>
        <p:spPr>
          <a:xfrm>
            <a:off x="3429000" y="2743200"/>
            <a:ext cx="2560320" cy="123444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2788920"/>
            <a:ext cx="2560320" cy="594360"/>
          </a:xfrm>
          <a:prstGeom prst="rect">
            <a:avLst/>
          </a:prstGeom>
          <a:noFill/>
        </p:spPr>
        <p:txBody>
          <a:bodyPr wrap="square">
            <a:spAutoFit/>
          </a:bodyPr>
          <a:lstStyle/>
          <a:p>
            <a:pPr algn="ctr"/>
            <a:r>
              <a:rPr sz="3000" b="1" i="0">
                <a:solidFill>
                  <a:srgbClr val="183764"/>
                </a:solidFill>
              </a:rPr>
              <a:t>7</a:t>
            </a:r>
          </a:p>
        </p:txBody>
      </p:sp>
      <p:sp>
        <p:nvSpPr>
          <p:cNvPr id="12" name="TextBox 11"/>
          <p:cNvSpPr txBox="1"/>
          <p:nvPr/>
        </p:nvSpPr>
        <p:spPr>
          <a:xfrm>
            <a:off x="3429000" y="3337560"/>
            <a:ext cx="2560320" cy="365760"/>
          </a:xfrm>
          <a:prstGeom prst="rect">
            <a:avLst/>
          </a:prstGeom>
          <a:noFill/>
        </p:spPr>
        <p:txBody>
          <a:bodyPr wrap="square">
            <a:spAutoFit/>
          </a:bodyPr>
          <a:lstStyle/>
          <a:p>
            <a:pPr algn="ctr"/>
            <a:r>
              <a:rPr sz="1100" b="0" i="0">
                <a:solidFill>
                  <a:srgbClr val="6E6E6E"/>
                </a:solidFill>
              </a:rPr>
              <a:t>Storm Scenarios</a:t>
            </a:r>
          </a:p>
        </p:txBody>
      </p:sp>
      <p:sp>
        <p:nvSpPr>
          <p:cNvPr id="13" name="Rectangle 12"/>
          <p:cNvSpPr/>
          <p:nvPr/>
        </p:nvSpPr>
        <p:spPr>
          <a:xfrm>
            <a:off x="6172200" y="2743200"/>
            <a:ext cx="2560320" cy="123444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2788920"/>
            <a:ext cx="2560320" cy="594360"/>
          </a:xfrm>
          <a:prstGeom prst="rect">
            <a:avLst/>
          </a:prstGeom>
          <a:noFill/>
        </p:spPr>
        <p:txBody>
          <a:bodyPr wrap="square">
            <a:spAutoFit/>
          </a:bodyPr>
          <a:lstStyle/>
          <a:p>
            <a:pPr algn="ctr"/>
            <a:r>
              <a:rPr sz="3000" b="1" i="0">
                <a:solidFill>
                  <a:srgbClr val="183764"/>
                </a:solidFill>
              </a:rPr>
              <a:t>4</a:t>
            </a:r>
          </a:p>
        </p:txBody>
      </p:sp>
      <p:sp>
        <p:nvSpPr>
          <p:cNvPr id="15" name="TextBox 14"/>
          <p:cNvSpPr txBox="1"/>
          <p:nvPr/>
        </p:nvSpPr>
        <p:spPr>
          <a:xfrm>
            <a:off x="6172200" y="3337560"/>
            <a:ext cx="2560320" cy="365760"/>
          </a:xfrm>
          <a:prstGeom prst="rect">
            <a:avLst/>
          </a:prstGeom>
          <a:noFill/>
        </p:spPr>
        <p:txBody>
          <a:bodyPr wrap="square">
            <a:spAutoFit/>
          </a:bodyPr>
          <a:lstStyle/>
          <a:p>
            <a:pPr algn="ctr"/>
            <a:r>
              <a:rPr sz="1100" b="0" i="0">
                <a:solidFill>
                  <a:srgbClr val="6E6E6E"/>
                </a:solidFill>
              </a:rPr>
              <a:t>Prevention Measures</a:t>
            </a:r>
          </a:p>
        </p:txBody>
      </p:sp>
      <p:sp>
        <p:nvSpPr>
          <p:cNvPr id="16" name="Rectangle 15"/>
          <p:cNvSpPr/>
          <p:nvPr/>
        </p:nvSpPr>
        <p:spPr>
          <a:xfrm>
            <a:off x="8915400" y="2743200"/>
            <a:ext cx="2560320" cy="123444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15400" y="2788920"/>
            <a:ext cx="2560320" cy="594360"/>
          </a:xfrm>
          <a:prstGeom prst="rect">
            <a:avLst/>
          </a:prstGeom>
          <a:noFill/>
        </p:spPr>
        <p:txBody>
          <a:bodyPr wrap="square">
            <a:spAutoFit/>
          </a:bodyPr>
          <a:lstStyle/>
          <a:p>
            <a:pPr algn="ctr"/>
            <a:r>
              <a:rPr sz="3000" b="1" i="0">
                <a:solidFill>
                  <a:srgbClr val="183764"/>
                </a:solidFill>
              </a:rPr>
              <a:t>5</a:t>
            </a:r>
          </a:p>
        </p:txBody>
      </p:sp>
      <p:sp>
        <p:nvSpPr>
          <p:cNvPr id="18" name="TextBox 17"/>
          <p:cNvSpPr txBox="1"/>
          <p:nvPr/>
        </p:nvSpPr>
        <p:spPr>
          <a:xfrm>
            <a:off x="8915400" y="3337560"/>
            <a:ext cx="2560320" cy="365760"/>
          </a:xfrm>
          <a:prstGeom prst="rect">
            <a:avLst/>
          </a:prstGeom>
          <a:noFill/>
        </p:spPr>
        <p:txBody>
          <a:bodyPr wrap="square">
            <a:spAutoFit/>
          </a:bodyPr>
          <a:lstStyle/>
          <a:p>
            <a:pPr algn="ctr"/>
            <a:r>
              <a:rPr sz="1100" b="0" i="0">
                <a:solidFill>
                  <a:srgbClr val="6E6E6E"/>
                </a:solidFill>
              </a:rPr>
              <a:t>Risk Zones</a:t>
            </a:r>
          </a:p>
        </p:txBody>
      </p:sp>
      <p:sp>
        <p:nvSpPr>
          <p:cNvPr id="19" name="Rectangle 18"/>
          <p:cNvSpPr/>
          <p:nvPr/>
        </p:nvSpPr>
        <p:spPr>
          <a:xfrm>
            <a:off x="457200" y="4133087"/>
            <a:ext cx="11274552" cy="6000"/>
          </a:xfrm>
          <a:prstGeom prst="rect">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251960"/>
            <a:ext cx="11274552" cy="301752"/>
          </a:xfrm>
          <a:prstGeom prst="rect">
            <a:avLst/>
          </a:prstGeom>
          <a:noFill/>
        </p:spPr>
        <p:txBody>
          <a:bodyPr wrap="square">
            <a:spAutoFit/>
          </a:bodyPr>
          <a:lstStyle/>
          <a:p>
            <a:pPr algn="l"/>
            <a:r>
              <a:rPr sz="1200" b="1" i="0">
                <a:solidFill>
                  <a:srgbClr val="183764"/>
                </a:solidFill>
              </a:rPr>
              <a:t>Key Findings</a:t>
            </a:r>
          </a:p>
        </p:txBody>
      </p:sp>
      <p:sp>
        <p:nvSpPr>
          <p:cNvPr id="21" name="TextBox 20"/>
          <p:cNvSpPr txBox="1"/>
          <p:nvPr/>
        </p:nvSpPr>
        <p:spPr>
          <a:xfrm>
            <a:off x="457200" y="4590288"/>
            <a:ext cx="11274552" cy="4572000"/>
          </a:xfrm>
          <a:prstGeom prst="rect">
            <a:avLst/>
          </a:prstGeom>
          <a:noFill/>
        </p:spPr>
        <p:txBody>
          <a:bodyPr wrap="square">
            <a:spAutoFit/>
          </a:bodyPr>
          <a:lstStyle/>
          <a:p>
            <a:pPr>
              <a:spcBef>
                <a:spcPts val="400"/>
              </a:spcBef>
            </a:pPr>
            <a:r>
              <a:rPr sz="1100">
                <a:solidFill>
                  <a:srgbClr val="373737"/>
                </a:solidFill>
              </a:rPr>
              <a:t>—  8.2 % Very High Risk (26.66 ha) — floods at Heavy Rain ≥90 mm</a:t>
            </a:r>
          </a:p>
          <a:p>
            <a:pPr>
              <a:spcBef>
                <a:spcPts val="400"/>
              </a:spcBef>
            </a:pPr>
            <a:r>
              <a:rPr sz="1100">
                <a:solidFill>
                  <a:srgbClr val="373737"/>
                </a:solidFill>
              </a:rPr>
              <a:t>—  17.9 % combined High + Very High Risk — 58.49 ha requiring priority mitigation</a:t>
            </a:r>
          </a:p>
          <a:p>
            <a:pPr>
              <a:spcBef>
                <a:spcPts val="400"/>
              </a:spcBef>
            </a:pPr>
            <a:r>
              <a:rPr sz="1100">
                <a:solidFill>
                  <a:srgbClr val="373737"/>
                </a:solidFill>
              </a:rPr>
              <a:t>—  35.5 % of subdivision inundated in the 100-year event (mean depth 4.12 m)</a:t>
            </a:r>
          </a:p>
          <a:p>
            <a:pPr>
              <a:spcBef>
                <a:spcPts val="400"/>
              </a:spcBef>
            </a:pPr>
            <a:r>
              <a:rPr sz="1100">
                <a:solidFill>
                  <a:srgbClr val="373737"/>
                </a:solidFill>
              </a:rPr>
              <a:t>—  53.6 % designated Safe Zone (174.81 ha) — suitable official evacuation destination</a:t>
            </a:r>
          </a:p>
          <a:p>
            <a:pPr>
              <a:spcBef>
                <a:spcPts val="400"/>
              </a:spcBef>
            </a:pPr>
            <a:r>
              <a:rPr sz="1100">
                <a:solidFill>
                  <a:srgbClr val="373737"/>
                </a:solidFill>
              </a:rPr>
              <a:t>—  Flooded area grows 2.2× from the 5-year to the 100-year return period event</a:t>
            </a:r>
          </a:p>
        </p:txBody>
      </p:sp>
      <p:sp>
        <p:nvSpPr>
          <p:cNvPr id="22" name="Rectangle 21"/>
          <p:cNvSpPr/>
          <p:nvPr/>
        </p:nvSpPr>
        <p:spPr>
          <a:xfrm>
            <a:off x="0" y="6565392"/>
            <a:ext cx="12188952" cy="292608"/>
          </a:xfrm>
          <a:prstGeom prst="rect">
            <a:avLst/>
          </a:prstGeom>
          <a:solidFill>
            <a:srgbClr val="18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0" y="6574536"/>
            <a:ext cx="12188952" cy="256032"/>
          </a:xfrm>
          <a:prstGeom prst="rect">
            <a:avLst/>
          </a:prstGeom>
          <a:noFill/>
        </p:spPr>
        <p:txBody>
          <a:bodyPr wrap="square">
            <a:spAutoFit/>
          </a:bodyPr>
          <a:lstStyle/>
          <a:p>
            <a:pPr algn="ctr"/>
            <a:r>
              <a:rPr sz="800" b="0" i="0">
                <a:solidFill>
                  <a:srgbClr val="A0BEDC"/>
                </a:solidFill>
              </a:rPr>
              <a:t>Jade Valley Flood Risk Simulation  •  CSE10/L  •  2026  •  Davao City, Philippines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2904</Words>
  <Application>Microsoft Office PowerPoint</Application>
  <PresentationFormat>Custom</PresentationFormat>
  <Paragraphs>287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Justine Keith Polinar</cp:lastModifiedBy>
  <cp:revision>1</cp:revision>
  <dcterms:created xsi:type="dcterms:W3CDTF">2013-01-27T09:14:16Z</dcterms:created>
  <dcterms:modified xsi:type="dcterms:W3CDTF">2026-05-06T05:34:35Z</dcterms:modified>
  <cp:category/>
</cp:coreProperties>
</file>